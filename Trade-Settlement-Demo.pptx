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  <p:sldId id="265" r:id="rId11"/>
    <p:sldId id="267" r:id="rId12"/>
    <p:sldId id="263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8942AF-B649-1B23-CD61-3C064731C95E}" v="16" dt="2025-08-14T17:17:10.321"/>
    <p1510:client id="{5BDA9095-7D9D-4508-B2A6-461E04659B71}" v="140" dt="2025-08-13T23:17:51.923"/>
    <p1510:client id="{60929ED3-BC38-00DE-4897-6A59040631C4}" v="8" dt="2025-08-13T21:33:37.744"/>
    <p1510:client id="{C2CBFEE4-C741-476E-AFD0-D0B25C8CD968}" v="216" dt="2025-08-13T16:03:53.651"/>
    <p1510:client id="{C3A4731F-16A9-3655-B4DE-0EFA7BA6374C}" v="50" dt="2025-08-13T21:28:40.017"/>
    <p1510:client id="{F77DE2E2-5D90-4C20-B4D7-701699B9F88D}" v="6" dt="2025-08-13T19:47:37.121"/>
    <p1510:client id="{FA96A512-214A-438F-A43E-B8525E259ABB}" v="288" dt="2025-08-14T11:19:38.9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A7A8E1-0C49-44EC-A3BC-DC842B8878F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4A92F59-AB70-4910-A451-B7AFBE290F80}">
      <dgm:prSet/>
      <dgm:spPr/>
      <dgm:t>
        <a:bodyPr/>
        <a:lstStyle/>
        <a:p>
          <a:r>
            <a:rPr lang="en-US" b="1"/>
            <a:t>Event Streaming</a:t>
          </a:r>
          <a:r>
            <a:rPr lang="en-US"/>
            <a:t>:</a:t>
          </a:r>
        </a:p>
      </dgm:t>
    </dgm:pt>
    <dgm:pt modelId="{ADF8F087-E5A4-4903-B2A6-59873AC9F465}" type="parTrans" cxnId="{DC235251-EA10-45FA-8865-76DD6E01944B}">
      <dgm:prSet/>
      <dgm:spPr/>
      <dgm:t>
        <a:bodyPr/>
        <a:lstStyle/>
        <a:p>
          <a:endParaRPr lang="en-US"/>
        </a:p>
      </dgm:t>
    </dgm:pt>
    <dgm:pt modelId="{01680B2E-004F-4804-8DEF-9CF8B8A7977F}" type="sibTrans" cxnId="{DC235251-EA10-45FA-8865-76DD6E01944B}">
      <dgm:prSet/>
      <dgm:spPr/>
      <dgm:t>
        <a:bodyPr/>
        <a:lstStyle/>
        <a:p>
          <a:endParaRPr lang="en-US"/>
        </a:p>
      </dgm:t>
    </dgm:pt>
    <dgm:pt modelId="{3870EDDA-431F-4D5F-8AC8-F5AF6EF12499}">
      <dgm:prSet/>
      <dgm:spPr/>
      <dgm:t>
        <a:bodyPr/>
        <a:lstStyle/>
        <a:p>
          <a:r>
            <a:rPr lang="en-US" b="1"/>
            <a:t>Amazon MSK</a:t>
          </a:r>
          <a:r>
            <a:rPr lang="en-US"/>
            <a:t> (Managed Kafka) – Replace self-managed Kafka clusters.</a:t>
          </a:r>
        </a:p>
      </dgm:t>
    </dgm:pt>
    <dgm:pt modelId="{5BBBA7A3-2AC6-48AA-8BA5-657D7451B7D9}" type="parTrans" cxnId="{B8EFB654-CD33-45B3-9B61-61834C25E895}">
      <dgm:prSet/>
      <dgm:spPr/>
      <dgm:t>
        <a:bodyPr/>
        <a:lstStyle/>
        <a:p>
          <a:endParaRPr lang="en-US"/>
        </a:p>
      </dgm:t>
    </dgm:pt>
    <dgm:pt modelId="{A8D497B8-F5DD-4C28-A4AA-E8F0079595D8}" type="sibTrans" cxnId="{B8EFB654-CD33-45B3-9B61-61834C25E895}">
      <dgm:prSet/>
      <dgm:spPr/>
      <dgm:t>
        <a:bodyPr/>
        <a:lstStyle/>
        <a:p>
          <a:endParaRPr lang="en-US"/>
        </a:p>
      </dgm:t>
    </dgm:pt>
    <dgm:pt modelId="{96AD2EDD-B150-44EB-B39F-339668199F04}">
      <dgm:prSet/>
      <dgm:spPr/>
      <dgm:t>
        <a:bodyPr/>
        <a:lstStyle/>
        <a:p>
          <a:r>
            <a:rPr lang="en-US" b="1"/>
            <a:t>Kinesis</a:t>
          </a:r>
          <a:r>
            <a:rPr lang="en-US"/>
            <a:t> (Alternative for high-throughput but simpler use cases).</a:t>
          </a:r>
        </a:p>
      </dgm:t>
    </dgm:pt>
    <dgm:pt modelId="{D6F67EDC-0438-4DAF-9343-B08546BAFFEB}" type="parTrans" cxnId="{4E04D499-65C6-4E7C-B6DD-B9CB49D49D67}">
      <dgm:prSet/>
      <dgm:spPr/>
      <dgm:t>
        <a:bodyPr/>
        <a:lstStyle/>
        <a:p>
          <a:endParaRPr lang="en-US"/>
        </a:p>
      </dgm:t>
    </dgm:pt>
    <dgm:pt modelId="{9395F1F5-1750-4091-8B4B-B3F2C3F871CB}" type="sibTrans" cxnId="{4E04D499-65C6-4E7C-B6DD-B9CB49D49D67}">
      <dgm:prSet/>
      <dgm:spPr/>
      <dgm:t>
        <a:bodyPr/>
        <a:lstStyle/>
        <a:p>
          <a:endParaRPr lang="en-US"/>
        </a:p>
      </dgm:t>
    </dgm:pt>
    <dgm:pt modelId="{FADF392D-4A4B-4D4A-9573-B91EC6DEAAF9}">
      <dgm:prSet/>
      <dgm:spPr/>
      <dgm:t>
        <a:bodyPr/>
        <a:lstStyle/>
        <a:p>
          <a:r>
            <a:rPr lang="en-US" b="1"/>
            <a:t>Microservices</a:t>
          </a:r>
          <a:r>
            <a:rPr lang="en-US"/>
            <a:t>:</a:t>
          </a:r>
        </a:p>
      </dgm:t>
    </dgm:pt>
    <dgm:pt modelId="{39DA4ADB-8C2F-49AF-8E3B-EC70127B92AD}" type="parTrans" cxnId="{564A635A-D204-4DDD-8DCA-F4E23B2B8BC5}">
      <dgm:prSet/>
      <dgm:spPr/>
      <dgm:t>
        <a:bodyPr/>
        <a:lstStyle/>
        <a:p>
          <a:endParaRPr lang="en-US"/>
        </a:p>
      </dgm:t>
    </dgm:pt>
    <dgm:pt modelId="{F858024D-C08A-49A6-8A44-5A1331C589A8}" type="sibTrans" cxnId="{564A635A-D204-4DDD-8DCA-F4E23B2B8BC5}">
      <dgm:prSet/>
      <dgm:spPr/>
      <dgm:t>
        <a:bodyPr/>
        <a:lstStyle/>
        <a:p>
          <a:endParaRPr lang="en-US"/>
        </a:p>
      </dgm:t>
    </dgm:pt>
    <dgm:pt modelId="{0C83D017-9786-4AA6-9DC5-45E0D56AD695}">
      <dgm:prSet/>
      <dgm:spPr/>
      <dgm:t>
        <a:bodyPr/>
        <a:lstStyle/>
        <a:p>
          <a:r>
            <a:rPr lang="en-US" b="1"/>
            <a:t>AWS EKS</a:t>
          </a:r>
          <a:r>
            <a:rPr lang="en-US"/>
            <a:t> (Kubernetes) or </a:t>
          </a:r>
          <a:r>
            <a:rPr lang="en-US" b="1"/>
            <a:t>ECS Fargate</a:t>
          </a:r>
          <a:r>
            <a:rPr lang="en-US"/>
            <a:t> – Host Spring Boot apps.</a:t>
          </a:r>
        </a:p>
      </dgm:t>
    </dgm:pt>
    <dgm:pt modelId="{3CDEA025-F8F5-4225-B6F5-4480EC99861F}" type="parTrans" cxnId="{A7537A84-C1B4-475A-883F-22E85EB7DC8A}">
      <dgm:prSet/>
      <dgm:spPr/>
      <dgm:t>
        <a:bodyPr/>
        <a:lstStyle/>
        <a:p>
          <a:endParaRPr lang="en-US"/>
        </a:p>
      </dgm:t>
    </dgm:pt>
    <dgm:pt modelId="{1F01E37B-1463-4953-9E46-C6A23470FF78}" type="sibTrans" cxnId="{A7537A84-C1B4-475A-883F-22E85EB7DC8A}">
      <dgm:prSet/>
      <dgm:spPr/>
      <dgm:t>
        <a:bodyPr/>
        <a:lstStyle/>
        <a:p>
          <a:endParaRPr lang="en-US"/>
        </a:p>
      </dgm:t>
    </dgm:pt>
    <dgm:pt modelId="{23CC2627-5234-4E1D-894B-DA56B7A984FF}">
      <dgm:prSet/>
      <dgm:spPr/>
      <dgm:t>
        <a:bodyPr/>
        <a:lstStyle/>
        <a:p>
          <a:r>
            <a:rPr lang="en-US" b="1"/>
            <a:t>Lambda</a:t>
          </a:r>
          <a:r>
            <a:rPr lang="en-US"/>
            <a:t> – For lightweight enrichment/validation.</a:t>
          </a:r>
        </a:p>
      </dgm:t>
    </dgm:pt>
    <dgm:pt modelId="{11B1CAA1-F5F4-4014-AFFA-296E22470B1A}" type="parTrans" cxnId="{F8415B17-F877-4D72-9950-E40FD9CDA1AE}">
      <dgm:prSet/>
      <dgm:spPr/>
      <dgm:t>
        <a:bodyPr/>
        <a:lstStyle/>
        <a:p>
          <a:endParaRPr lang="en-US"/>
        </a:p>
      </dgm:t>
    </dgm:pt>
    <dgm:pt modelId="{EFD832C8-35E3-4CF2-B39E-6193A1B9A635}" type="sibTrans" cxnId="{F8415B17-F877-4D72-9950-E40FD9CDA1AE}">
      <dgm:prSet/>
      <dgm:spPr/>
      <dgm:t>
        <a:bodyPr/>
        <a:lstStyle/>
        <a:p>
          <a:endParaRPr lang="en-US"/>
        </a:p>
      </dgm:t>
    </dgm:pt>
    <dgm:pt modelId="{B1DDF3E0-602A-4CD8-A32C-604D90E704FE}">
      <dgm:prSet/>
      <dgm:spPr/>
      <dgm:t>
        <a:bodyPr/>
        <a:lstStyle/>
        <a:p>
          <a:r>
            <a:rPr lang="en-US" b="1"/>
            <a:t>Databases</a:t>
          </a:r>
          <a:r>
            <a:rPr lang="en-US"/>
            <a:t>:</a:t>
          </a:r>
        </a:p>
      </dgm:t>
    </dgm:pt>
    <dgm:pt modelId="{CB1AEA53-9747-4A54-93A4-16E2679B47FE}" type="parTrans" cxnId="{1231A122-8FBB-4C6E-8775-C7412FFEDE9C}">
      <dgm:prSet/>
      <dgm:spPr/>
      <dgm:t>
        <a:bodyPr/>
        <a:lstStyle/>
        <a:p>
          <a:endParaRPr lang="en-US"/>
        </a:p>
      </dgm:t>
    </dgm:pt>
    <dgm:pt modelId="{3E65CA69-218F-4D97-ACB1-330564259949}" type="sibTrans" cxnId="{1231A122-8FBB-4C6E-8775-C7412FFEDE9C}">
      <dgm:prSet/>
      <dgm:spPr/>
      <dgm:t>
        <a:bodyPr/>
        <a:lstStyle/>
        <a:p>
          <a:endParaRPr lang="en-US"/>
        </a:p>
      </dgm:t>
    </dgm:pt>
    <dgm:pt modelId="{AED20A48-3966-4451-B5C4-3E7A68F82756}">
      <dgm:prSet/>
      <dgm:spPr/>
      <dgm:t>
        <a:bodyPr/>
        <a:lstStyle/>
        <a:p>
          <a:r>
            <a:rPr lang="en-US" b="1"/>
            <a:t>Amazon Aurora</a:t>
          </a:r>
          <a:r>
            <a:rPr lang="en-US"/>
            <a:t> (PostgreSQL) – Transactional data.</a:t>
          </a:r>
        </a:p>
      </dgm:t>
    </dgm:pt>
    <dgm:pt modelId="{4C0CD199-FEF2-469E-891D-8B60ABE00B80}" type="parTrans" cxnId="{6BD04157-F366-43BD-97E8-C2AFAD3E26E4}">
      <dgm:prSet/>
      <dgm:spPr/>
      <dgm:t>
        <a:bodyPr/>
        <a:lstStyle/>
        <a:p>
          <a:endParaRPr lang="en-US"/>
        </a:p>
      </dgm:t>
    </dgm:pt>
    <dgm:pt modelId="{ACFB94DF-364C-4FDE-ADBF-F5349CB063D7}" type="sibTrans" cxnId="{6BD04157-F366-43BD-97E8-C2AFAD3E26E4}">
      <dgm:prSet/>
      <dgm:spPr/>
      <dgm:t>
        <a:bodyPr/>
        <a:lstStyle/>
        <a:p>
          <a:endParaRPr lang="en-US"/>
        </a:p>
      </dgm:t>
    </dgm:pt>
    <dgm:pt modelId="{F85358FB-91C0-4C83-A767-F69B3AEAC622}">
      <dgm:prSet/>
      <dgm:spPr/>
      <dgm:t>
        <a:bodyPr/>
        <a:lstStyle/>
        <a:p>
          <a:r>
            <a:rPr lang="en-US" b="1"/>
            <a:t>DynamoDB</a:t>
          </a:r>
          <a:r>
            <a:rPr lang="en-US"/>
            <a:t> – For low-latency reference data.</a:t>
          </a:r>
        </a:p>
      </dgm:t>
    </dgm:pt>
    <dgm:pt modelId="{9DD6D50E-5747-4B03-A7D9-09DAAB1A6B6A}" type="parTrans" cxnId="{B337E2B6-DE2B-4677-AEF8-75A9BC66733C}">
      <dgm:prSet/>
      <dgm:spPr/>
      <dgm:t>
        <a:bodyPr/>
        <a:lstStyle/>
        <a:p>
          <a:endParaRPr lang="en-US"/>
        </a:p>
      </dgm:t>
    </dgm:pt>
    <dgm:pt modelId="{0EF959B7-4707-4438-9304-649E328FBADD}" type="sibTrans" cxnId="{B337E2B6-DE2B-4677-AEF8-75A9BC66733C}">
      <dgm:prSet/>
      <dgm:spPr/>
      <dgm:t>
        <a:bodyPr/>
        <a:lstStyle/>
        <a:p>
          <a:endParaRPr lang="en-US"/>
        </a:p>
      </dgm:t>
    </dgm:pt>
    <dgm:pt modelId="{FFFA3860-3018-44B2-8A0F-70262786A10A}">
      <dgm:prSet/>
      <dgm:spPr/>
      <dgm:t>
        <a:bodyPr/>
        <a:lstStyle/>
        <a:p>
          <a:r>
            <a:rPr lang="en-US" b="1"/>
            <a:t>Settlement &amp; Compliance</a:t>
          </a:r>
          <a:r>
            <a:rPr lang="en-US"/>
            <a:t>:</a:t>
          </a:r>
        </a:p>
      </dgm:t>
    </dgm:pt>
    <dgm:pt modelId="{B1B5C2DF-5AAD-498E-B185-2C628D6DAE62}" type="parTrans" cxnId="{CBA3C245-91AC-4433-8EAD-A5D0E4DA573D}">
      <dgm:prSet/>
      <dgm:spPr/>
      <dgm:t>
        <a:bodyPr/>
        <a:lstStyle/>
        <a:p>
          <a:endParaRPr lang="en-US"/>
        </a:p>
      </dgm:t>
    </dgm:pt>
    <dgm:pt modelId="{A8365A7B-02BE-42B1-B545-A10169DB7B36}" type="sibTrans" cxnId="{CBA3C245-91AC-4433-8EAD-A5D0E4DA573D}">
      <dgm:prSet/>
      <dgm:spPr/>
      <dgm:t>
        <a:bodyPr/>
        <a:lstStyle/>
        <a:p>
          <a:endParaRPr lang="en-US"/>
        </a:p>
      </dgm:t>
    </dgm:pt>
    <dgm:pt modelId="{74951FEA-105A-4B7F-B770-D1117531DAFE}">
      <dgm:prSet/>
      <dgm:spPr/>
      <dgm:t>
        <a:bodyPr/>
        <a:lstStyle/>
        <a:p>
          <a:r>
            <a:rPr lang="en-US" b="1"/>
            <a:t>Amazon QLDB</a:t>
          </a:r>
          <a:r>
            <a:rPr lang="en-US"/>
            <a:t> (Immutable ledger for DvP).</a:t>
          </a:r>
        </a:p>
      </dgm:t>
    </dgm:pt>
    <dgm:pt modelId="{A303C5E4-CFA1-41F8-B484-56E4FD63C2A2}" type="parTrans" cxnId="{6F6236A4-B12B-46C5-B555-7306F01486F4}">
      <dgm:prSet/>
      <dgm:spPr/>
      <dgm:t>
        <a:bodyPr/>
        <a:lstStyle/>
        <a:p>
          <a:endParaRPr lang="en-US"/>
        </a:p>
      </dgm:t>
    </dgm:pt>
    <dgm:pt modelId="{0342FCFD-BB54-4FDF-AB17-3E0C1F558A90}" type="sibTrans" cxnId="{6F6236A4-B12B-46C5-B555-7306F01486F4}">
      <dgm:prSet/>
      <dgm:spPr/>
      <dgm:t>
        <a:bodyPr/>
        <a:lstStyle/>
        <a:p>
          <a:endParaRPr lang="en-US"/>
        </a:p>
      </dgm:t>
    </dgm:pt>
    <dgm:pt modelId="{F38547C6-C76D-4CBC-96E2-981A823A2537}">
      <dgm:prSet/>
      <dgm:spPr/>
      <dgm:t>
        <a:bodyPr/>
        <a:lstStyle/>
        <a:p>
          <a:r>
            <a:rPr lang="en-US" b="1"/>
            <a:t>AWS Fraud Detector</a:t>
          </a:r>
          <a:r>
            <a:rPr lang="en-US"/>
            <a:t> (AML/risk checks).</a:t>
          </a:r>
        </a:p>
      </dgm:t>
    </dgm:pt>
    <dgm:pt modelId="{7EA4AC90-C13C-46C7-92CE-0727885F10FA}" type="parTrans" cxnId="{3659F612-6C59-4DE9-8560-598B0AC355B8}">
      <dgm:prSet/>
      <dgm:spPr/>
      <dgm:t>
        <a:bodyPr/>
        <a:lstStyle/>
        <a:p>
          <a:endParaRPr lang="en-US"/>
        </a:p>
      </dgm:t>
    </dgm:pt>
    <dgm:pt modelId="{F21E4E0F-267F-45FC-8BA5-8241B682EDDA}" type="sibTrans" cxnId="{3659F612-6C59-4DE9-8560-598B0AC355B8}">
      <dgm:prSet/>
      <dgm:spPr/>
      <dgm:t>
        <a:bodyPr/>
        <a:lstStyle/>
        <a:p>
          <a:endParaRPr lang="en-US"/>
        </a:p>
      </dgm:t>
    </dgm:pt>
    <dgm:pt modelId="{8CDB739C-CC66-414B-9EAD-ECDF8E41FF11}" type="pres">
      <dgm:prSet presAssocID="{70A7A8E1-0C49-44EC-A3BC-DC842B8878F0}" presName="Name0" presStyleCnt="0">
        <dgm:presLayoutVars>
          <dgm:dir/>
          <dgm:animLvl val="lvl"/>
          <dgm:resizeHandles val="exact"/>
        </dgm:presLayoutVars>
      </dgm:prSet>
      <dgm:spPr/>
    </dgm:pt>
    <dgm:pt modelId="{ADBFB419-5D01-4B69-BFDF-00964AB5A112}" type="pres">
      <dgm:prSet presAssocID="{C4A92F59-AB70-4910-A451-B7AFBE290F80}" presName="linNode" presStyleCnt="0"/>
      <dgm:spPr/>
    </dgm:pt>
    <dgm:pt modelId="{976CA881-62AE-4A58-9C1E-A6365EBD9A33}" type="pres">
      <dgm:prSet presAssocID="{C4A92F59-AB70-4910-A451-B7AFBE290F80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BBF8CB47-1CC2-4B52-914D-60A35019F103}" type="pres">
      <dgm:prSet presAssocID="{C4A92F59-AB70-4910-A451-B7AFBE290F80}" presName="descendantText" presStyleLbl="alignAccFollowNode1" presStyleIdx="0" presStyleCnt="4">
        <dgm:presLayoutVars>
          <dgm:bulletEnabled val="1"/>
        </dgm:presLayoutVars>
      </dgm:prSet>
      <dgm:spPr/>
    </dgm:pt>
    <dgm:pt modelId="{DBEA6617-C854-4AF9-A9E3-E81E33F3B1A3}" type="pres">
      <dgm:prSet presAssocID="{01680B2E-004F-4804-8DEF-9CF8B8A7977F}" presName="sp" presStyleCnt="0"/>
      <dgm:spPr/>
    </dgm:pt>
    <dgm:pt modelId="{8FDA695F-39C2-45D8-93EC-1F43B03EABD1}" type="pres">
      <dgm:prSet presAssocID="{FADF392D-4A4B-4D4A-9573-B91EC6DEAAF9}" presName="linNode" presStyleCnt="0"/>
      <dgm:spPr/>
    </dgm:pt>
    <dgm:pt modelId="{6487EE80-9F8D-402A-B02A-05BC0ED357E7}" type="pres">
      <dgm:prSet presAssocID="{FADF392D-4A4B-4D4A-9573-B91EC6DEAAF9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7C54256C-2D5D-4EC4-ADFF-BC759DFB8615}" type="pres">
      <dgm:prSet presAssocID="{FADF392D-4A4B-4D4A-9573-B91EC6DEAAF9}" presName="descendantText" presStyleLbl="alignAccFollowNode1" presStyleIdx="1" presStyleCnt="4">
        <dgm:presLayoutVars>
          <dgm:bulletEnabled val="1"/>
        </dgm:presLayoutVars>
      </dgm:prSet>
      <dgm:spPr/>
    </dgm:pt>
    <dgm:pt modelId="{D073A8C0-01E5-47ED-9865-6A7A35216DDB}" type="pres">
      <dgm:prSet presAssocID="{F858024D-C08A-49A6-8A44-5A1331C589A8}" presName="sp" presStyleCnt="0"/>
      <dgm:spPr/>
    </dgm:pt>
    <dgm:pt modelId="{AE749B46-04F7-4408-8D8E-54FDE9DE0FCD}" type="pres">
      <dgm:prSet presAssocID="{B1DDF3E0-602A-4CD8-A32C-604D90E704FE}" presName="linNode" presStyleCnt="0"/>
      <dgm:spPr/>
    </dgm:pt>
    <dgm:pt modelId="{9535A355-3112-4B4C-941D-C1BF7A2268FA}" type="pres">
      <dgm:prSet presAssocID="{B1DDF3E0-602A-4CD8-A32C-604D90E704FE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B4B18469-CE99-45BE-90E8-8EAA542126B5}" type="pres">
      <dgm:prSet presAssocID="{B1DDF3E0-602A-4CD8-A32C-604D90E704FE}" presName="descendantText" presStyleLbl="alignAccFollowNode1" presStyleIdx="2" presStyleCnt="4">
        <dgm:presLayoutVars>
          <dgm:bulletEnabled val="1"/>
        </dgm:presLayoutVars>
      </dgm:prSet>
      <dgm:spPr/>
    </dgm:pt>
    <dgm:pt modelId="{DCF71363-0F40-47BD-9D74-B5B535A37F30}" type="pres">
      <dgm:prSet presAssocID="{3E65CA69-218F-4D97-ACB1-330564259949}" presName="sp" presStyleCnt="0"/>
      <dgm:spPr/>
    </dgm:pt>
    <dgm:pt modelId="{FDF699AC-AEC5-4542-96C4-BAFD580CA9B4}" type="pres">
      <dgm:prSet presAssocID="{FFFA3860-3018-44B2-8A0F-70262786A10A}" presName="linNode" presStyleCnt="0"/>
      <dgm:spPr/>
    </dgm:pt>
    <dgm:pt modelId="{772B3673-B7FC-4B0D-9397-0B5F5805DCC2}" type="pres">
      <dgm:prSet presAssocID="{FFFA3860-3018-44B2-8A0F-70262786A10A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DB302F8E-897D-4C26-BD21-1C045683B31C}" type="pres">
      <dgm:prSet presAssocID="{FFFA3860-3018-44B2-8A0F-70262786A10A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E3B14200-23BE-484C-987B-E3938D02B9A5}" type="presOf" srcId="{3870EDDA-431F-4D5F-8AC8-F5AF6EF12499}" destId="{BBF8CB47-1CC2-4B52-914D-60A35019F103}" srcOrd="0" destOrd="0" presId="urn:microsoft.com/office/officeart/2005/8/layout/vList5"/>
    <dgm:cxn modelId="{3659F612-6C59-4DE9-8560-598B0AC355B8}" srcId="{FFFA3860-3018-44B2-8A0F-70262786A10A}" destId="{F38547C6-C76D-4CBC-96E2-981A823A2537}" srcOrd="1" destOrd="0" parTransId="{7EA4AC90-C13C-46C7-92CE-0727885F10FA}" sibTransId="{F21E4E0F-267F-45FC-8BA5-8241B682EDDA}"/>
    <dgm:cxn modelId="{F8415B17-F877-4D72-9950-E40FD9CDA1AE}" srcId="{FADF392D-4A4B-4D4A-9573-B91EC6DEAAF9}" destId="{23CC2627-5234-4E1D-894B-DA56B7A984FF}" srcOrd="1" destOrd="0" parTransId="{11B1CAA1-F5F4-4014-AFFA-296E22470B1A}" sibTransId="{EFD832C8-35E3-4CF2-B39E-6193A1B9A635}"/>
    <dgm:cxn modelId="{1231A122-8FBB-4C6E-8775-C7412FFEDE9C}" srcId="{70A7A8E1-0C49-44EC-A3BC-DC842B8878F0}" destId="{B1DDF3E0-602A-4CD8-A32C-604D90E704FE}" srcOrd="2" destOrd="0" parTransId="{CB1AEA53-9747-4A54-93A4-16E2679B47FE}" sibTransId="{3E65CA69-218F-4D97-ACB1-330564259949}"/>
    <dgm:cxn modelId="{CC964727-0BD5-4B88-BEC8-426DD57646EF}" type="presOf" srcId="{FFFA3860-3018-44B2-8A0F-70262786A10A}" destId="{772B3673-B7FC-4B0D-9397-0B5F5805DCC2}" srcOrd="0" destOrd="0" presId="urn:microsoft.com/office/officeart/2005/8/layout/vList5"/>
    <dgm:cxn modelId="{92A1ED2F-7966-4AEC-B40B-D166C077407D}" type="presOf" srcId="{C4A92F59-AB70-4910-A451-B7AFBE290F80}" destId="{976CA881-62AE-4A58-9C1E-A6365EBD9A33}" srcOrd="0" destOrd="0" presId="urn:microsoft.com/office/officeart/2005/8/layout/vList5"/>
    <dgm:cxn modelId="{01FA2744-DC77-4E1C-87E2-F9E389D3F452}" type="presOf" srcId="{74951FEA-105A-4B7F-B770-D1117531DAFE}" destId="{DB302F8E-897D-4C26-BD21-1C045683B31C}" srcOrd="0" destOrd="0" presId="urn:microsoft.com/office/officeart/2005/8/layout/vList5"/>
    <dgm:cxn modelId="{CBA3C245-91AC-4433-8EAD-A5D0E4DA573D}" srcId="{70A7A8E1-0C49-44EC-A3BC-DC842B8878F0}" destId="{FFFA3860-3018-44B2-8A0F-70262786A10A}" srcOrd="3" destOrd="0" parTransId="{B1B5C2DF-5AAD-498E-B185-2C628D6DAE62}" sibTransId="{A8365A7B-02BE-42B1-B545-A10169DB7B36}"/>
    <dgm:cxn modelId="{DC235251-EA10-45FA-8865-76DD6E01944B}" srcId="{70A7A8E1-0C49-44EC-A3BC-DC842B8878F0}" destId="{C4A92F59-AB70-4910-A451-B7AFBE290F80}" srcOrd="0" destOrd="0" parTransId="{ADF8F087-E5A4-4903-B2A6-59873AC9F465}" sibTransId="{01680B2E-004F-4804-8DEF-9CF8B8A7977F}"/>
    <dgm:cxn modelId="{B8EFB654-CD33-45B3-9B61-61834C25E895}" srcId="{C4A92F59-AB70-4910-A451-B7AFBE290F80}" destId="{3870EDDA-431F-4D5F-8AC8-F5AF6EF12499}" srcOrd="0" destOrd="0" parTransId="{5BBBA7A3-2AC6-48AA-8BA5-657D7451B7D9}" sibTransId="{A8D497B8-F5DD-4C28-A4AA-E8F0079595D8}"/>
    <dgm:cxn modelId="{6BD04157-F366-43BD-97E8-C2AFAD3E26E4}" srcId="{B1DDF3E0-602A-4CD8-A32C-604D90E704FE}" destId="{AED20A48-3966-4451-B5C4-3E7A68F82756}" srcOrd="0" destOrd="0" parTransId="{4C0CD199-FEF2-469E-891D-8B60ABE00B80}" sibTransId="{ACFB94DF-364C-4FDE-ADBF-F5349CB063D7}"/>
    <dgm:cxn modelId="{564A635A-D204-4DDD-8DCA-F4E23B2B8BC5}" srcId="{70A7A8E1-0C49-44EC-A3BC-DC842B8878F0}" destId="{FADF392D-4A4B-4D4A-9573-B91EC6DEAAF9}" srcOrd="1" destOrd="0" parTransId="{39DA4ADB-8C2F-49AF-8E3B-EC70127B92AD}" sibTransId="{F858024D-C08A-49A6-8A44-5A1331C589A8}"/>
    <dgm:cxn modelId="{A7537A84-C1B4-475A-883F-22E85EB7DC8A}" srcId="{FADF392D-4A4B-4D4A-9573-B91EC6DEAAF9}" destId="{0C83D017-9786-4AA6-9DC5-45E0D56AD695}" srcOrd="0" destOrd="0" parTransId="{3CDEA025-F8F5-4225-B6F5-4480EC99861F}" sibTransId="{1F01E37B-1463-4953-9E46-C6A23470FF78}"/>
    <dgm:cxn modelId="{19137989-BDA8-4FA2-BE69-44B760E7F909}" type="presOf" srcId="{B1DDF3E0-602A-4CD8-A32C-604D90E704FE}" destId="{9535A355-3112-4B4C-941D-C1BF7A2268FA}" srcOrd="0" destOrd="0" presId="urn:microsoft.com/office/officeart/2005/8/layout/vList5"/>
    <dgm:cxn modelId="{3529EA91-3F93-4039-B074-88B3B031667C}" type="presOf" srcId="{96AD2EDD-B150-44EB-B39F-339668199F04}" destId="{BBF8CB47-1CC2-4B52-914D-60A35019F103}" srcOrd="0" destOrd="1" presId="urn:microsoft.com/office/officeart/2005/8/layout/vList5"/>
    <dgm:cxn modelId="{4E04D499-65C6-4E7C-B6DD-B9CB49D49D67}" srcId="{C4A92F59-AB70-4910-A451-B7AFBE290F80}" destId="{96AD2EDD-B150-44EB-B39F-339668199F04}" srcOrd="1" destOrd="0" parTransId="{D6F67EDC-0438-4DAF-9343-B08546BAFFEB}" sibTransId="{9395F1F5-1750-4091-8B4B-B3F2C3F871CB}"/>
    <dgm:cxn modelId="{6F6236A4-B12B-46C5-B555-7306F01486F4}" srcId="{FFFA3860-3018-44B2-8A0F-70262786A10A}" destId="{74951FEA-105A-4B7F-B770-D1117531DAFE}" srcOrd="0" destOrd="0" parTransId="{A303C5E4-CFA1-41F8-B484-56E4FD63C2A2}" sibTransId="{0342FCFD-BB54-4FDF-AB17-3E0C1F558A90}"/>
    <dgm:cxn modelId="{533E78A4-A920-48CA-B183-0D674E7BA7A7}" type="presOf" srcId="{AED20A48-3966-4451-B5C4-3E7A68F82756}" destId="{B4B18469-CE99-45BE-90E8-8EAA542126B5}" srcOrd="0" destOrd="0" presId="urn:microsoft.com/office/officeart/2005/8/layout/vList5"/>
    <dgm:cxn modelId="{BCF9B4A6-0673-4FDA-AA02-1A01686DF799}" type="presOf" srcId="{FADF392D-4A4B-4D4A-9573-B91EC6DEAAF9}" destId="{6487EE80-9F8D-402A-B02A-05BC0ED357E7}" srcOrd="0" destOrd="0" presId="urn:microsoft.com/office/officeart/2005/8/layout/vList5"/>
    <dgm:cxn modelId="{927907B2-B914-44CC-9636-06DD7E5B0559}" type="presOf" srcId="{F85358FB-91C0-4C83-A767-F69B3AEAC622}" destId="{B4B18469-CE99-45BE-90E8-8EAA542126B5}" srcOrd="0" destOrd="1" presId="urn:microsoft.com/office/officeart/2005/8/layout/vList5"/>
    <dgm:cxn modelId="{D7EA15B3-7936-4230-843A-E2CD000E6D4D}" type="presOf" srcId="{0C83D017-9786-4AA6-9DC5-45E0D56AD695}" destId="{7C54256C-2D5D-4EC4-ADFF-BC759DFB8615}" srcOrd="0" destOrd="0" presId="urn:microsoft.com/office/officeart/2005/8/layout/vList5"/>
    <dgm:cxn modelId="{B337E2B6-DE2B-4677-AEF8-75A9BC66733C}" srcId="{B1DDF3E0-602A-4CD8-A32C-604D90E704FE}" destId="{F85358FB-91C0-4C83-A767-F69B3AEAC622}" srcOrd="1" destOrd="0" parTransId="{9DD6D50E-5747-4B03-A7D9-09DAAB1A6B6A}" sibTransId="{0EF959B7-4707-4438-9304-649E328FBADD}"/>
    <dgm:cxn modelId="{F4423BB9-AEC1-40FF-B7CC-FC2AB431E3A9}" type="presOf" srcId="{F38547C6-C76D-4CBC-96E2-981A823A2537}" destId="{DB302F8E-897D-4C26-BD21-1C045683B31C}" srcOrd="0" destOrd="1" presId="urn:microsoft.com/office/officeart/2005/8/layout/vList5"/>
    <dgm:cxn modelId="{C7726ED8-D11D-487B-B023-CE53CFC37222}" type="presOf" srcId="{70A7A8E1-0C49-44EC-A3BC-DC842B8878F0}" destId="{8CDB739C-CC66-414B-9EAD-ECDF8E41FF11}" srcOrd="0" destOrd="0" presId="urn:microsoft.com/office/officeart/2005/8/layout/vList5"/>
    <dgm:cxn modelId="{A108FBDA-546D-4DF8-84CA-EB6D0A58C2E9}" type="presOf" srcId="{23CC2627-5234-4E1D-894B-DA56B7A984FF}" destId="{7C54256C-2D5D-4EC4-ADFF-BC759DFB8615}" srcOrd="0" destOrd="1" presId="urn:microsoft.com/office/officeart/2005/8/layout/vList5"/>
    <dgm:cxn modelId="{A9D19ABC-3AA3-4FBC-96CE-17A72CCFAA93}" type="presParOf" srcId="{8CDB739C-CC66-414B-9EAD-ECDF8E41FF11}" destId="{ADBFB419-5D01-4B69-BFDF-00964AB5A112}" srcOrd="0" destOrd="0" presId="urn:microsoft.com/office/officeart/2005/8/layout/vList5"/>
    <dgm:cxn modelId="{F653CB5F-B774-49BA-AB2D-E8760A8E5562}" type="presParOf" srcId="{ADBFB419-5D01-4B69-BFDF-00964AB5A112}" destId="{976CA881-62AE-4A58-9C1E-A6365EBD9A33}" srcOrd="0" destOrd="0" presId="urn:microsoft.com/office/officeart/2005/8/layout/vList5"/>
    <dgm:cxn modelId="{3C5FA2B5-D7DC-4EB4-99FB-84E543CBE40F}" type="presParOf" srcId="{ADBFB419-5D01-4B69-BFDF-00964AB5A112}" destId="{BBF8CB47-1CC2-4B52-914D-60A35019F103}" srcOrd="1" destOrd="0" presId="urn:microsoft.com/office/officeart/2005/8/layout/vList5"/>
    <dgm:cxn modelId="{375BA3C4-3934-4C93-8528-6758E5777462}" type="presParOf" srcId="{8CDB739C-CC66-414B-9EAD-ECDF8E41FF11}" destId="{DBEA6617-C854-4AF9-A9E3-E81E33F3B1A3}" srcOrd="1" destOrd="0" presId="urn:microsoft.com/office/officeart/2005/8/layout/vList5"/>
    <dgm:cxn modelId="{FE1D8D5F-46CE-49A5-98AD-22C35D4B645B}" type="presParOf" srcId="{8CDB739C-CC66-414B-9EAD-ECDF8E41FF11}" destId="{8FDA695F-39C2-45D8-93EC-1F43B03EABD1}" srcOrd="2" destOrd="0" presId="urn:microsoft.com/office/officeart/2005/8/layout/vList5"/>
    <dgm:cxn modelId="{9904A455-04FB-403D-B909-FD1DE1C69ED1}" type="presParOf" srcId="{8FDA695F-39C2-45D8-93EC-1F43B03EABD1}" destId="{6487EE80-9F8D-402A-B02A-05BC0ED357E7}" srcOrd="0" destOrd="0" presId="urn:microsoft.com/office/officeart/2005/8/layout/vList5"/>
    <dgm:cxn modelId="{3D9162AC-AF15-4CA1-ABA1-0A0111142EEF}" type="presParOf" srcId="{8FDA695F-39C2-45D8-93EC-1F43B03EABD1}" destId="{7C54256C-2D5D-4EC4-ADFF-BC759DFB8615}" srcOrd="1" destOrd="0" presId="urn:microsoft.com/office/officeart/2005/8/layout/vList5"/>
    <dgm:cxn modelId="{55147F2B-0CF3-46BC-BF2C-58D292C6170B}" type="presParOf" srcId="{8CDB739C-CC66-414B-9EAD-ECDF8E41FF11}" destId="{D073A8C0-01E5-47ED-9865-6A7A35216DDB}" srcOrd="3" destOrd="0" presId="urn:microsoft.com/office/officeart/2005/8/layout/vList5"/>
    <dgm:cxn modelId="{2D07BC3F-3EF9-4A7D-8741-567AFDB46870}" type="presParOf" srcId="{8CDB739C-CC66-414B-9EAD-ECDF8E41FF11}" destId="{AE749B46-04F7-4408-8D8E-54FDE9DE0FCD}" srcOrd="4" destOrd="0" presId="urn:microsoft.com/office/officeart/2005/8/layout/vList5"/>
    <dgm:cxn modelId="{BD56111F-E8DB-4095-B34C-C421519D81C8}" type="presParOf" srcId="{AE749B46-04F7-4408-8D8E-54FDE9DE0FCD}" destId="{9535A355-3112-4B4C-941D-C1BF7A2268FA}" srcOrd="0" destOrd="0" presId="urn:microsoft.com/office/officeart/2005/8/layout/vList5"/>
    <dgm:cxn modelId="{1F88D9FB-D300-40AF-8712-0DD548BFDE32}" type="presParOf" srcId="{AE749B46-04F7-4408-8D8E-54FDE9DE0FCD}" destId="{B4B18469-CE99-45BE-90E8-8EAA542126B5}" srcOrd="1" destOrd="0" presId="urn:microsoft.com/office/officeart/2005/8/layout/vList5"/>
    <dgm:cxn modelId="{A56CDCDD-0E67-4A15-B028-E68CD227737E}" type="presParOf" srcId="{8CDB739C-CC66-414B-9EAD-ECDF8E41FF11}" destId="{DCF71363-0F40-47BD-9D74-B5B535A37F30}" srcOrd="5" destOrd="0" presId="urn:microsoft.com/office/officeart/2005/8/layout/vList5"/>
    <dgm:cxn modelId="{F119A908-2E58-45AC-8941-522463150AE1}" type="presParOf" srcId="{8CDB739C-CC66-414B-9EAD-ECDF8E41FF11}" destId="{FDF699AC-AEC5-4542-96C4-BAFD580CA9B4}" srcOrd="6" destOrd="0" presId="urn:microsoft.com/office/officeart/2005/8/layout/vList5"/>
    <dgm:cxn modelId="{D89570C4-30EF-48E5-BBAF-74532E2AF5F6}" type="presParOf" srcId="{FDF699AC-AEC5-4542-96C4-BAFD580CA9B4}" destId="{772B3673-B7FC-4B0D-9397-0B5F5805DCC2}" srcOrd="0" destOrd="0" presId="urn:microsoft.com/office/officeart/2005/8/layout/vList5"/>
    <dgm:cxn modelId="{D87FCB28-4071-4501-8457-EA4A0631E910}" type="presParOf" srcId="{FDF699AC-AEC5-4542-96C4-BAFD580CA9B4}" destId="{DB302F8E-897D-4C26-BD21-1C045683B31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3E45FC-DCE7-4F46-806A-60923C3BEC0B}" type="doc">
      <dgm:prSet loTypeId="urn:microsoft.com/office/officeart/2016/7/layout/ChevronBlockProcess" loCatId="process" qsTypeId="urn:microsoft.com/office/officeart/2005/8/quickstyle/simple2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18FE52E5-00DD-4009-AC7F-9EBD18BBD981}">
      <dgm:prSet/>
      <dgm:spPr/>
      <dgm:t>
        <a:bodyPr/>
        <a:lstStyle/>
        <a:p>
          <a:r>
            <a:rPr lang="en-US" dirty="0"/>
            <a:t>Phase 1</a:t>
          </a:r>
        </a:p>
      </dgm:t>
    </dgm:pt>
    <dgm:pt modelId="{1B6CD456-33C8-4B59-9EBF-BEB0B5FC8714}" type="parTrans" cxnId="{0EF0E8FC-ECD5-48A3-9790-624B0BC902E0}">
      <dgm:prSet/>
      <dgm:spPr/>
      <dgm:t>
        <a:bodyPr/>
        <a:lstStyle/>
        <a:p>
          <a:endParaRPr lang="en-US"/>
        </a:p>
      </dgm:t>
    </dgm:pt>
    <dgm:pt modelId="{ECB764E0-2CC1-439B-AB7D-F1919EAAE32A}" type="sibTrans" cxnId="{0EF0E8FC-ECD5-48A3-9790-624B0BC902E0}">
      <dgm:prSet/>
      <dgm:spPr/>
      <dgm:t>
        <a:bodyPr/>
        <a:lstStyle/>
        <a:p>
          <a:endParaRPr lang="en-US"/>
        </a:p>
      </dgm:t>
    </dgm:pt>
    <dgm:pt modelId="{9BAA5E96-E563-434D-B093-8BDA12C0C4CA}">
      <dgm:prSet/>
      <dgm:spPr/>
      <dgm:t>
        <a:bodyPr/>
        <a:lstStyle/>
        <a:p>
          <a:r>
            <a:rPr lang="en-US" dirty="0"/>
            <a:t>Foundation Setup</a:t>
          </a:r>
        </a:p>
      </dgm:t>
    </dgm:pt>
    <dgm:pt modelId="{80BE1FA6-43DB-4684-9610-E3C3A442C227}" type="parTrans" cxnId="{03AEBE94-AD26-46A4-AFAB-3E6BEAB2F6DB}">
      <dgm:prSet/>
      <dgm:spPr/>
      <dgm:t>
        <a:bodyPr/>
        <a:lstStyle/>
        <a:p>
          <a:endParaRPr lang="en-US"/>
        </a:p>
      </dgm:t>
    </dgm:pt>
    <dgm:pt modelId="{787B7B5D-8F74-49A6-8589-849949A8765C}" type="sibTrans" cxnId="{03AEBE94-AD26-46A4-AFAB-3E6BEAB2F6DB}">
      <dgm:prSet/>
      <dgm:spPr/>
      <dgm:t>
        <a:bodyPr/>
        <a:lstStyle/>
        <a:p>
          <a:endParaRPr lang="en-US"/>
        </a:p>
      </dgm:t>
    </dgm:pt>
    <dgm:pt modelId="{3A9F605E-032B-4AFE-972F-BC5D762C0A2D}">
      <dgm:prSet/>
      <dgm:spPr/>
      <dgm:t>
        <a:bodyPr/>
        <a:lstStyle/>
        <a:p>
          <a:r>
            <a:rPr lang="en-US" dirty="0"/>
            <a:t>VPC Design:</a:t>
          </a:r>
        </a:p>
      </dgm:t>
    </dgm:pt>
    <dgm:pt modelId="{676E8224-1CD2-4E99-B6D3-98DA563571A7}" type="parTrans" cxnId="{558C2F4D-3F96-4EB9-8384-2CA268B11A8F}">
      <dgm:prSet/>
      <dgm:spPr/>
      <dgm:t>
        <a:bodyPr/>
        <a:lstStyle/>
        <a:p>
          <a:endParaRPr lang="en-US"/>
        </a:p>
      </dgm:t>
    </dgm:pt>
    <dgm:pt modelId="{868C1F90-47CE-485D-8814-B95D10C6BE86}" type="sibTrans" cxnId="{558C2F4D-3F96-4EB9-8384-2CA268B11A8F}">
      <dgm:prSet/>
      <dgm:spPr/>
      <dgm:t>
        <a:bodyPr/>
        <a:lstStyle/>
        <a:p>
          <a:endParaRPr lang="en-US"/>
        </a:p>
      </dgm:t>
    </dgm:pt>
    <dgm:pt modelId="{BAA3DA47-F751-499B-93C7-EDE61D958E5D}">
      <dgm:prSet/>
      <dgm:spPr/>
      <dgm:t>
        <a:bodyPr/>
        <a:lstStyle/>
        <a:p>
          <a:r>
            <a:rPr lang="en-US" dirty="0"/>
            <a:t>Isolated subnets for Kafka/MSK (private), microservices (private), and public APIs.</a:t>
          </a:r>
        </a:p>
      </dgm:t>
    </dgm:pt>
    <dgm:pt modelId="{9956848C-722E-4E32-9DEC-C31BD60513B7}" type="parTrans" cxnId="{E9EC88C3-55CC-4838-9288-88896671DC6B}">
      <dgm:prSet/>
      <dgm:spPr/>
      <dgm:t>
        <a:bodyPr/>
        <a:lstStyle/>
        <a:p>
          <a:endParaRPr lang="en-US"/>
        </a:p>
      </dgm:t>
    </dgm:pt>
    <dgm:pt modelId="{2C4AC016-E66C-4EAE-921A-63B0D098075E}" type="sibTrans" cxnId="{E9EC88C3-55CC-4838-9288-88896671DC6B}">
      <dgm:prSet/>
      <dgm:spPr/>
      <dgm:t>
        <a:bodyPr/>
        <a:lstStyle/>
        <a:p>
          <a:endParaRPr lang="en-US"/>
        </a:p>
      </dgm:t>
    </dgm:pt>
    <dgm:pt modelId="{89736728-B4F4-472B-AB0B-087E72A38C52}">
      <dgm:prSet/>
      <dgm:spPr/>
      <dgm:t>
        <a:bodyPr/>
        <a:lstStyle/>
        <a:p>
          <a:r>
            <a:rPr lang="en-US" dirty="0"/>
            <a:t>Kafka on AWS:</a:t>
          </a:r>
        </a:p>
      </dgm:t>
    </dgm:pt>
    <dgm:pt modelId="{B98EEBDE-E4E3-48E2-BDA2-EACC93B03F1A}" type="parTrans" cxnId="{D2EB7DE4-8813-4819-B1D6-F0E1D8B99FBB}">
      <dgm:prSet/>
      <dgm:spPr/>
      <dgm:t>
        <a:bodyPr/>
        <a:lstStyle/>
        <a:p>
          <a:endParaRPr lang="en-US"/>
        </a:p>
      </dgm:t>
    </dgm:pt>
    <dgm:pt modelId="{2C5F1677-33D5-4A8A-BC2B-49184A34B1FC}" type="sibTrans" cxnId="{D2EB7DE4-8813-4819-B1D6-F0E1D8B99FBB}">
      <dgm:prSet/>
      <dgm:spPr/>
      <dgm:t>
        <a:bodyPr/>
        <a:lstStyle/>
        <a:p>
          <a:endParaRPr lang="en-US"/>
        </a:p>
      </dgm:t>
    </dgm:pt>
    <dgm:pt modelId="{69D00457-5755-4B9B-9AA9-7EEDEB3E12C9}">
      <dgm:prSet/>
      <dgm:spPr/>
      <dgm:t>
        <a:bodyPr/>
        <a:lstStyle/>
        <a:p>
          <a:r>
            <a:rPr lang="en-US" dirty="0"/>
            <a:t>Deploy Amazon MSK with 3 brokers (multi-AZ).</a:t>
          </a:r>
        </a:p>
      </dgm:t>
    </dgm:pt>
    <dgm:pt modelId="{3233284E-3D8B-4A71-A8B6-4D0167998438}" type="parTrans" cxnId="{DFEDA40D-53D9-4565-A2BC-A8487B2DB7E5}">
      <dgm:prSet/>
      <dgm:spPr/>
      <dgm:t>
        <a:bodyPr/>
        <a:lstStyle/>
        <a:p>
          <a:endParaRPr lang="en-US"/>
        </a:p>
      </dgm:t>
    </dgm:pt>
    <dgm:pt modelId="{D2529D41-5419-40E8-BF2A-B6B4189A2FB1}" type="sibTrans" cxnId="{DFEDA40D-53D9-4565-A2BC-A8487B2DB7E5}">
      <dgm:prSet/>
      <dgm:spPr/>
      <dgm:t>
        <a:bodyPr/>
        <a:lstStyle/>
        <a:p>
          <a:endParaRPr lang="en-US"/>
        </a:p>
      </dgm:t>
    </dgm:pt>
    <dgm:pt modelId="{31E7618B-F212-4E15-A328-A372FBDAAC52}">
      <dgm:prSet/>
      <dgm:spPr/>
      <dgm:t>
        <a:bodyPr/>
        <a:lstStyle/>
        <a:p>
          <a:r>
            <a:rPr lang="en-US" dirty="0"/>
            <a:t>Configure topics: trade-events, settlement-queue, </a:t>
          </a:r>
          <a:r>
            <a:rPr lang="en-US" dirty="0" err="1"/>
            <a:t>dlq</a:t>
          </a:r>
          <a:r>
            <a:rPr lang="en-US" dirty="0"/>
            <a:t>.</a:t>
          </a:r>
        </a:p>
      </dgm:t>
    </dgm:pt>
    <dgm:pt modelId="{452F42DF-D88D-41D9-A689-EA81C943B927}" type="parTrans" cxnId="{5BA610D2-0DF9-4D4F-B4E8-9611C85D59F0}">
      <dgm:prSet/>
      <dgm:spPr/>
      <dgm:t>
        <a:bodyPr/>
        <a:lstStyle/>
        <a:p>
          <a:endParaRPr lang="en-US"/>
        </a:p>
      </dgm:t>
    </dgm:pt>
    <dgm:pt modelId="{E939EA1C-9AFD-461C-B1B0-4A2A5CAF7A2D}" type="sibTrans" cxnId="{5BA610D2-0DF9-4D4F-B4E8-9611C85D59F0}">
      <dgm:prSet/>
      <dgm:spPr/>
      <dgm:t>
        <a:bodyPr/>
        <a:lstStyle/>
        <a:p>
          <a:endParaRPr lang="en-US"/>
        </a:p>
      </dgm:t>
    </dgm:pt>
    <dgm:pt modelId="{9E286F48-E627-47B8-96F0-BECFE5055A35}">
      <dgm:prSet/>
      <dgm:spPr/>
      <dgm:t>
        <a:bodyPr/>
        <a:lstStyle/>
        <a:p>
          <a:r>
            <a:rPr lang="en-US" dirty="0"/>
            <a:t>Infrastructure as Code (</a:t>
          </a:r>
          <a:r>
            <a:rPr lang="en-US" dirty="0" err="1"/>
            <a:t>IaC</a:t>
          </a:r>
          <a:r>
            <a:rPr lang="en-US" dirty="0"/>
            <a:t>):</a:t>
          </a:r>
        </a:p>
      </dgm:t>
    </dgm:pt>
    <dgm:pt modelId="{D7239E74-1730-43ED-9935-545DC0135811}" type="parTrans" cxnId="{EF33BE42-4CD0-4831-9028-433A7D15AD64}">
      <dgm:prSet/>
      <dgm:spPr/>
      <dgm:t>
        <a:bodyPr/>
        <a:lstStyle/>
        <a:p>
          <a:endParaRPr lang="en-US"/>
        </a:p>
      </dgm:t>
    </dgm:pt>
    <dgm:pt modelId="{27458E7E-2E36-48D1-9583-D903BF59F263}" type="sibTrans" cxnId="{EF33BE42-4CD0-4831-9028-433A7D15AD64}">
      <dgm:prSet/>
      <dgm:spPr/>
      <dgm:t>
        <a:bodyPr/>
        <a:lstStyle/>
        <a:p>
          <a:endParaRPr lang="en-US"/>
        </a:p>
      </dgm:t>
    </dgm:pt>
    <dgm:pt modelId="{18A80B5C-6128-4682-9CE5-AC03A88FB729}">
      <dgm:prSet/>
      <dgm:spPr/>
      <dgm:t>
        <a:bodyPr/>
        <a:lstStyle/>
        <a:p>
          <a:r>
            <a:rPr lang="en-US" dirty="0"/>
            <a:t>Use AWS CDK or Terraform to automate provisioning.</a:t>
          </a:r>
        </a:p>
      </dgm:t>
    </dgm:pt>
    <dgm:pt modelId="{4448BE7A-C7FC-4E2C-9DF2-D303A8EBBE2A}" type="parTrans" cxnId="{D079805A-82BF-44B9-AE63-067E078EC84C}">
      <dgm:prSet/>
      <dgm:spPr/>
      <dgm:t>
        <a:bodyPr/>
        <a:lstStyle/>
        <a:p>
          <a:endParaRPr lang="en-US"/>
        </a:p>
      </dgm:t>
    </dgm:pt>
    <dgm:pt modelId="{03A1C53D-C557-4353-811B-1D24537008E4}" type="sibTrans" cxnId="{D079805A-82BF-44B9-AE63-067E078EC84C}">
      <dgm:prSet/>
      <dgm:spPr/>
      <dgm:t>
        <a:bodyPr/>
        <a:lstStyle/>
        <a:p>
          <a:endParaRPr lang="en-US"/>
        </a:p>
      </dgm:t>
    </dgm:pt>
    <dgm:pt modelId="{936D25E5-8926-4053-B01E-41A3B354BC2D}">
      <dgm:prSet/>
      <dgm:spPr/>
      <dgm:t>
        <a:bodyPr/>
        <a:lstStyle/>
        <a:p>
          <a:r>
            <a:rPr lang="en-US" dirty="0"/>
            <a:t>Phase 2</a:t>
          </a:r>
        </a:p>
      </dgm:t>
    </dgm:pt>
    <dgm:pt modelId="{E86B3C48-7A0F-481D-92ED-0D452662AD36}" type="parTrans" cxnId="{58D46D13-4E76-4A89-B21F-242AFB7AE4F6}">
      <dgm:prSet/>
      <dgm:spPr/>
      <dgm:t>
        <a:bodyPr/>
        <a:lstStyle/>
        <a:p>
          <a:endParaRPr lang="en-US"/>
        </a:p>
      </dgm:t>
    </dgm:pt>
    <dgm:pt modelId="{B398D7ED-FEB5-4B40-8F97-3D5C8C418E8C}" type="sibTrans" cxnId="{58D46D13-4E76-4A89-B21F-242AFB7AE4F6}">
      <dgm:prSet/>
      <dgm:spPr/>
      <dgm:t>
        <a:bodyPr/>
        <a:lstStyle/>
        <a:p>
          <a:endParaRPr lang="en-US"/>
        </a:p>
      </dgm:t>
    </dgm:pt>
    <dgm:pt modelId="{9C115252-72FA-421E-BF99-25EA3A857AF7}">
      <dgm:prSet/>
      <dgm:spPr/>
      <dgm:t>
        <a:bodyPr/>
        <a:lstStyle/>
        <a:p>
          <a:r>
            <a:rPr lang="en-US" dirty="0"/>
            <a:t>Microservices Deployment</a:t>
          </a:r>
        </a:p>
      </dgm:t>
    </dgm:pt>
    <dgm:pt modelId="{2C854CE1-7995-45DD-A4D6-5676C9566F3E}" type="parTrans" cxnId="{B0EE92CC-4F2F-4699-AF45-2EBCE09AAE33}">
      <dgm:prSet/>
      <dgm:spPr/>
      <dgm:t>
        <a:bodyPr/>
        <a:lstStyle/>
        <a:p>
          <a:endParaRPr lang="en-US"/>
        </a:p>
      </dgm:t>
    </dgm:pt>
    <dgm:pt modelId="{E5DB0DF7-4E75-4F83-9F79-C8170097C8B1}" type="sibTrans" cxnId="{B0EE92CC-4F2F-4699-AF45-2EBCE09AAE33}">
      <dgm:prSet/>
      <dgm:spPr/>
      <dgm:t>
        <a:bodyPr/>
        <a:lstStyle/>
        <a:p>
          <a:endParaRPr lang="en-US"/>
        </a:p>
      </dgm:t>
    </dgm:pt>
    <dgm:pt modelId="{5B59DD42-0749-407E-B7B5-927A2EDB53DC}">
      <dgm:prSet/>
      <dgm:spPr/>
      <dgm:t>
        <a:bodyPr/>
        <a:lstStyle/>
        <a:p>
          <a:pPr rtl="0"/>
          <a:r>
            <a:rPr lang="en-US" dirty="0"/>
            <a:t>Trade Validation Service:</a:t>
          </a:r>
          <a:r>
            <a:rPr lang="en-US" sz="1800" dirty="0">
              <a:latin typeface="Aptos Display" panose="020F0302020204030204"/>
            </a:rPr>
            <a:t> </a:t>
          </a:r>
          <a:r>
            <a:rPr lang="en-US" sz="2600" dirty="0"/>
            <a:t>Spring Boot app on EKS with auto-scaling.</a:t>
          </a:r>
          <a:endParaRPr lang="en-US" dirty="0"/>
        </a:p>
      </dgm:t>
    </dgm:pt>
    <dgm:pt modelId="{EC3EF578-14D2-4E58-BB5D-C61089E809C5}" type="parTrans" cxnId="{81EA16FA-3CAE-4A13-B46B-12C6237591E8}">
      <dgm:prSet/>
      <dgm:spPr/>
      <dgm:t>
        <a:bodyPr/>
        <a:lstStyle/>
        <a:p>
          <a:endParaRPr lang="en-US"/>
        </a:p>
      </dgm:t>
    </dgm:pt>
    <dgm:pt modelId="{8084DCAE-1657-47F0-8343-84E412664AB9}" type="sibTrans" cxnId="{81EA16FA-3CAE-4A13-B46B-12C6237591E8}">
      <dgm:prSet/>
      <dgm:spPr/>
      <dgm:t>
        <a:bodyPr/>
        <a:lstStyle/>
        <a:p>
          <a:endParaRPr lang="en-US"/>
        </a:p>
      </dgm:t>
    </dgm:pt>
    <dgm:pt modelId="{396E9181-6C4B-4C08-B66A-D72C75C0034A}">
      <dgm:prSet/>
      <dgm:spPr/>
      <dgm:t>
        <a:bodyPr/>
        <a:lstStyle/>
        <a:p>
          <a:pPr rtl="0"/>
          <a:r>
            <a:rPr lang="en-US" sz="1400" dirty="0"/>
            <a:t>Enrichment Service:</a:t>
          </a:r>
          <a:r>
            <a:rPr lang="en-US" sz="1400" dirty="0">
              <a:latin typeface="Aptos Display" panose="020F0302020204030204"/>
            </a:rPr>
            <a:t> </a:t>
          </a:r>
          <a:r>
            <a:rPr lang="en-US" sz="1400" dirty="0">
              <a:solidFill>
                <a:srgbClr val="000000"/>
              </a:solidFill>
              <a:latin typeface="Aptos Display" panose="020F0302020204030204"/>
            </a:rPr>
            <a:t> </a:t>
          </a:r>
          <a:r>
            <a:rPr lang="en-US" sz="1400" dirty="0">
              <a:solidFill>
                <a:srgbClr val="404040"/>
              </a:solidFill>
            </a:rPr>
            <a:t>Pull reference data from </a:t>
          </a:r>
          <a:r>
            <a:rPr lang="en-US" sz="1400" b="1" dirty="0">
              <a:solidFill>
                <a:srgbClr val="404040"/>
              </a:solidFill>
            </a:rPr>
            <a:t>DynamoDB</a:t>
          </a:r>
          <a:r>
            <a:rPr lang="en-US" sz="1400" dirty="0">
              <a:solidFill>
                <a:srgbClr val="404040"/>
              </a:solidFill>
            </a:rPr>
            <a:t> (TTL caching).</a:t>
          </a:r>
          <a:endParaRPr lang="en-US" sz="1400" dirty="0">
            <a:solidFill>
              <a:srgbClr val="000000"/>
            </a:solidFill>
            <a:latin typeface="Aptos Display" panose="020F0302020204030204"/>
          </a:endParaRPr>
        </a:p>
      </dgm:t>
    </dgm:pt>
    <dgm:pt modelId="{E5EF3531-9C19-4B69-90EE-8903ADED98FC}" type="parTrans" cxnId="{D015C53A-1343-4D88-82C6-A33550414EE4}">
      <dgm:prSet/>
      <dgm:spPr/>
      <dgm:t>
        <a:bodyPr/>
        <a:lstStyle/>
        <a:p>
          <a:endParaRPr lang="en-US"/>
        </a:p>
      </dgm:t>
    </dgm:pt>
    <dgm:pt modelId="{13819D6A-6E00-4F60-9F4F-FF80A863CD13}" type="sibTrans" cxnId="{D015C53A-1343-4D88-82C6-A33550414EE4}">
      <dgm:prSet/>
      <dgm:spPr/>
      <dgm:t>
        <a:bodyPr/>
        <a:lstStyle/>
        <a:p>
          <a:endParaRPr lang="en-US"/>
        </a:p>
      </dgm:t>
    </dgm:pt>
    <dgm:pt modelId="{0CA39E54-F6FD-440C-8C13-5575FD33B279}">
      <dgm:prSet/>
      <dgm:spPr/>
      <dgm:t>
        <a:bodyPr/>
        <a:lstStyle/>
        <a:p>
          <a:pPr rtl="0"/>
          <a:r>
            <a:rPr lang="en-US" sz="2600" dirty="0"/>
            <a:t>Clearing Engine:</a:t>
          </a:r>
          <a:r>
            <a:rPr lang="en-US" sz="2600" dirty="0">
              <a:solidFill>
                <a:srgbClr val="000000"/>
              </a:solidFill>
              <a:latin typeface="Aptos Display" panose="020F0302020204030204"/>
            </a:rPr>
            <a:t> </a:t>
          </a:r>
          <a:r>
            <a:rPr lang="en-US" sz="2000" dirty="0">
              <a:solidFill>
                <a:srgbClr val="404040"/>
              </a:solidFill>
            </a:rPr>
            <a:t>Use </a:t>
          </a:r>
          <a:r>
            <a:rPr lang="en-US" sz="2000" b="1" dirty="0">
              <a:solidFill>
                <a:srgbClr val="404040"/>
              </a:solidFill>
            </a:rPr>
            <a:t>AWS Step Functions</a:t>
          </a:r>
          <a:r>
            <a:rPr lang="en-US" sz="2000" dirty="0">
              <a:solidFill>
                <a:srgbClr val="404040"/>
              </a:solidFill>
            </a:rPr>
            <a:t> for orchestration.</a:t>
          </a:r>
          <a:endParaRPr lang="en-US" sz="2000" dirty="0">
            <a:latin typeface="Aptos Display" panose="020F0302020204030204"/>
          </a:endParaRPr>
        </a:p>
      </dgm:t>
    </dgm:pt>
    <dgm:pt modelId="{581C779C-D7C5-40F4-9C5E-01571C7E2A9F}" type="parTrans" cxnId="{8ECAF15E-A723-4ED2-BA63-30427824CE05}">
      <dgm:prSet/>
      <dgm:spPr/>
      <dgm:t>
        <a:bodyPr/>
        <a:lstStyle/>
        <a:p>
          <a:endParaRPr lang="en-US"/>
        </a:p>
      </dgm:t>
    </dgm:pt>
    <dgm:pt modelId="{BEAC6115-84E3-4B52-91CC-47FC25E175AC}" type="sibTrans" cxnId="{8ECAF15E-A723-4ED2-BA63-30427824CE05}">
      <dgm:prSet/>
      <dgm:spPr/>
      <dgm:t>
        <a:bodyPr/>
        <a:lstStyle/>
        <a:p>
          <a:endParaRPr lang="en-US"/>
        </a:p>
      </dgm:t>
    </dgm:pt>
    <dgm:pt modelId="{02EE5EA0-B73A-4BAA-8D74-F201CB54AA2A}">
      <dgm:prSet/>
      <dgm:spPr/>
      <dgm:t>
        <a:bodyPr/>
        <a:lstStyle/>
        <a:p>
          <a:r>
            <a:rPr lang="en-US" dirty="0"/>
            <a:t>Phase 3</a:t>
          </a:r>
        </a:p>
      </dgm:t>
    </dgm:pt>
    <dgm:pt modelId="{43B8D2BD-6B7B-4486-A7D2-C9493195AE50}" type="parTrans" cxnId="{656FBCF6-3549-4F9A-8B22-46E6300F81CB}">
      <dgm:prSet/>
      <dgm:spPr/>
      <dgm:t>
        <a:bodyPr/>
        <a:lstStyle/>
        <a:p>
          <a:endParaRPr lang="en-US"/>
        </a:p>
      </dgm:t>
    </dgm:pt>
    <dgm:pt modelId="{751D05DE-037C-422E-BC50-1761322102BB}" type="sibTrans" cxnId="{656FBCF6-3549-4F9A-8B22-46E6300F81CB}">
      <dgm:prSet/>
      <dgm:spPr/>
      <dgm:t>
        <a:bodyPr/>
        <a:lstStyle/>
        <a:p>
          <a:endParaRPr lang="en-US"/>
        </a:p>
      </dgm:t>
    </dgm:pt>
    <dgm:pt modelId="{10A85B08-85F1-4799-9B22-DF53BCB94A48}">
      <dgm:prSet/>
      <dgm:spPr/>
      <dgm:t>
        <a:bodyPr/>
        <a:lstStyle/>
        <a:p>
          <a:r>
            <a:rPr lang="en-US" dirty="0"/>
            <a:t>Settlement &amp; Resilience</a:t>
          </a:r>
        </a:p>
      </dgm:t>
    </dgm:pt>
    <dgm:pt modelId="{CD153F75-0D45-4D99-B9C1-677F8402DA11}" type="parTrans" cxnId="{C246FE1C-5A5E-462A-9086-2EBC266D3047}">
      <dgm:prSet/>
      <dgm:spPr/>
      <dgm:t>
        <a:bodyPr/>
        <a:lstStyle/>
        <a:p>
          <a:endParaRPr lang="en-US"/>
        </a:p>
      </dgm:t>
    </dgm:pt>
    <dgm:pt modelId="{E91E489F-4AE9-49DA-9D94-E1AA76C6EA3E}" type="sibTrans" cxnId="{C246FE1C-5A5E-462A-9086-2EBC266D3047}">
      <dgm:prSet/>
      <dgm:spPr/>
      <dgm:t>
        <a:bodyPr/>
        <a:lstStyle/>
        <a:p>
          <a:endParaRPr lang="en-US"/>
        </a:p>
      </dgm:t>
    </dgm:pt>
    <dgm:pt modelId="{17D29339-5C5D-4E80-A5FC-D638A7014249}">
      <dgm:prSet/>
      <dgm:spPr/>
      <dgm:t>
        <a:bodyPr/>
        <a:lstStyle/>
        <a:p>
          <a:r>
            <a:rPr lang="en-US" dirty="0"/>
            <a:t>Settlement Service:</a:t>
          </a:r>
        </a:p>
      </dgm:t>
    </dgm:pt>
    <dgm:pt modelId="{7D3BC516-FD86-41B4-A825-5B9D1D0417CE}" type="parTrans" cxnId="{DE287E5D-2784-4E52-A0C3-FD3CE1A580D7}">
      <dgm:prSet/>
      <dgm:spPr/>
      <dgm:t>
        <a:bodyPr/>
        <a:lstStyle/>
        <a:p>
          <a:endParaRPr lang="en-US"/>
        </a:p>
      </dgm:t>
    </dgm:pt>
    <dgm:pt modelId="{8942AF8C-6939-4847-9D09-E7FE48326DE7}" type="sibTrans" cxnId="{DE287E5D-2784-4E52-A0C3-FD3CE1A580D7}">
      <dgm:prSet/>
      <dgm:spPr/>
      <dgm:t>
        <a:bodyPr/>
        <a:lstStyle/>
        <a:p>
          <a:endParaRPr lang="en-US"/>
        </a:p>
      </dgm:t>
    </dgm:pt>
    <dgm:pt modelId="{1B87A3B3-4D92-4669-94BC-0C4DC58330D0}">
      <dgm:prSet/>
      <dgm:spPr/>
      <dgm:t>
        <a:bodyPr/>
        <a:lstStyle/>
        <a:p>
          <a:r>
            <a:rPr lang="en-US" dirty="0"/>
            <a:t>Connect to QLDB for DvP and SWIFT Gateway via AWS </a:t>
          </a:r>
          <a:r>
            <a:rPr lang="en-US" dirty="0" err="1"/>
            <a:t>PrivateLink</a:t>
          </a:r>
          <a:r>
            <a:rPr lang="en-US" dirty="0"/>
            <a:t>.</a:t>
          </a:r>
        </a:p>
      </dgm:t>
    </dgm:pt>
    <dgm:pt modelId="{50869B19-A834-409C-83DA-428902BE004A}" type="parTrans" cxnId="{AA5409C5-5001-4E7F-B05C-58BB2675772F}">
      <dgm:prSet/>
      <dgm:spPr/>
      <dgm:t>
        <a:bodyPr/>
        <a:lstStyle/>
        <a:p>
          <a:endParaRPr lang="en-US"/>
        </a:p>
      </dgm:t>
    </dgm:pt>
    <dgm:pt modelId="{EB8B0317-A67C-4C8A-93F5-BFC3E86CED68}" type="sibTrans" cxnId="{AA5409C5-5001-4E7F-B05C-58BB2675772F}">
      <dgm:prSet/>
      <dgm:spPr/>
      <dgm:t>
        <a:bodyPr/>
        <a:lstStyle/>
        <a:p>
          <a:endParaRPr lang="en-US"/>
        </a:p>
      </dgm:t>
    </dgm:pt>
    <dgm:pt modelId="{7B5BAE44-C232-43F3-9D5C-F6B337814051}">
      <dgm:prSet/>
      <dgm:spPr/>
      <dgm:t>
        <a:bodyPr/>
        <a:lstStyle/>
        <a:p>
          <a:r>
            <a:rPr lang="en-US" dirty="0"/>
            <a:t>Dead Letter Queue (DLQ):</a:t>
          </a:r>
        </a:p>
      </dgm:t>
    </dgm:pt>
    <dgm:pt modelId="{25D35642-3A44-460D-937B-9E98B769D10B}" type="parTrans" cxnId="{A5C91AD0-4A9A-48AD-8929-E303E67D9D5A}">
      <dgm:prSet/>
      <dgm:spPr/>
      <dgm:t>
        <a:bodyPr/>
        <a:lstStyle/>
        <a:p>
          <a:endParaRPr lang="en-US"/>
        </a:p>
      </dgm:t>
    </dgm:pt>
    <dgm:pt modelId="{A247D9F1-677A-497E-89B6-BA67C05B604B}" type="sibTrans" cxnId="{A5C91AD0-4A9A-48AD-8929-E303E67D9D5A}">
      <dgm:prSet/>
      <dgm:spPr/>
      <dgm:t>
        <a:bodyPr/>
        <a:lstStyle/>
        <a:p>
          <a:endParaRPr lang="en-US"/>
        </a:p>
      </dgm:t>
    </dgm:pt>
    <dgm:pt modelId="{913DE5B8-1C28-4805-9559-8734DAA44739}">
      <dgm:prSet/>
      <dgm:spPr/>
      <dgm:t>
        <a:bodyPr/>
        <a:lstStyle/>
        <a:p>
          <a:r>
            <a:rPr lang="en-US" dirty="0"/>
            <a:t>SQS + Lambda for retries.</a:t>
          </a:r>
        </a:p>
      </dgm:t>
    </dgm:pt>
    <dgm:pt modelId="{767F1CE2-F033-4B72-A3CC-159B032354B8}" type="parTrans" cxnId="{2F46D739-E83F-49A4-BB2B-9540B69A905A}">
      <dgm:prSet/>
      <dgm:spPr/>
      <dgm:t>
        <a:bodyPr/>
        <a:lstStyle/>
        <a:p>
          <a:endParaRPr lang="en-US"/>
        </a:p>
      </dgm:t>
    </dgm:pt>
    <dgm:pt modelId="{18120CFF-C2C7-48CF-8156-BB5279EA82C1}" type="sibTrans" cxnId="{2F46D739-E83F-49A4-BB2B-9540B69A905A}">
      <dgm:prSet/>
      <dgm:spPr/>
      <dgm:t>
        <a:bodyPr/>
        <a:lstStyle/>
        <a:p>
          <a:endParaRPr lang="en-US"/>
        </a:p>
      </dgm:t>
    </dgm:pt>
    <dgm:pt modelId="{3854EE72-B92D-4736-8954-6339E8E1638C}">
      <dgm:prSet/>
      <dgm:spPr/>
      <dgm:t>
        <a:bodyPr/>
        <a:lstStyle/>
        <a:p>
          <a:r>
            <a:rPr lang="en-US" dirty="0"/>
            <a:t>Monitoring:</a:t>
          </a:r>
        </a:p>
      </dgm:t>
    </dgm:pt>
    <dgm:pt modelId="{74DDDFCD-242D-4788-B493-D611966F89E9}" type="parTrans" cxnId="{6D254C16-8359-43D4-9D9F-68EB4491223E}">
      <dgm:prSet/>
      <dgm:spPr/>
      <dgm:t>
        <a:bodyPr/>
        <a:lstStyle/>
        <a:p>
          <a:endParaRPr lang="en-US"/>
        </a:p>
      </dgm:t>
    </dgm:pt>
    <dgm:pt modelId="{BB0DFB5A-3E6F-4123-9FAC-C499138B15F6}" type="sibTrans" cxnId="{6D254C16-8359-43D4-9D9F-68EB4491223E}">
      <dgm:prSet/>
      <dgm:spPr/>
      <dgm:t>
        <a:bodyPr/>
        <a:lstStyle/>
        <a:p>
          <a:endParaRPr lang="en-US"/>
        </a:p>
      </dgm:t>
    </dgm:pt>
    <dgm:pt modelId="{3644A13A-45E6-4A37-9F95-0893B1A4868A}">
      <dgm:prSet/>
      <dgm:spPr/>
      <dgm:t>
        <a:bodyPr/>
        <a:lstStyle/>
        <a:p>
          <a:r>
            <a:rPr lang="en-US" dirty="0"/>
            <a:t>CloudWatch for latency metrics.</a:t>
          </a:r>
        </a:p>
      </dgm:t>
    </dgm:pt>
    <dgm:pt modelId="{F0826CEC-5301-400B-A4CC-433A0CDF407D}" type="parTrans" cxnId="{57DDAEB0-F32F-4993-8EA4-9D9443B122A5}">
      <dgm:prSet/>
      <dgm:spPr/>
      <dgm:t>
        <a:bodyPr/>
        <a:lstStyle/>
        <a:p>
          <a:endParaRPr lang="en-US"/>
        </a:p>
      </dgm:t>
    </dgm:pt>
    <dgm:pt modelId="{0711DBC4-28EC-4061-A555-F563ACB7CC2D}" type="sibTrans" cxnId="{57DDAEB0-F32F-4993-8EA4-9D9443B122A5}">
      <dgm:prSet/>
      <dgm:spPr/>
      <dgm:t>
        <a:bodyPr/>
        <a:lstStyle/>
        <a:p>
          <a:endParaRPr lang="en-US"/>
        </a:p>
      </dgm:t>
    </dgm:pt>
    <dgm:pt modelId="{181DE2E0-3BC0-488E-B564-1FBECDE0F609}">
      <dgm:prSet/>
      <dgm:spPr/>
      <dgm:t>
        <a:bodyPr/>
        <a:lstStyle/>
        <a:p>
          <a:r>
            <a:rPr lang="en-US" dirty="0"/>
            <a:t>X-Ray for tracing.</a:t>
          </a:r>
        </a:p>
      </dgm:t>
    </dgm:pt>
    <dgm:pt modelId="{0E8B9339-6D44-4A06-80EA-8B6845627728}" type="parTrans" cxnId="{42E6ADB2-1521-4AC3-9D7C-C37C8C716FED}">
      <dgm:prSet/>
      <dgm:spPr/>
      <dgm:t>
        <a:bodyPr/>
        <a:lstStyle/>
        <a:p>
          <a:endParaRPr lang="en-US"/>
        </a:p>
      </dgm:t>
    </dgm:pt>
    <dgm:pt modelId="{A79C6937-6F1D-4519-9F4C-3882DFC087C1}" type="sibTrans" cxnId="{42E6ADB2-1521-4AC3-9D7C-C37C8C716FED}">
      <dgm:prSet/>
      <dgm:spPr/>
      <dgm:t>
        <a:bodyPr/>
        <a:lstStyle/>
        <a:p>
          <a:endParaRPr lang="en-US"/>
        </a:p>
      </dgm:t>
    </dgm:pt>
    <dgm:pt modelId="{86EF4862-E1D9-4205-B8AD-7D0DB1532A68}" type="pres">
      <dgm:prSet presAssocID="{8A3E45FC-DCE7-4F46-806A-60923C3BEC0B}" presName="Name0" presStyleCnt="0">
        <dgm:presLayoutVars>
          <dgm:dir/>
          <dgm:animLvl val="lvl"/>
          <dgm:resizeHandles val="exact"/>
        </dgm:presLayoutVars>
      </dgm:prSet>
      <dgm:spPr/>
    </dgm:pt>
    <dgm:pt modelId="{54B53FFB-9678-46EE-BE16-78ADC27C93A7}" type="pres">
      <dgm:prSet presAssocID="{18FE52E5-00DD-4009-AC7F-9EBD18BBD981}" presName="composite" presStyleCnt="0"/>
      <dgm:spPr/>
    </dgm:pt>
    <dgm:pt modelId="{6D8BF046-1286-4640-9E5D-76D630BA86E4}" type="pres">
      <dgm:prSet presAssocID="{18FE52E5-00DD-4009-AC7F-9EBD18BBD981}" presName="parTx" presStyleLbl="alignNode1" presStyleIdx="0" presStyleCnt="3">
        <dgm:presLayoutVars>
          <dgm:chMax val="0"/>
          <dgm:chPref val="0"/>
        </dgm:presLayoutVars>
      </dgm:prSet>
      <dgm:spPr/>
    </dgm:pt>
    <dgm:pt modelId="{9D488D20-4215-42CC-808A-67E6C864F2AD}" type="pres">
      <dgm:prSet presAssocID="{18FE52E5-00DD-4009-AC7F-9EBD18BBD981}" presName="desTx" presStyleLbl="alignAccFollowNode1" presStyleIdx="0" presStyleCnt="3">
        <dgm:presLayoutVars/>
      </dgm:prSet>
      <dgm:spPr/>
    </dgm:pt>
    <dgm:pt modelId="{41C6CA44-A1AE-4861-A181-6D5A2EB0E2F1}" type="pres">
      <dgm:prSet presAssocID="{ECB764E0-2CC1-439B-AB7D-F1919EAAE32A}" presName="space" presStyleCnt="0"/>
      <dgm:spPr/>
    </dgm:pt>
    <dgm:pt modelId="{0D543846-A3C2-4ABF-A1A1-3AA8C0C944B0}" type="pres">
      <dgm:prSet presAssocID="{936D25E5-8926-4053-B01E-41A3B354BC2D}" presName="composite" presStyleCnt="0"/>
      <dgm:spPr/>
    </dgm:pt>
    <dgm:pt modelId="{34C49DD0-BD3A-41E7-B25F-68D97899F4F6}" type="pres">
      <dgm:prSet presAssocID="{936D25E5-8926-4053-B01E-41A3B354BC2D}" presName="parTx" presStyleLbl="alignNode1" presStyleIdx="1" presStyleCnt="3">
        <dgm:presLayoutVars>
          <dgm:chMax val="0"/>
          <dgm:chPref val="0"/>
        </dgm:presLayoutVars>
      </dgm:prSet>
      <dgm:spPr/>
    </dgm:pt>
    <dgm:pt modelId="{054F9502-EB51-4AC7-B4EF-25F70DC38F3C}" type="pres">
      <dgm:prSet presAssocID="{936D25E5-8926-4053-B01E-41A3B354BC2D}" presName="desTx" presStyleLbl="alignAccFollowNode1" presStyleIdx="1" presStyleCnt="3">
        <dgm:presLayoutVars/>
      </dgm:prSet>
      <dgm:spPr/>
    </dgm:pt>
    <dgm:pt modelId="{B2165FDC-E815-4795-ADA3-719DCB5514B1}" type="pres">
      <dgm:prSet presAssocID="{B398D7ED-FEB5-4B40-8F97-3D5C8C418E8C}" presName="space" presStyleCnt="0"/>
      <dgm:spPr/>
    </dgm:pt>
    <dgm:pt modelId="{817901C4-5784-468C-B2F4-18C2D4AF1B72}" type="pres">
      <dgm:prSet presAssocID="{02EE5EA0-B73A-4BAA-8D74-F201CB54AA2A}" presName="composite" presStyleCnt="0"/>
      <dgm:spPr/>
    </dgm:pt>
    <dgm:pt modelId="{A509907C-BFE0-4F10-8C99-25CA61A7155D}" type="pres">
      <dgm:prSet presAssocID="{02EE5EA0-B73A-4BAA-8D74-F201CB54AA2A}" presName="parTx" presStyleLbl="alignNode1" presStyleIdx="2" presStyleCnt="3">
        <dgm:presLayoutVars>
          <dgm:chMax val="0"/>
          <dgm:chPref val="0"/>
        </dgm:presLayoutVars>
      </dgm:prSet>
      <dgm:spPr/>
    </dgm:pt>
    <dgm:pt modelId="{2A3BC982-FDA7-40D4-AE2B-CD3536311CE3}" type="pres">
      <dgm:prSet presAssocID="{02EE5EA0-B73A-4BAA-8D74-F201CB54AA2A}" presName="desTx" presStyleLbl="alignAccFollowNode1" presStyleIdx="2" presStyleCnt="3">
        <dgm:presLayoutVars/>
      </dgm:prSet>
      <dgm:spPr/>
    </dgm:pt>
  </dgm:ptLst>
  <dgm:cxnLst>
    <dgm:cxn modelId="{505E0808-62A2-4CAE-B6F0-00BA887BDE91}" type="presOf" srcId="{BAA3DA47-F751-499B-93C7-EDE61D958E5D}" destId="{9D488D20-4215-42CC-808A-67E6C864F2AD}" srcOrd="0" destOrd="2" presId="urn:microsoft.com/office/officeart/2016/7/layout/ChevronBlockProcess"/>
    <dgm:cxn modelId="{4EAE8709-7384-4F6A-BD04-A4346ADEA1D6}" type="presOf" srcId="{913DE5B8-1C28-4805-9559-8734DAA44739}" destId="{2A3BC982-FDA7-40D4-AE2B-CD3536311CE3}" srcOrd="0" destOrd="4" presId="urn:microsoft.com/office/officeart/2016/7/layout/ChevronBlockProcess"/>
    <dgm:cxn modelId="{DFEDA40D-53D9-4565-A2BC-A8487B2DB7E5}" srcId="{9BAA5E96-E563-434D-B093-8BDA12C0C4CA}" destId="{69D00457-5755-4B9B-9AA9-7EEDEB3E12C9}" srcOrd="3" destOrd="0" parTransId="{3233284E-3D8B-4A71-A8B6-4D0167998438}" sibTransId="{D2529D41-5419-40E8-BF2A-B6B4189A2FB1}"/>
    <dgm:cxn modelId="{58D46D13-4E76-4A89-B21F-242AFB7AE4F6}" srcId="{8A3E45FC-DCE7-4F46-806A-60923C3BEC0B}" destId="{936D25E5-8926-4053-B01E-41A3B354BC2D}" srcOrd="1" destOrd="0" parTransId="{E86B3C48-7A0F-481D-92ED-0D452662AD36}" sibTransId="{B398D7ED-FEB5-4B40-8F97-3D5C8C418E8C}"/>
    <dgm:cxn modelId="{BB6F4414-56D1-482A-95BB-B0F8BED3CD23}" type="presOf" srcId="{31E7618B-F212-4E15-A328-A372FBDAAC52}" destId="{9D488D20-4215-42CC-808A-67E6C864F2AD}" srcOrd="0" destOrd="5" presId="urn:microsoft.com/office/officeart/2016/7/layout/ChevronBlockProcess"/>
    <dgm:cxn modelId="{6D254C16-8359-43D4-9D9F-68EB4491223E}" srcId="{10A85B08-85F1-4799-9B22-DF53BCB94A48}" destId="{3854EE72-B92D-4736-8954-6339E8E1638C}" srcOrd="4" destOrd="0" parTransId="{74DDDFCD-242D-4788-B493-D611966F89E9}" sibTransId="{BB0DFB5A-3E6F-4123-9FAC-C499138B15F6}"/>
    <dgm:cxn modelId="{867FA71B-5874-4213-970B-E863F05AAB08}" type="presOf" srcId="{9BAA5E96-E563-434D-B093-8BDA12C0C4CA}" destId="{9D488D20-4215-42CC-808A-67E6C864F2AD}" srcOrd="0" destOrd="0" presId="urn:microsoft.com/office/officeart/2016/7/layout/ChevronBlockProcess"/>
    <dgm:cxn modelId="{C246FE1C-5A5E-462A-9086-2EBC266D3047}" srcId="{02EE5EA0-B73A-4BAA-8D74-F201CB54AA2A}" destId="{10A85B08-85F1-4799-9B22-DF53BCB94A48}" srcOrd="0" destOrd="0" parTransId="{CD153F75-0D45-4D99-B9C1-677F8402DA11}" sibTransId="{E91E489F-4AE9-49DA-9D94-E1AA76C6EA3E}"/>
    <dgm:cxn modelId="{2F46D739-E83F-49A4-BB2B-9540B69A905A}" srcId="{10A85B08-85F1-4799-9B22-DF53BCB94A48}" destId="{913DE5B8-1C28-4805-9559-8734DAA44739}" srcOrd="3" destOrd="0" parTransId="{767F1CE2-F033-4B72-A3CC-159B032354B8}" sibTransId="{18120CFF-C2C7-48CF-8156-BB5279EA82C1}"/>
    <dgm:cxn modelId="{D015C53A-1343-4D88-82C6-A33550414EE4}" srcId="{936D25E5-8926-4053-B01E-41A3B354BC2D}" destId="{396E9181-6C4B-4C08-B66A-D72C75C0034A}" srcOrd="1" destOrd="0" parTransId="{E5EF3531-9C19-4B69-90EE-8903ADED98FC}" sibTransId="{13819D6A-6E00-4F60-9F4F-FF80A863CD13}"/>
    <dgm:cxn modelId="{DE287E5D-2784-4E52-A0C3-FD3CE1A580D7}" srcId="{10A85B08-85F1-4799-9B22-DF53BCB94A48}" destId="{17D29339-5C5D-4E80-A5FC-D638A7014249}" srcOrd="0" destOrd="0" parTransId="{7D3BC516-FD86-41B4-A825-5B9D1D0417CE}" sibTransId="{8942AF8C-6939-4847-9D09-E7FE48326DE7}"/>
    <dgm:cxn modelId="{8ECAF15E-A723-4ED2-BA63-30427824CE05}" srcId="{936D25E5-8926-4053-B01E-41A3B354BC2D}" destId="{0CA39E54-F6FD-440C-8C13-5575FD33B279}" srcOrd="2" destOrd="0" parTransId="{581C779C-D7C5-40F4-9C5E-01571C7E2A9F}" sibTransId="{BEAC6115-84E3-4B52-91CC-47FC25E175AC}"/>
    <dgm:cxn modelId="{EF33BE42-4CD0-4831-9028-433A7D15AD64}" srcId="{9BAA5E96-E563-434D-B093-8BDA12C0C4CA}" destId="{9E286F48-E627-47B8-96F0-BECFE5055A35}" srcOrd="5" destOrd="0" parTransId="{D7239E74-1730-43ED-9935-545DC0135811}" sibTransId="{27458E7E-2E36-48D1-9583-D903BF59F263}"/>
    <dgm:cxn modelId="{11F1B14B-0943-427B-8C59-7BE3B9C11D5F}" type="presOf" srcId="{18FE52E5-00DD-4009-AC7F-9EBD18BBD981}" destId="{6D8BF046-1286-4640-9E5D-76D630BA86E4}" srcOrd="0" destOrd="0" presId="urn:microsoft.com/office/officeart/2016/7/layout/ChevronBlockProcess"/>
    <dgm:cxn modelId="{558C2F4D-3F96-4EB9-8384-2CA268B11A8F}" srcId="{9BAA5E96-E563-434D-B093-8BDA12C0C4CA}" destId="{3A9F605E-032B-4AFE-972F-BC5D762C0A2D}" srcOrd="0" destOrd="0" parTransId="{676E8224-1CD2-4E99-B6D3-98DA563571A7}" sibTransId="{868C1F90-47CE-485D-8814-B95D10C6BE86}"/>
    <dgm:cxn modelId="{8C0B816D-BA62-440C-9912-BCCB202B6A5F}" type="presOf" srcId="{0CA39E54-F6FD-440C-8C13-5575FD33B279}" destId="{054F9502-EB51-4AC7-B4EF-25F70DC38F3C}" srcOrd="0" destOrd="3" presId="urn:microsoft.com/office/officeart/2016/7/layout/ChevronBlockProcess"/>
    <dgm:cxn modelId="{7775594E-0364-4EB5-9D52-9E91116F9A66}" type="presOf" srcId="{9E286F48-E627-47B8-96F0-BECFE5055A35}" destId="{9D488D20-4215-42CC-808A-67E6C864F2AD}" srcOrd="0" destOrd="6" presId="urn:microsoft.com/office/officeart/2016/7/layout/ChevronBlockProcess"/>
    <dgm:cxn modelId="{1DE61350-4953-4524-AE91-1A9FC6E84AB7}" type="presOf" srcId="{936D25E5-8926-4053-B01E-41A3B354BC2D}" destId="{34C49DD0-BD3A-41E7-B25F-68D97899F4F6}" srcOrd="0" destOrd="0" presId="urn:microsoft.com/office/officeart/2016/7/layout/ChevronBlockProcess"/>
    <dgm:cxn modelId="{4A0C2752-FC74-436A-9A74-2E71B1ACEB7B}" type="presOf" srcId="{89736728-B4F4-472B-AB0B-087E72A38C52}" destId="{9D488D20-4215-42CC-808A-67E6C864F2AD}" srcOrd="0" destOrd="3" presId="urn:microsoft.com/office/officeart/2016/7/layout/ChevronBlockProcess"/>
    <dgm:cxn modelId="{9154A758-66B6-4092-91ED-29763B55D743}" type="presOf" srcId="{17D29339-5C5D-4E80-A5FC-D638A7014249}" destId="{2A3BC982-FDA7-40D4-AE2B-CD3536311CE3}" srcOrd="0" destOrd="1" presId="urn:microsoft.com/office/officeart/2016/7/layout/ChevronBlockProcess"/>
    <dgm:cxn modelId="{D079805A-82BF-44B9-AE63-067E078EC84C}" srcId="{9BAA5E96-E563-434D-B093-8BDA12C0C4CA}" destId="{18A80B5C-6128-4682-9CE5-AC03A88FB729}" srcOrd="6" destOrd="0" parTransId="{4448BE7A-C7FC-4E2C-9DF2-D303A8EBBE2A}" sibTransId="{03A1C53D-C557-4353-811B-1D24537008E4}"/>
    <dgm:cxn modelId="{5A50877A-F44C-4B61-8A48-053EBDE8FD57}" type="presOf" srcId="{10A85B08-85F1-4799-9B22-DF53BCB94A48}" destId="{2A3BC982-FDA7-40D4-AE2B-CD3536311CE3}" srcOrd="0" destOrd="0" presId="urn:microsoft.com/office/officeart/2016/7/layout/ChevronBlockProcess"/>
    <dgm:cxn modelId="{1B56967B-8C13-4EA1-BD86-A135D1D29066}" type="presOf" srcId="{02EE5EA0-B73A-4BAA-8D74-F201CB54AA2A}" destId="{A509907C-BFE0-4F10-8C99-25CA61A7155D}" srcOrd="0" destOrd="0" presId="urn:microsoft.com/office/officeart/2016/7/layout/ChevronBlockProcess"/>
    <dgm:cxn modelId="{CD9F9082-5F0B-424A-9A8A-44B08CDD9EF9}" type="presOf" srcId="{5B59DD42-0749-407E-B7B5-927A2EDB53DC}" destId="{054F9502-EB51-4AC7-B4EF-25F70DC38F3C}" srcOrd="0" destOrd="1" presId="urn:microsoft.com/office/officeart/2016/7/layout/ChevronBlockProcess"/>
    <dgm:cxn modelId="{CC706B83-830D-46E8-A485-0124B5F1C0E2}" type="presOf" srcId="{396E9181-6C4B-4C08-B66A-D72C75C0034A}" destId="{054F9502-EB51-4AC7-B4EF-25F70DC38F3C}" srcOrd="0" destOrd="2" presId="urn:microsoft.com/office/officeart/2016/7/layout/ChevronBlockProcess"/>
    <dgm:cxn modelId="{B7EF1C91-1D0B-4E96-833B-F00F4794EED1}" type="presOf" srcId="{3644A13A-45E6-4A37-9F95-0893B1A4868A}" destId="{2A3BC982-FDA7-40D4-AE2B-CD3536311CE3}" srcOrd="0" destOrd="6" presId="urn:microsoft.com/office/officeart/2016/7/layout/ChevronBlockProcess"/>
    <dgm:cxn modelId="{63EA4E92-E142-4C0F-A557-F71B8382A770}" type="presOf" srcId="{3A9F605E-032B-4AFE-972F-BC5D762C0A2D}" destId="{9D488D20-4215-42CC-808A-67E6C864F2AD}" srcOrd="0" destOrd="1" presId="urn:microsoft.com/office/officeart/2016/7/layout/ChevronBlockProcess"/>
    <dgm:cxn modelId="{E05F6D93-B030-428F-B347-D86AE352024B}" type="presOf" srcId="{7B5BAE44-C232-43F3-9D5C-F6B337814051}" destId="{2A3BC982-FDA7-40D4-AE2B-CD3536311CE3}" srcOrd="0" destOrd="3" presId="urn:microsoft.com/office/officeart/2016/7/layout/ChevronBlockProcess"/>
    <dgm:cxn modelId="{03AEBE94-AD26-46A4-AFAB-3E6BEAB2F6DB}" srcId="{18FE52E5-00DD-4009-AC7F-9EBD18BBD981}" destId="{9BAA5E96-E563-434D-B093-8BDA12C0C4CA}" srcOrd="0" destOrd="0" parTransId="{80BE1FA6-43DB-4684-9610-E3C3A442C227}" sibTransId="{787B7B5D-8F74-49A6-8589-849949A8765C}"/>
    <dgm:cxn modelId="{EB270D96-7034-41A9-87D1-5910E8AF9286}" type="presOf" srcId="{181DE2E0-3BC0-488E-B564-1FBECDE0F609}" destId="{2A3BC982-FDA7-40D4-AE2B-CD3536311CE3}" srcOrd="0" destOrd="7" presId="urn:microsoft.com/office/officeart/2016/7/layout/ChevronBlockProcess"/>
    <dgm:cxn modelId="{9BE64797-335B-4039-9038-1D5FA0FA468D}" type="presOf" srcId="{9C115252-72FA-421E-BF99-25EA3A857AF7}" destId="{054F9502-EB51-4AC7-B4EF-25F70DC38F3C}" srcOrd="0" destOrd="0" presId="urn:microsoft.com/office/officeart/2016/7/layout/ChevronBlockProcess"/>
    <dgm:cxn modelId="{42A95899-E021-41B9-B34B-77E95285BFD4}" type="presOf" srcId="{1B87A3B3-4D92-4669-94BC-0C4DC58330D0}" destId="{2A3BC982-FDA7-40D4-AE2B-CD3536311CE3}" srcOrd="0" destOrd="2" presId="urn:microsoft.com/office/officeart/2016/7/layout/ChevronBlockProcess"/>
    <dgm:cxn modelId="{57DDAEB0-F32F-4993-8EA4-9D9443B122A5}" srcId="{10A85B08-85F1-4799-9B22-DF53BCB94A48}" destId="{3644A13A-45E6-4A37-9F95-0893B1A4868A}" srcOrd="5" destOrd="0" parTransId="{F0826CEC-5301-400B-A4CC-433A0CDF407D}" sibTransId="{0711DBC4-28EC-4061-A555-F563ACB7CC2D}"/>
    <dgm:cxn modelId="{42E6ADB2-1521-4AC3-9D7C-C37C8C716FED}" srcId="{10A85B08-85F1-4799-9B22-DF53BCB94A48}" destId="{181DE2E0-3BC0-488E-B564-1FBECDE0F609}" srcOrd="6" destOrd="0" parTransId="{0E8B9339-6D44-4A06-80EA-8B6845627728}" sibTransId="{A79C6937-6F1D-4519-9F4C-3882DFC087C1}"/>
    <dgm:cxn modelId="{292939B3-0FE2-4129-927A-7CC61BD39A8C}" type="presOf" srcId="{3854EE72-B92D-4736-8954-6339E8E1638C}" destId="{2A3BC982-FDA7-40D4-AE2B-CD3536311CE3}" srcOrd="0" destOrd="5" presId="urn:microsoft.com/office/officeart/2016/7/layout/ChevronBlockProcess"/>
    <dgm:cxn modelId="{F38D45B3-955F-4D20-AA5B-730324B67F72}" type="presOf" srcId="{8A3E45FC-DCE7-4F46-806A-60923C3BEC0B}" destId="{86EF4862-E1D9-4205-B8AD-7D0DB1532A68}" srcOrd="0" destOrd="0" presId="urn:microsoft.com/office/officeart/2016/7/layout/ChevronBlockProcess"/>
    <dgm:cxn modelId="{E9EC88C3-55CC-4838-9288-88896671DC6B}" srcId="{9BAA5E96-E563-434D-B093-8BDA12C0C4CA}" destId="{BAA3DA47-F751-499B-93C7-EDE61D958E5D}" srcOrd="1" destOrd="0" parTransId="{9956848C-722E-4E32-9DEC-C31BD60513B7}" sibTransId="{2C4AC016-E66C-4EAE-921A-63B0D098075E}"/>
    <dgm:cxn modelId="{AA5409C5-5001-4E7F-B05C-58BB2675772F}" srcId="{10A85B08-85F1-4799-9B22-DF53BCB94A48}" destId="{1B87A3B3-4D92-4669-94BC-0C4DC58330D0}" srcOrd="1" destOrd="0" parTransId="{50869B19-A834-409C-83DA-428902BE004A}" sibTransId="{EB8B0317-A67C-4C8A-93F5-BFC3E86CED68}"/>
    <dgm:cxn modelId="{B0EE92CC-4F2F-4699-AF45-2EBCE09AAE33}" srcId="{936D25E5-8926-4053-B01E-41A3B354BC2D}" destId="{9C115252-72FA-421E-BF99-25EA3A857AF7}" srcOrd="0" destOrd="0" parTransId="{2C854CE1-7995-45DD-A4D6-5676C9566F3E}" sibTransId="{E5DB0DF7-4E75-4F83-9F79-C8170097C8B1}"/>
    <dgm:cxn modelId="{A5C91AD0-4A9A-48AD-8929-E303E67D9D5A}" srcId="{10A85B08-85F1-4799-9B22-DF53BCB94A48}" destId="{7B5BAE44-C232-43F3-9D5C-F6B337814051}" srcOrd="2" destOrd="0" parTransId="{25D35642-3A44-460D-937B-9E98B769D10B}" sibTransId="{A247D9F1-677A-497E-89B6-BA67C05B604B}"/>
    <dgm:cxn modelId="{5BA610D2-0DF9-4D4F-B4E8-9611C85D59F0}" srcId="{9BAA5E96-E563-434D-B093-8BDA12C0C4CA}" destId="{31E7618B-F212-4E15-A328-A372FBDAAC52}" srcOrd="4" destOrd="0" parTransId="{452F42DF-D88D-41D9-A689-EA81C943B927}" sibTransId="{E939EA1C-9AFD-461C-B1B0-4A2A5CAF7A2D}"/>
    <dgm:cxn modelId="{E23197D5-609E-4404-8EE5-E43631FD17A4}" type="presOf" srcId="{18A80B5C-6128-4682-9CE5-AC03A88FB729}" destId="{9D488D20-4215-42CC-808A-67E6C864F2AD}" srcOrd="0" destOrd="7" presId="urn:microsoft.com/office/officeart/2016/7/layout/ChevronBlockProcess"/>
    <dgm:cxn modelId="{EF8DAEE1-5FE6-4777-9A03-498307FBCE36}" type="presOf" srcId="{69D00457-5755-4B9B-9AA9-7EEDEB3E12C9}" destId="{9D488D20-4215-42CC-808A-67E6C864F2AD}" srcOrd="0" destOrd="4" presId="urn:microsoft.com/office/officeart/2016/7/layout/ChevronBlockProcess"/>
    <dgm:cxn modelId="{D2EB7DE4-8813-4819-B1D6-F0E1D8B99FBB}" srcId="{9BAA5E96-E563-434D-B093-8BDA12C0C4CA}" destId="{89736728-B4F4-472B-AB0B-087E72A38C52}" srcOrd="2" destOrd="0" parTransId="{B98EEBDE-E4E3-48E2-BDA2-EACC93B03F1A}" sibTransId="{2C5F1677-33D5-4A8A-BC2B-49184A34B1FC}"/>
    <dgm:cxn modelId="{656FBCF6-3549-4F9A-8B22-46E6300F81CB}" srcId="{8A3E45FC-DCE7-4F46-806A-60923C3BEC0B}" destId="{02EE5EA0-B73A-4BAA-8D74-F201CB54AA2A}" srcOrd="2" destOrd="0" parTransId="{43B8D2BD-6B7B-4486-A7D2-C9493195AE50}" sibTransId="{751D05DE-037C-422E-BC50-1761322102BB}"/>
    <dgm:cxn modelId="{81EA16FA-3CAE-4A13-B46B-12C6237591E8}" srcId="{9C115252-72FA-421E-BF99-25EA3A857AF7}" destId="{5B59DD42-0749-407E-B7B5-927A2EDB53DC}" srcOrd="0" destOrd="0" parTransId="{EC3EF578-14D2-4E58-BB5D-C61089E809C5}" sibTransId="{8084DCAE-1657-47F0-8343-84E412664AB9}"/>
    <dgm:cxn modelId="{0EF0E8FC-ECD5-48A3-9790-624B0BC902E0}" srcId="{8A3E45FC-DCE7-4F46-806A-60923C3BEC0B}" destId="{18FE52E5-00DD-4009-AC7F-9EBD18BBD981}" srcOrd="0" destOrd="0" parTransId="{1B6CD456-33C8-4B59-9EBF-BEB0B5FC8714}" sibTransId="{ECB764E0-2CC1-439B-AB7D-F1919EAAE32A}"/>
    <dgm:cxn modelId="{2CE511EB-B663-49D8-8C4C-A089B308648A}" type="presParOf" srcId="{86EF4862-E1D9-4205-B8AD-7D0DB1532A68}" destId="{54B53FFB-9678-46EE-BE16-78ADC27C93A7}" srcOrd="0" destOrd="0" presId="urn:microsoft.com/office/officeart/2016/7/layout/ChevronBlockProcess"/>
    <dgm:cxn modelId="{933BFD9B-0F5F-4E0D-94A3-394CB3E9614B}" type="presParOf" srcId="{54B53FFB-9678-46EE-BE16-78ADC27C93A7}" destId="{6D8BF046-1286-4640-9E5D-76D630BA86E4}" srcOrd="0" destOrd="0" presId="urn:microsoft.com/office/officeart/2016/7/layout/ChevronBlockProcess"/>
    <dgm:cxn modelId="{E84DE485-0F8C-4E76-8E35-C671B0C58AEA}" type="presParOf" srcId="{54B53FFB-9678-46EE-BE16-78ADC27C93A7}" destId="{9D488D20-4215-42CC-808A-67E6C864F2AD}" srcOrd="1" destOrd="0" presId="urn:microsoft.com/office/officeart/2016/7/layout/ChevronBlockProcess"/>
    <dgm:cxn modelId="{2D3CBE85-D976-4A07-AC3A-307E663A2309}" type="presParOf" srcId="{86EF4862-E1D9-4205-B8AD-7D0DB1532A68}" destId="{41C6CA44-A1AE-4861-A181-6D5A2EB0E2F1}" srcOrd="1" destOrd="0" presId="urn:microsoft.com/office/officeart/2016/7/layout/ChevronBlockProcess"/>
    <dgm:cxn modelId="{ADA79A98-6123-4932-AFD1-8B579B0E4630}" type="presParOf" srcId="{86EF4862-E1D9-4205-B8AD-7D0DB1532A68}" destId="{0D543846-A3C2-4ABF-A1A1-3AA8C0C944B0}" srcOrd="2" destOrd="0" presId="urn:microsoft.com/office/officeart/2016/7/layout/ChevronBlockProcess"/>
    <dgm:cxn modelId="{3DBC4E66-DB47-45A5-820A-11E23B997D84}" type="presParOf" srcId="{0D543846-A3C2-4ABF-A1A1-3AA8C0C944B0}" destId="{34C49DD0-BD3A-41E7-B25F-68D97899F4F6}" srcOrd="0" destOrd="0" presId="urn:microsoft.com/office/officeart/2016/7/layout/ChevronBlockProcess"/>
    <dgm:cxn modelId="{46237B81-A5AB-4453-B5A6-38F267D411F4}" type="presParOf" srcId="{0D543846-A3C2-4ABF-A1A1-3AA8C0C944B0}" destId="{054F9502-EB51-4AC7-B4EF-25F70DC38F3C}" srcOrd="1" destOrd="0" presId="urn:microsoft.com/office/officeart/2016/7/layout/ChevronBlockProcess"/>
    <dgm:cxn modelId="{660F9A55-0BB2-4710-AD26-A00BE3C98AC7}" type="presParOf" srcId="{86EF4862-E1D9-4205-B8AD-7D0DB1532A68}" destId="{B2165FDC-E815-4795-ADA3-719DCB5514B1}" srcOrd="3" destOrd="0" presId="urn:microsoft.com/office/officeart/2016/7/layout/ChevronBlockProcess"/>
    <dgm:cxn modelId="{0025775B-3889-4C81-AA63-3E6CEAB67C8A}" type="presParOf" srcId="{86EF4862-E1D9-4205-B8AD-7D0DB1532A68}" destId="{817901C4-5784-468C-B2F4-18C2D4AF1B72}" srcOrd="4" destOrd="0" presId="urn:microsoft.com/office/officeart/2016/7/layout/ChevronBlockProcess"/>
    <dgm:cxn modelId="{2EA8F09B-3719-4FF9-828A-E4C62514A9B3}" type="presParOf" srcId="{817901C4-5784-468C-B2F4-18C2D4AF1B72}" destId="{A509907C-BFE0-4F10-8C99-25CA61A7155D}" srcOrd="0" destOrd="0" presId="urn:microsoft.com/office/officeart/2016/7/layout/ChevronBlockProcess"/>
    <dgm:cxn modelId="{6A0456E7-DF74-4960-AE17-2A4183B75266}" type="presParOf" srcId="{817901C4-5784-468C-B2F4-18C2D4AF1B72}" destId="{2A3BC982-FDA7-40D4-AE2B-CD3536311CE3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188FE2-D2E7-4AAF-AE04-E32154A31533}" type="doc">
      <dgm:prSet loTypeId="urn:microsoft.com/office/officeart/2005/8/layout/cycle5" loCatId="cycle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6185E3D-A493-4603-88FA-4D34324F13E2}">
      <dgm:prSet/>
      <dgm:spPr/>
      <dgm:t>
        <a:bodyPr/>
        <a:lstStyle/>
        <a:p>
          <a:r>
            <a:rPr lang="en-US" b="1"/>
            <a:t>Key Metrics</a:t>
          </a:r>
          <a:r>
            <a:rPr lang="en-US"/>
            <a:t>:</a:t>
          </a:r>
        </a:p>
      </dgm:t>
    </dgm:pt>
    <dgm:pt modelId="{DB6A824F-BFC7-4322-9308-5540618A5038}" type="parTrans" cxnId="{A29FCF1A-EE67-406F-BBB2-C5EB278F9D54}">
      <dgm:prSet/>
      <dgm:spPr/>
      <dgm:t>
        <a:bodyPr/>
        <a:lstStyle/>
        <a:p>
          <a:endParaRPr lang="en-US"/>
        </a:p>
      </dgm:t>
    </dgm:pt>
    <dgm:pt modelId="{991D0A7E-EEE8-4DBA-9876-52535926D269}" type="sibTrans" cxnId="{A29FCF1A-EE67-406F-BBB2-C5EB278F9D54}">
      <dgm:prSet/>
      <dgm:spPr/>
      <dgm:t>
        <a:bodyPr/>
        <a:lstStyle/>
        <a:p>
          <a:endParaRPr lang="en-US"/>
        </a:p>
      </dgm:t>
    </dgm:pt>
    <dgm:pt modelId="{8A0BE1A3-EEAA-4D18-9863-379FFB147613}">
      <dgm:prSet/>
      <dgm:spPr/>
      <dgm:t>
        <a:bodyPr/>
        <a:lstStyle/>
        <a:p>
          <a:r>
            <a:rPr lang="en-US" b="1"/>
            <a:t>Trade Ingestion</a:t>
          </a:r>
          <a:r>
            <a:rPr lang="en-US"/>
            <a:t>: &lt;50ms (MSK with enhanced fan-out).</a:t>
          </a:r>
        </a:p>
      </dgm:t>
    </dgm:pt>
    <dgm:pt modelId="{B24F3B51-BE59-4CFA-BF35-E9D85A0A8C1B}" type="parTrans" cxnId="{0FF346D8-BAD8-4627-8EA9-E5283E7B8B5B}">
      <dgm:prSet/>
      <dgm:spPr/>
      <dgm:t>
        <a:bodyPr/>
        <a:lstStyle/>
        <a:p>
          <a:endParaRPr lang="en-US"/>
        </a:p>
      </dgm:t>
    </dgm:pt>
    <dgm:pt modelId="{0EFBDD89-D06E-45DA-95D3-6517DBFD8A69}" type="sibTrans" cxnId="{0FF346D8-BAD8-4627-8EA9-E5283E7B8B5B}">
      <dgm:prSet/>
      <dgm:spPr/>
      <dgm:t>
        <a:bodyPr/>
        <a:lstStyle/>
        <a:p>
          <a:endParaRPr lang="en-US"/>
        </a:p>
      </dgm:t>
    </dgm:pt>
    <dgm:pt modelId="{FD4EA6BC-A503-4917-8AC5-C273A8EFEC58}">
      <dgm:prSet/>
      <dgm:spPr/>
      <dgm:t>
        <a:bodyPr/>
        <a:lstStyle/>
        <a:p>
          <a:r>
            <a:rPr lang="en-US" b="1"/>
            <a:t>Validation + Clearing</a:t>
          </a:r>
          <a:r>
            <a:rPr lang="en-US"/>
            <a:t>: &lt;100ms (Aurora Optimized Reads).</a:t>
          </a:r>
        </a:p>
      </dgm:t>
    </dgm:pt>
    <dgm:pt modelId="{F64D9863-CE5A-4F1D-A2E5-4B93C9D55819}" type="parTrans" cxnId="{EDA5BB7D-D65C-4877-8AF2-85A078B263BD}">
      <dgm:prSet/>
      <dgm:spPr/>
      <dgm:t>
        <a:bodyPr/>
        <a:lstStyle/>
        <a:p>
          <a:endParaRPr lang="en-US"/>
        </a:p>
      </dgm:t>
    </dgm:pt>
    <dgm:pt modelId="{3B7CC088-7308-44A8-868B-0BDD8A30C1F9}" type="sibTrans" cxnId="{EDA5BB7D-D65C-4877-8AF2-85A078B263BD}">
      <dgm:prSet/>
      <dgm:spPr/>
      <dgm:t>
        <a:bodyPr/>
        <a:lstStyle/>
        <a:p>
          <a:endParaRPr lang="en-US"/>
        </a:p>
      </dgm:t>
    </dgm:pt>
    <dgm:pt modelId="{2A408818-6FA3-4C66-97B6-EA0E921FF9C6}">
      <dgm:prSet/>
      <dgm:spPr/>
      <dgm:t>
        <a:bodyPr/>
        <a:lstStyle/>
        <a:p>
          <a:r>
            <a:rPr lang="en-US" b="1"/>
            <a:t>End-to-End Settlement</a:t>
          </a:r>
          <a:r>
            <a:rPr lang="en-US"/>
            <a:t>: &lt;300ms (QLDB + EKS low-latency pods).</a:t>
          </a:r>
        </a:p>
      </dgm:t>
    </dgm:pt>
    <dgm:pt modelId="{C49650FF-8AD3-41E6-946B-6D8A5BD9D093}" type="parTrans" cxnId="{FB0AEBF0-8B6F-47E0-B2A7-FBA3D4F743CE}">
      <dgm:prSet/>
      <dgm:spPr/>
      <dgm:t>
        <a:bodyPr/>
        <a:lstStyle/>
        <a:p>
          <a:endParaRPr lang="en-US"/>
        </a:p>
      </dgm:t>
    </dgm:pt>
    <dgm:pt modelId="{D31B42DD-6F1C-4948-93C2-7B88E3A4C624}" type="sibTrans" cxnId="{FB0AEBF0-8B6F-47E0-B2A7-FBA3D4F743CE}">
      <dgm:prSet/>
      <dgm:spPr/>
      <dgm:t>
        <a:bodyPr/>
        <a:lstStyle/>
        <a:p>
          <a:endParaRPr lang="en-US"/>
        </a:p>
      </dgm:t>
    </dgm:pt>
    <dgm:pt modelId="{0EFBC5C4-39BC-43FA-802B-72D795F54EBB}">
      <dgm:prSet/>
      <dgm:spPr/>
      <dgm:t>
        <a:bodyPr/>
        <a:lstStyle/>
        <a:p>
          <a:r>
            <a:rPr lang="en-US" b="1"/>
            <a:t>AWS Features Used</a:t>
          </a:r>
          <a:r>
            <a:rPr lang="en-US"/>
            <a:t>:</a:t>
          </a:r>
        </a:p>
      </dgm:t>
    </dgm:pt>
    <dgm:pt modelId="{81B24944-6A63-4293-BF18-8A848E45F1A1}" type="parTrans" cxnId="{C4A61E57-3C43-462C-8E35-50DD58D1D7BB}">
      <dgm:prSet/>
      <dgm:spPr/>
      <dgm:t>
        <a:bodyPr/>
        <a:lstStyle/>
        <a:p>
          <a:endParaRPr lang="en-US"/>
        </a:p>
      </dgm:t>
    </dgm:pt>
    <dgm:pt modelId="{E537CE3D-7CF5-46DF-A904-1DB8EED1FF43}" type="sibTrans" cxnId="{C4A61E57-3C43-462C-8E35-50DD58D1D7BB}">
      <dgm:prSet/>
      <dgm:spPr/>
      <dgm:t>
        <a:bodyPr/>
        <a:lstStyle/>
        <a:p>
          <a:endParaRPr lang="en-US"/>
        </a:p>
      </dgm:t>
    </dgm:pt>
    <dgm:pt modelId="{F3B563F6-8C05-42AB-835A-08E1B2A11068}">
      <dgm:prSet/>
      <dgm:spPr/>
      <dgm:t>
        <a:bodyPr/>
        <a:lstStyle/>
        <a:p>
          <a:r>
            <a:rPr lang="en-US" b="1"/>
            <a:t>MSK Tiered Storage</a:t>
          </a:r>
          <a:r>
            <a:rPr lang="en-US"/>
            <a:t>: Reduce cost for historical data.</a:t>
          </a:r>
        </a:p>
      </dgm:t>
    </dgm:pt>
    <dgm:pt modelId="{9A17BC54-87DC-428B-A554-0EBB3C84F365}" type="parTrans" cxnId="{39707E06-F293-4AA4-867D-804993F99954}">
      <dgm:prSet/>
      <dgm:spPr/>
      <dgm:t>
        <a:bodyPr/>
        <a:lstStyle/>
        <a:p>
          <a:endParaRPr lang="en-US"/>
        </a:p>
      </dgm:t>
    </dgm:pt>
    <dgm:pt modelId="{3749C70A-D041-449C-8267-603F78334D01}" type="sibTrans" cxnId="{39707E06-F293-4AA4-867D-804993F99954}">
      <dgm:prSet/>
      <dgm:spPr/>
      <dgm:t>
        <a:bodyPr/>
        <a:lstStyle/>
        <a:p>
          <a:endParaRPr lang="en-US"/>
        </a:p>
      </dgm:t>
    </dgm:pt>
    <dgm:pt modelId="{D4008B7F-A70E-4E0E-B0F8-7853E1BF6743}">
      <dgm:prSet/>
      <dgm:spPr/>
      <dgm:t>
        <a:bodyPr/>
        <a:lstStyle/>
        <a:p>
          <a:r>
            <a:rPr lang="en-US" b="1"/>
            <a:t>ElastiCache</a:t>
          </a:r>
          <a:r>
            <a:rPr lang="en-US"/>
            <a:t> (Redis): Cache reference data.</a:t>
          </a:r>
        </a:p>
      </dgm:t>
    </dgm:pt>
    <dgm:pt modelId="{0EA7CB9E-258E-4AC8-87CC-82C0ED67E52B}" type="parTrans" cxnId="{FDD4E4DF-AD7F-4206-A134-6A5A7004109B}">
      <dgm:prSet/>
      <dgm:spPr/>
      <dgm:t>
        <a:bodyPr/>
        <a:lstStyle/>
        <a:p>
          <a:endParaRPr lang="en-US"/>
        </a:p>
      </dgm:t>
    </dgm:pt>
    <dgm:pt modelId="{0256F299-88C8-4960-9E10-124FB0ED27EE}" type="sibTrans" cxnId="{FDD4E4DF-AD7F-4206-A134-6A5A7004109B}">
      <dgm:prSet/>
      <dgm:spPr/>
      <dgm:t>
        <a:bodyPr/>
        <a:lstStyle/>
        <a:p>
          <a:endParaRPr lang="en-US"/>
        </a:p>
      </dgm:t>
    </dgm:pt>
    <dgm:pt modelId="{DFBAA303-B87C-4B42-BCC4-03587E93511E}" type="pres">
      <dgm:prSet presAssocID="{4B188FE2-D2E7-4AAF-AE04-E32154A31533}" presName="cycle" presStyleCnt="0">
        <dgm:presLayoutVars>
          <dgm:dir/>
          <dgm:resizeHandles val="exact"/>
        </dgm:presLayoutVars>
      </dgm:prSet>
      <dgm:spPr/>
    </dgm:pt>
    <dgm:pt modelId="{A0D106EC-7A61-4C26-B586-2887FEA38234}" type="pres">
      <dgm:prSet presAssocID="{76185E3D-A493-4603-88FA-4D34324F13E2}" presName="node" presStyleLbl="node1" presStyleIdx="0" presStyleCnt="7">
        <dgm:presLayoutVars>
          <dgm:bulletEnabled val="1"/>
        </dgm:presLayoutVars>
      </dgm:prSet>
      <dgm:spPr/>
    </dgm:pt>
    <dgm:pt modelId="{D5D345E9-8F0D-4EE3-980B-5355F41D27F5}" type="pres">
      <dgm:prSet presAssocID="{76185E3D-A493-4603-88FA-4D34324F13E2}" presName="spNode" presStyleCnt="0"/>
      <dgm:spPr/>
    </dgm:pt>
    <dgm:pt modelId="{F9555647-D364-412C-A1DF-2A52022F24CB}" type="pres">
      <dgm:prSet presAssocID="{991D0A7E-EEE8-4DBA-9876-52535926D269}" presName="sibTrans" presStyleLbl="sibTrans1D1" presStyleIdx="0" presStyleCnt="7"/>
      <dgm:spPr/>
    </dgm:pt>
    <dgm:pt modelId="{C79239CD-99CA-442D-B36A-79CDEBC2612E}" type="pres">
      <dgm:prSet presAssocID="{8A0BE1A3-EEAA-4D18-9863-379FFB147613}" presName="node" presStyleLbl="node1" presStyleIdx="1" presStyleCnt="7">
        <dgm:presLayoutVars>
          <dgm:bulletEnabled val="1"/>
        </dgm:presLayoutVars>
      </dgm:prSet>
      <dgm:spPr/>
    </dgm:pt>
    <dgm:pt modelId="{EC4EDE06-ED06-4E90-8CF5-AEFDAED62BE4}" type="pres">
      <dgm:prSet presAssocID="{8A0BE1A3-EEAA-4D18-9863-379FFB147613}" presName="spNode" presStyleCnt="0"/>
      <dgm:spPr/>
    </dgm:pt>
    <dgm:pt modelId="{8DE4087E-52ED-43A7-AC47-453AF5516514}" type="pres">
      <dgm:prSet presAssocID="{0EFBDD89-D06E-45DA-95D3-6517DBFD8A69}" presName="sibTrans" presStyleLbl="sibTrans1D1" presStyleIdx="1" presStyleCnt="7"/>
      <dgm:spPr/>
    </dgm:pt>
    <dgm:pt modelId="{F6230D85-40D8-496D-A8D0-16D4EB7A3F19}" type="pres">
      <dgm:prSet presAssocID="{FD4EA6BC-A503-4917-8AC5-C273A8EFEC58}" presName="node" presStyleLbl="node1" presStyleIdx="2" presStyleCnt="7">
        <dgm:presLayoutVars>
          <dgm:bulletEnabled val="1"/>
        </dgm:presLayoutVars>
      </dgm:prSet>
      <dgm:spPr/>
    </dgm:pt>
    <dgm:pt modelId="{CA0DBA6C-CDA8-42C8-9E5C-1F38791E0D7A}" type="pres">
      <dgm:prSet presAssocID="{FD4EA6BC-A503-4917-8AC5-C273A8EFEC58}" presName="spNode" presStyleCnt="0"/>
      <dgm:spPr/>
    </dgm:pt>
    <dgm:pt modelId="{292C5568-EACC-4BF1-AAA9-EFB95758AFF7}" type="pres">
      <dgm:prSet presAssocID="{3B7CC088-7308-44A8-868B-0BDD8A30C1F9}" presName="sibTrans" presStyleLbl="sibTrans1D1" presStyleIdx="2" presStyleCnt="7"/>
      <dgm:spPr/>
    </dgm:pt>
    <dgm:pt modelId="{14E6B0ED-7827-44CB-B12F-49FA284A9A0E}" type="pres">
      <dgm:prSet presAssocID="{2A408818-6FA3-4C66-97B6-EA0E921FF9C6}" presName="node" presStyleLbl="node1" presStyleIdx="3" presStyleCnt="7">
        <dgm:presLayoutVars>
          <dgm:bulletEnabled val="1"/>
        </dgm:presLayoutVars>
      </dgm:prSet>
      <dgm:spPr/>
    </dgm:pt>
    <dgm:pt modelId="{58092792-3301-4ED7-9ED8-B418A50B271B}" type="pres">
      <dgm:prSet presAssocID="{2A408818-6FA3-4C66-97B6-EA0E921FF9C6}" presName="spNode" presStyleCnt="0"/>
      <dgm:spPr/>
    </dgm:pt>
    <dgm:pt modelId="{8483F8FA-8AB3-4824-8A86-F27029C3A8E2}" type="pres">
      <dgm:prSet presAssocID="{D31B42DD-6F1C-4948-93C2-7B88E3A4C624}" presName="sibTrans" presStyleLbl="sibTrans1D1" presStyleIdx="3" presStyleCnt="7"/>
      <dgm:spPr/>
    </dgm:pt>
    <dgm:pt modelId="{887FC2E6-E399-4958-98AB-F466A54F0FA1}" type="pres">
      <dgm:prSet presAssocID="{0EFBC5C4-39BC-43FA-802B-72D795F54EBB}" presName="node" presStyleLbl="node1" presStyleIdx="4" presStyleCnt="7">
        <dgm:presLayoutVars>
          <dgm:bulletEnabled val="1"/>
        </dgm:presLayoutVars>
      </dgm:prSet>
      <dgm:spPr/>
    </dgm:pt>
    <dgm:pt modelId="{E7D66F97-2B1C-4052-BD7F-38B78881A6F4}" type="pres">
      <dgm:prSet presAssocID="{0EFBC5C4-39BC-43FA-802B-72D795F54EBB}" presName="spNode" presStyleCnt="0"/>
      <dgm:spPr/>
    </dgm:pt>
    <dgm:pt modelId="{5BC7D298-E6B4-4C60-8585-788406276397}" type="pres">
      <dgm:prSet presAssocID="{E537CE3D-7CF5-46DF-A904-1DB8EED1FF43}" presName="sibTrans" presStyleLbl="sibTrans1D1" presStyleIdx="4" presStyleCnt="7"/>
      <dgm:spPr/>
    </dgm:pt>
    <dgm:pt modelId="{37FF3C83-704D-4219-B223-3F229E04C506}" type="pres">
      <dgm:prSet presAssocID="{F3B563F6-8C05-42AB-835A-08E1B2A11068}" presName="node" presStyleLbl="node1" presStyleIdx="5" presStyleCnt="7">
        <dgm:presLayoutVars>
          <dgm:bulletEnabled val="1"/>
        </dgm:presLayoutVars>
      </dgm:prSet>
      <dgm:spPr/>
    </dgm:pt>
    <dgm:pt modelId="{727A16C0-EB4B-4094-9FFE-83AA127197B0}" type="pres">
      <dgm:prSet presAssocID="{F3B563F6-8C05-42AB-835A-08E1B2A11068}" presName="spNode" presStyleCnt="0"/>
      <dgm:spPr/>
    </dgm:pt>
    <dgm:pt modelId="{62378F28-761E-4A62-BE3B-F7055D265935}" type="pres">
      <dgm:prSet presAssocID="{3749C70A-D041-449C-8267-603F78334D01}" presName="sibTrans" presStyleLbl="sibTrans1D1" presStyleIdx="5" presStyleCnt="7"/>
      <dgm:spPr/>
    </dgm:pt>
    <dgm:pt modelId="{F5246A98-E2C9-416E-B267-AFBE34D42219}" type="pres">
      <dgm:prSet presAssocID="{D4008B7F-A70E-4E0E-B0F8-7853E1BF6743}" presName="node" presStyleLbl="node1" presStyleIdx="6" presStyleCnt="7">
        <dgm:presLayoutVars>
          <dgm:bulletEnabled val="1"/>
        </dgm:presLayoutVars>
      </dgm:prSet>
      <dgm:spPr/>
    </dgm:pt>
    <dgm:pt modelId="{7F6FD70A-52E2-4013-9AE1-BDB9CBC634D8}" type="pres">
      <dgm:prSet presAssocID="{D4008B7F-A70E-4E0E-B0F8-7853E1BF6743}" presName="spNode" presStyleCnt="0"/>
      <dgm:spPr/>
    </dgm:pt>
    <dgm:pt modelId="{A322C675-E16E-4F75-9E30-4AAC91F25A52}" type="pres">
      <dgm:prSet presAssocID="{0256F299-88C8-4960-9E10-124FB0ED27EE}" presName="sibTrans" presStyleLbl="sibTrans1D1" presStyleIdx="6" presStyleCnt="7"/>
      <dgm:spPr/>
    </dgm:pt>
  </dgm:ptLst>
  <dgm:cxnLst>
    <dgm:cxn modelId="{4FBFFC00-EC35-42DD-8911-B92BC35D0FF7}" type="presOf" srcId="{F3B563F6-8C05-42AB-835A-08E1B2A11068}" destId="{37FF3C83-704D-4219-B223-3F229E04C506}" srcOrd="0" destOrd="0" presId="urn:microsoft.com/office/officeart/2005/8/layout/cycle5"/>
    <dgm:cxn modelId="{39707E06-F293-4AA4-867D-804993F99954}" srcId="{4B188FE2-D2E7-4AAF-AE04-E32154A31533}" destId="{F3B563F6-8C05-42AB-835A-08E1B2A11068}" srcOrd="5" destOrd="0" parTransId="{9A17BC54-87DC-428B-A554-0EBB3C84F365}" sibTransId="{3749C70A-D041-449C-8267-603F78334D01}"/>
    <dgm:cxn modelId="{A29FCF1A-EE67-406F-BBB2-C5EB278F9D54}" srcId="{4B188FE2-D2E7-4AAF-AE04-E32154A31533}" destId="{76185E3D-A493-4603-88FA-4D34324F13E2}" srcOrd="0" destOrd="0" parTransId="{DB6A824F-BFC7-4322-9308-5540618A5038}" sibTransId="{991D0A7E-EEE8-4DBA-9876-52535926D269}"/>
    <dgm:cxn modelId="{35713B1F-9AF0-42BD-9684-F8E23D4AD14F}" type="presOf" srcId="{E537CE3D-7CF5-46DF-A904-1DB8EED1FF43}" destId="{5BC7D298-E6B4-4C60-8585-788406276397}" srcOrd="0" destOrd="0" presId="urn:microsoft.com/office/officeart/2005/8/layout/cycle5"/>
    <dgm:cxn modelId="{AE5BC22A-514C-42AC-82A7-52AA73F739BB}" type="presOf" srcId="{D4008B7F-A70E-4E0E-B0F8-7853E1BF6743}" destId="{F5246A98-E2C9-416E-B267-AFBE34D42219}" srcOrd="0" destOrd="0" presId="urn:microsoft.com/office/officeart/2005/8/layout/cycle5"/>
    <dgm:cxn modelId="{B4771040-3016-4285-9D3E-9437864CE152}" type="presOf" srcId="{3749C70A-D041-449C-8267-603F78334D01}" destId="{62378F28-761E-4A62-BE3B-F7055D265935}" srcOrd="0" destOrd="0" presId="urn:microsoft.com/office/officeart/2005/8/layout/cycle5"/>
    <dgm:cxn modelId="{4F612C5D-997D-41D8-A439-80AA7EAC6777}" type="presOf" srcId="{0256F299-88C8-4960-9E10-124FB0ED27EE}" destId="{A322C675-E16E-4F75-9E30-4AAC91F25A52}" srcOrd="0" destOrd="0" presId="urn:microsoft.com/office/officeart/2005/8/layout/cycle5"/>
    <dgm:cxn modelId="{AD0FE454-BCF4-421D-8FD4-8BC292B34F2E}" type="presOf" srcId="{8A0BE1A3-EEAA-4D18-9863-379FFB147613}" destId="{C79239CD-99CA-442D-B36A-79CDEBC2612E}" srcOrd="0" destOrd="0" presId="urn:microsoft.com/office/officeart/2005/8/layout/cycle5"/>
    <dgm:cxn modelId="{C4A61E57-3C43-462C-8E35-50DD58D1D7BB}" srcId="{4B188FE2-D2E7-4AAF-AE04-E32154A31533}" destId="{0EFBC5C4-39BC-43FA-802B-72D795F54EBB}" srcOrd="4" destOrd="0" parTransId="{81B24944-6A63-4293-BF18-8A848E45F1A1}" sibTransId="{E537CE3D-7CF5-46DF-A904-1DB8EED1FF43}"/>
    <dgm:cxn modelId="{FA1CA857-312D-42F4-BEF8-D43D63F46A08}" type="presOf" srcId="{2A408818-6FA3-4C66-97B6-EA0E921FF9C6}" destId="{14E6B0ED-7827-44CB-B12F-49FA284A9A0E}" srcOrd="0" destOrd="0" presId="urn:microsoft.com/office/officeart/2005/8/layout/cycle5"/>
    <dgm:cxn modelId="{5E666E58-1A54-44FD-8E70-11F68CC05E01}" type="presOf" srcId="{D31B42DD-6F1C-4948-93C2-7B88E3A4C624}" destId="{8483F8FA-8AB3-4824-8A86-F27029C3A8E2}" srcOrd="0" destOrd="0" presId="urn:microsoft.com/office/officeart/2005/8/layout/cycle5"/>
    <dgm:cxn modelId="{1820D45A-5C28-4CD7-8278-74C0DC2DC849}" type="presOf" srcId="{76185E3D-A493-4603-88FA-4D34324F13E2}" destId="{A0D106EC-7A61-4C26-B586-2887FEA38234}" srcOrd="0" destOrd="0" presId="urn:microsoft.com/office/officeart/2005/8/layout/cycle5"/>
    <dgm:cxn modelId="{EDA5BB7D-D65C-4877-8AF2-85A078B263BD}" srcId="{4B188FE2-D2E7-4AAF-AE04-E32154A31533}" destId="{FD4EA6BC-A503-4917-8AC5-C273A8EFEC58}" srcOrd="2" destOrd="0" parTransId="{F64D9863-CE5A-4F1D-A2E5-4B93C9D55819}" sibTransId="{3B7CC088-7308-44A8-868B-0BDD8A30C1F9}"/>
    <dgm:cxn modelId="{A1DAD4B8-59C9-45C1-9477-04A5756285A3}" type="presOf" srcId="{0EFBC5C4-39BC-43FA-802B-72D795F54EBB}" destId="{887FC2E6-E399-4958-98AB-F466A54F0FA1}" srcOrd="0" destOrd="0" presId="urn:microsoft.com/office/officeart/2005/8/layout/cycle5"/>
    <dgm:cxn modelId="{0FF346D8-BAD8-4627-8EA9-E5283E7B8B5B}" srcId="{4B188FE2-D2E7-4AAF-AE04-E32154A31533}" destId="{8A0BE1A3-EEAA-4D18-9863-379FFB147613}" srcOrd="1" destOrd="0" parTransId="{B24F3B51-BE59-4CFA-BF35-E9D85A0A8C1B}" sibTransId="{0EFBDD89-D06E-45DA-95D3-6517DBFD8A69}"/>
    <dgm:cxn modelId="{D716A6D9-50C4-4978-A3C3-B095CFE2E492}" type="presOf" srcId="{3B7CC088-7308-44A8-868B-0BDD8A30C1F9}" destId="{292C5568-EACC-4BF1-AAA9-EFB95758AFF7}" srcOrd="0" destOrd="0" presId="urn:microsoft.com/office/officeart/2005/8/layout/cycle5"/>
    <dgm:cxn modelId="{FDD4E4DF-AD7F-4206-A134-6A5A7004109B}" srcId="{4B188FE2-D2E7-4AAF-AE04-E32154A31533}" destId="{D4008B7F-A70E-4E0E-B0F8-7853E1BF6743}" srcOrd="6" destOrd="0" parTransId="{0EA7CB9E-258E-4AC8-87CC-82C0ED67E52B}" sibTransId="{0256F299-88C8-4960-9E10-124FB0ED27EE}"/>
    <dgm:cxn modelId="{16BB0DE1-0FEE-4233-AD16-C5B9E7F81B8D}" type="presOf" srcId="{4B188FE2-D2E7-4AAF-AE04-E32154A31533}" destId="{DFBAA303-B87C-4B42-BCC4-03587E93511E}" srcOrd="0" destOrd="0" presId="urn:microsoft.com/office/officeart/2005/8/layout/cycle5"/>
    <dgm:cxn modelId="{2BE494E4-646A-4898-A69D-8B52775A9A5B}" type="presOf" srcId="{FD4EA6BC-A503-4917-8AC5-C273A8EFEC58}" destId="{F6230D85-40D8-496D-A8D0-16D4EB7A3F19}" srcOrd="0" destOrd="0" presId="urn:microsoft.com/office/officeart/2005/8/layout/cycle5"/>
    <dgm:cxn modelId="{3FA939E8-1145-404E-936E-7B83898C98B4}" type="presOf" srcId="{0EFBDD89-D06E-45DA-95D3-6517DBFD8A69}" destId="{8DE4087E-52ED-43A7-AC47-453AF5516514}" srcOrd="0" destOrd="0" presId="urn:microsoft.com/office/officeart/2005/8/layout/cycle5"/>
    <dgm:cxn modelId="{FB0AEBF0-8B6F-47E0-B2A7-FBA3D4F743CE}" srcId="{4B188FE2-D2E7-4AAF-AE04-E32154A31533}" destId="{2A408818-6FA3-4C66-97B6-EA0E921FF9C6}" srcOrd="3" destOrd="0" parTransId="{C49650FF-8AD3-41E6-946B-6D8A5BD9D093}" sibTransId="{D31B42DD-6F1C-4948-93C2-7B88E3A4C624}"/>
    <dgm:cxn modelId="{7A3372F8-28CC-4B0C-9B04-785E458461BB}" type="presOf" srcId="{991D0A7E-EEE8-4DBA-9876-52535926D269}" destId="{F9555647-D364-412C-A1DF-2A52022F24CB}" srcOrd="0" destOrd="0" presId="urn:microsoft.com/office/officeart/2005/8/layout/cycle5"/>
    <dgm:cxn modelId="{EFD5A34A-5ED2-4A38-A57D-A3FDEB4F8F76}" type="presParOf" srcId="{DFBAA303-B87C-4B42-BCC4-03587E93511E}" destId="{A0D106EC-7A61-4C26-B586-2887FEA38234}" srcOrd="0" destOrd="0" presId="urn:microsoft.com/office/officeart/2005/8/layout/cycle5"/>
    <dgm:cxn modelId="{BF14B2FC-9E21-4E60-B326-1BAEA52B9C32}" type="presParOf" srcId="{DFBAA303-B87C-4B42-BCC4-03587E93511E}" destId="{D5D345E9-8F0D-4EE3-980B-5355F41D27F5}" srcOrd="1" destOrd="0" presId="urn:microsoft.com/office/officeart/2005/8/layout/cycle5"/>
    <dgm:cxn modelId="{2498D415-BB9C-41EF-985C-CE8D96957B67}" type="presParOf" srcId="{DFBAA303-B87C-4B42-BCC4-03587E93511E}" destId="{F9555647-D364-412C-A1DF-2A52022F24CB}" srcOrd="2" destOrd="0" presId="urn:microsoft.com/office/officeart/2005/8/layout/cycle5"/>
    <dgm:cxn modelId="{060B7450-0CC7-4248-922A-3E362F0D9C1E}" type="presParOf" srcId="{DFBAA303-B87C-4B42-BCC4-03587E93511E}" destId="{C79239CD-99CA-442D-B36A-79CDEBC2612E}" srcOrd="3" destOrd="0" presId="urn:microsoft.com/office/officeart/2005/8/layout/cycle5"/>
    <dgm:cxn modelId="{4300D0F4-9F00-4170-868D-D2170AB080CA}" type="presParOf" srcId="{DFBAA303-B87C-4B42-BCC4-03587E93511E}" destId="{EC4EDE06-ED06-4E90-8CF5-AEFDAED62BE4}" srcOrd="4" destOrd="0" presId="urn:microsoft.com/office/officeart/2005/8/layout/cycle5"/>
    <dgm:cxn modelId="{D2A7DA20-3C94-456F-9242-B491ACAC5AB0}" type="presParOf" srcId="{DFBAA303-B87C-4B42-BCC4-03587E93511E}" destId="{8DE4087E-52ED-43A7-AC47-453AF5516514}" srcOrd="5" destOrd="0" presId="urn:microsoft.com/office/officeart/2005/8/layout/cycle5"/>
    <dgm:cxn modelId="{86E64B94-5916-44E2-8CD5-EEE08F72C7D6}" type="presParOf" srcId="{DFBAA303-B87C-4B42-BCC4-03587E93511E}" destId="{F6230D85-40D8-496D-A8D0-16D4EB7A3F19}" srcOrd="6" destOrd="0" presId="urn:microsoft.com/office/officeart/2005/8/layout/cycle5"/>
    <dgm:cxn modelId="{2B326BB8-76A6-4A2B-8912-BE86E1ECEFAF}" type="presParOf" srcId="{DFBAA303-B87C-4B42-BCC4-03587E93511E}" destId="{CA0DBA6C-CDA8-42C8-9E5C-1F38791E0D7A}" srcOrd="7" destOrd="0" presId="urn:microsoft.com/office/officeart/2005/8/layout/cycle5"/>
    <dgm:cxn modelId="{FF97C6F2-A0C3-4CDC-A321-F667BF160C59}" type="presParOf" srcId="{DFBAA303-B87C-4B42-BCC4-03587E93511E}" destId="{292C5568-EACC-4BF1-AAA9-EFB95758AFF7}" srcOrd="8" destOrd="0" presId="urn:microsoft.com/office/officeart/2005/8/layout/cycle5"/>
    <dgm:cxn modelId="{A7323193-021B-4C32-9845-05C87098B886}" type="presParOf" srcId="{DFBAA303-B87C-4B42-BCC4-03587E93511E}" destId="{14E6B0ED-7827-44CB-B12F-49FA284A9A0E}" srcOrd="9" destOrd="0" presId="urn:microsoft.com/office/officeart/2005/8/layout/cycle5"/>
    <dgm:cxn modelId="{046F876D-9298-4864-811D-012AC2248BE2}" type="presParOf" srcId="{DFBAA303-B87C-4B42-BCC4-03587E93511E}" destId="{58092792-3301-4ED7-9ED8-B418A50B271B}" srcOrd="10" destOrd="0" presId="urn:microsoft.com/office/officeart/2005/8/layout/cycle5"/>
    <dgm:cxn modelId="{F106F04C-C7BC-45CB-ADDE-184E40066697}" type="presParOf" srcId="{DFBAA303-B87C-4B42-BCC4-03587E93511E}" destId="{8483F8FA-8AB3-4824-8A86-F27029C3A8E2}" srcOrd="11" destOrd="0" presId="urn:microsoft.com/office/officeart/2005/8/layout/cycle5"/>
    <dgm:cxn modelId="{044649CD-69B9-4CB6-8FDC-BE83D2C290FA}" type="presParOf" srcId="{DFBAA303-B87C-4B42-BCC4-03587E93511E}" destId="{887FC2E6-E399-4958-98AB-F466A54F0FA1}" srcOrd="12" destOrd="0" presId="urn:microsoft.com/office/officeart/2005/8/layout/cycle5"/>
    <dgm:cxn modelId="{F933D375-B390-473F-AB0B-9F9FD7F30290}" type="presParOf" srcId="{DFBAA303-B87C-4B42-BCC4-03587E93511E}" destId="{E7D66F97-2B1C-4052-BD7F-38B78881A6F4}" srcOrd="13" destOrd="0" presId="urn:microsoft.com/office/officeart/2005/8/layout/cycle5"/>
    <dgm:cxn modelId="{3CFE3EE2-2AC6-4228-9AB7-EE9002E0D531}" type="presParOf" srcId="{DFBAA303-B87C-4B42-BCC4-03587E93511E}" destId="{5BC7D298-E6B4-4C60-8585-788406276397}" srcOrd="14" destOrd="0" presId="urn:microsoft.com/office/officeart/2005/8/layout/cycle5"/>
    <dgm:cxn modelId="{901CF517-C3A7-4918-B2D5-999090946F27}" type="presParOf" srcId="{DFBAA303-B87C-4B42-BCC4-03587E93511E}" destId="{37FF3C83-704D-4219-B223-3F229E04C506}" srcOrd="15" destOrd="0" presId="urn:microsoft.com/office/officeart/2005/8/layout/cycle5"/>
    <dgm:cxn modelId="{8517EB73-CE6E-4851-A43C-436315FED2F5}" type="presParOf" srcId="{DFBAA303-B87C-4B42-BCC4-03587E93511E}" destId="{727A16C0-EB4B-4094-9FFE-83AA127197B0}" srcOrd="16" destOrd="0" presId="urn:microsoft.com/office/officeart/2005/8/layout/cycle5"/>
    <dgm:cxn modelId="{2CFE75B3-EDC2-45A2-A693-826596603C15}" type="presParOf" srcId="{DFBAA303-B87C-4B42-BCC4-03587E93511E}" destId="{62378F28-761E-4A62-BE3B-F7055D265935}" srcOrd="17" destOrd="0" presId="urn:microsoft.com/office/officeart/2005/8/layout/cycle5"/>
    <dgm:cxn modelId="{ABFFC50D-A601-4FEB-A49F-8E6DD1BF7854}" type="presParOf" srcId="{DFBAA303-B87C-4B42-BCC4-03587E93511E}" destId="{F5246A98-E2C9-416E-B267-AFBE34D42219}" srcOrd="18" destOrd="0" presId="urn:microsoft.com/office/officeart/2005/8/layout/cycle5"/>
    <dgm:cxn modelId="{93B3BE82-D3CB-4750-B8F8-8BC457B475B9}" type="presParOf" srcId="{DFBAA303-B87C-4B42-BCC4-03587E93511E}" destId="{7F6FD70A-52E2-4013-9AE1-BDB9CBC634D8}" srcOrd="19" destOrd="0" presId="urn:microsoft.com/office/officeart/2005/8/layout/cycle5"/>
    <dgm:cxn modelId="{613F73E4-EC62-44B7-830A-380A246D2F71}" type="presParOf" srcId="{DFBAA303-B87C-4B42-BCC4-03587E93511E}" destId="{A322C675-E16E-4F75-9E30-4AAC91F25A52}" srcOrd="20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658E77-2209-4C21-A78D-66F1E61F0DFC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5427661-8CD3-4E87-8521-A45118F5C4B3}">
      <dgm:prSet/>
      <dgm:spPr/>
      <dgm:t>
        <a:bodyPr/>
        <a:lstStyle/>
        <a:p>
          <a:r>
            <a:rPr lang="en-US" b="1"/>
            <a:t>Data Encryption</a:t>
          </a:r>
          <a:r>
            <a:rPr lang="en-US"/>
            <a:t>:</a:t>
          </a:r>
        </a:p>
      </dgm:t>
    </dgm:pt>
    <dgm:pt modelId="{434A1055-C3CD-4E8D-A867-6A5BA6ECAF44}" type="parTrans" cxnId="{63BB0034-B6C1-411F-A77C-2A97D7DBABC9}">
      <dgm:prSet/>
      <dgm:spPr/>
      <dgm:t>
        <a:bodyPr/>
        <a:lstStyle/>
        <a:p>
          <a:endParaRPr lang="en-US"/>
        </a:p>
      </dgm:t>
    </dgm:pt>
    <dgm:pt modelId="{C8678BE2-7636-4D66-A575-40384D778DC5}" type="sibTrans" cxnId="{63BB0034-B6C1-411F-A77C-2A97D7DBABC9}">
      <dgm:prSet/>
      <dgm:spPr/>
      <dgm:t>
        <a:bodyPr/>
        <a:lstStyle/>
        <a:p>
          <a:endParaRPr lang="en-US"/>
        </a:p>
      </dgm:t>
    </dgm:pt>
    <dgm:pt modelId="{EAE3FB78-C53B-4248-83ED-192F092C00B6}">
      <dgm:prSet/>
      <dgm:spPr/>
      <dgm:t>
        <a:bodyPr/>
        <a:lstStyle/>
        <a:p>
          <a:r>
            <a:rPr lang="en-US"/>
            <a:t>TLS 1.3 for in-transit (MSK), KMS for at-rest.</a:t>
          </a:r>
        </a:p>
      </dgm:t>
    </dgm:pt>
    <dgm:pt modelId="{65474B9B-8233-4E61-A4E9-198302F334F9}" type="parTrans" cxnId="{0C8C6C45-DA64-4ADB-8071-8AB08FB02FEB}">
      <dgm:prSet/>
      <dgm:spPr/>
      <dgm:t>
        <a:bodyPr/>
        <a:lstStyle/>
        <a:p>
          <a:endParaRPr lang="en-US"/>
        </a:p>
      </dgm:t>
    </dgm:pt>
    <dgm:pt modelId="{1F9395AB-5184-487D-A4D0-01F51F544203}" type="sibTrans" cxnId="{0C8C6C45-DA64-4ADB-8071-8AB08FB02FEB}">
      <dgm:prSet/>
      <dgm:spPr/>
      <dgm:t>
        <a:bodyPr/>
        <a:lstStyle/>
        <a:p>
          <a:endParaRPr lang="en-US"/>
        </a:p>
      </dgm:t>
    </dgm:pt>
    <dgm:pt modelId="{3E5FBB01-7124-4326-BFE0-37801AE2918D}">
      <dgm:prSet/>
      <dgm:spPr/>
      <dgm:t>
        <a:bodyPr/>
        <a:lstStyle/>
        <a:p>
          <a:r>
            <a:rPr lang="en-US" b="1"/>
            <a:t>Access Control</a:t>
          </a:r>
          <a:r>
            <a:rPr lang="en-US"/>
            <a:t>:</a:t>
          </a:r>
        </a:p>
      </dgm:t>
    </dgm:pt>
    <dgm:pt modelId="{2A565A88-0117-4E80-B31C-6921FFC42582}" type="parTrans" cxnId="{250E0B9A-AFBD-4D3D-9DAC-8D70FB7BA34A}">
      <dgm:prSet/>
      <dgm:spPr/>
      <dgm:t>
        <a:bodyPr/>
        <a:lstStyle/>
        <a:p>
          <a:endParaRPr lang="en-US"/>
        </a:p>
      </dgm:t>
    </dgm:pt>
    <dgm:pt modelId="{6A56AD0B-3CE1-40B4-9F6B-4E584D597D25}" type="sibTrans" cxnId="{250E0B9A-AFBD-4D3D-9DAC-8D70FB7BA34A}">
      <dgm:prSet/>
      <dgm:spPr/>
      <dgm:t>
        <a:bodyPr/>
        <a:lstStyle/>
        <a:p>
          <a:endParaRPr lang="en-US"/>
        </a:p>
      </dgm:t>
    </dgm:pt>
    <dgm:pt modelId="{C416DC6C-1C67-4C5E-9AEA-D32E64B079F8}">
      <dgm:prSet/>
      <dgm:spPr/>
      <dgm:t>
        <a:bodyPr/>
        <a:lstStyle/>
        <a:p>
          <a:r>
            <a:rPr lang="en-US"/>
            <a:t>IAM roles for services, VPC endpoints to avoid public internet.</a:t>
          </a:r>
        </a:p>
      </dgm:t>
    </dgm:pt>
    <dgm:pt modelId="{B70C8477-5142-4989-992F-BA57161C6378}" type="parTrans" cxnId="{2E0DED8F-5372-4E2C-9E45-86F68CF2180C}">
      <dgm:prSet/>
      <dgm:spPr/>
      <dgm:t>
        <a:bodyPr/>
        <a:lstStyle/>
        <a:p>
          <a:endParaRPr lang="en-US"/>
        </a:p>
      </dgm:t>
    </dgm:pt>
    <dgm:pt modelId="{5FE052E1-CAE9-4DF9-9605-81540EB53AF9}" type="sibTrans" cxnId="{2E0DED8F-5372-4E2C-9E45-86F68CF2180C}">
      <dgm:prSet/>
      <dgm:spPr/>
      <dgm:t>
        <a:bodyPr/>
        <a:lstStyle/>
        <a:p>
          <a:endParaRPr lang="en-US"/>
        </a:p>
      </dgm:t>
    </dgm:pt>
    <dgm:pt modelId="{1022ABBF-EF0E-4A25-9E63-6B0EB1F75123}">
      <dgm:prSet/>
      <dgm:spPr/>
      <dgm:t>
        <a:bodyPr/>
        <a:lstStyle/>
        <a:p>
          <a:r>
            <a:rPr lang="en-US" b="1"/>
            <a:t>Audit</a:t>
          </a:r>
          <a:r>
            <a:rPr lang="en-US"/>
            <a:t>:</a:t>
          </a:r>
        </a:p>
      </dgm:t>
    </dgm:pt>
    <dgm:pt modelId="{5D562149-A4DF-4171-B49F-34FC1C8CAFAE}" type="parTrans" cxnId="{0F3FED7E-B648-4D55-96D8-78BA359F42F6}">
      <dgm:prSet/>
      <dgm:spPr/>
      <dgm:t>
        <a:bodyPr/>
        <a:lstStyle/>
        <a:p>
          <a:endParaRPr lang="en-US"/>
        </a:p>
      </dgm:t>
    </dgm:pt>
    <dgm:pt modelId="{32E65849-C1EE-4BFD-B065-7D65E0E90C77}" type="sibTrans" cxnId="{0F3FED7E-B648-4D55-96D8-78BA359F42F6}">
      <dgm:prSet/>
      <dgm:spPr/>
      <dgm:t>
        <a:bodyPr/>
        <a:lstStyle/>
        <a:p>
          <a:endParaRPr lang="en-US"/>
        </a:p>
      </dgm:t>
    </dgm:pt>
    <dgm:pt modelId="{0A15D76E-BB2D-4C11-99F6-FDA6CC511D93}">
      <dgm:prSet/>
      <dgm:spPr/>
      <dgm:t>
        <a:bodyPr/>
        <a:lstStyle/>
        <a:p>
          <a:r>
            <a:rPr lang="en-US" b="1"/>
            <a:t>AWS CloudTrail</a:t>
          </a:r>
          <a:r>
            <a:rPr lang="en-US"/>
            <a:t> + </a:t>
          </a:r>
          <a:r>
            <a:rPr lang="en-US" b="1"/>
            <a:t>QLDB</a:t>
          </a:r>
          <a:r>
            <a:rPr lang="en-US"/>
            <a:t> for immutable logs.</a:t>
          </a:r>
        </a:p>
      </dgm:t>
    </dgm:pt>
    <dgm:pt modelId="{14E3A1C8-0330-428B-8C83-170AAB59939E}" type="parTrans" cxnId="{AB26B577-DC6E-494C-B10A-F3DD6AB98D7A}">
      <dgm:prSet/>
      <dgm:spPr/>
      <dgm:t>
        <a:bodyPr/>
        <a:lstStyle/>
        <a:p>
          <a:endParaRPr lang="en-US"/>
        </a:p>
      </dgm:t>
    </dgm:pt>
    <dgm:pt modelId="{E4ACE804-F0E8-4826-81CE-9A1ACABF5BD7}" type="sibTrans" cxnId="{AB26B577-DC6E-494C-B10A-F3DD6AB98D7A}">
      <dgm:prSet/>
      <dgm:spPr/>
      <dgm:t>
        <a:bodyPr/>
        <a:lstStyle/>
        <a:p>
          <a:endParaRPr lang="en-US"/>
        </a:p>
      </dgm:t>
    </dgm:pt>
    <dgm:pt modelId="{856C60D1-1090-4DD1-A027-ABCC3E70D07B}" type="pres">
      <dgm:prSet presAssocID="{22658E77-2209-4C21-A78D-66F1E61F0DFC}" presName="linear" presStyleCnt="0">
        <dgm:presLayoutVars>
          <dgm:dir/>
          <dgm:animLvl val="lvl"/>
          <dgm:resizeHandles val="exact"/>
        </dgm:presLayoutVars>
      </dgm:prSet>
      <dgm:spPr/>
    </dgm:pt>
    <dgm:pt modelId="{593D23E9-E614-4411-BC33-6C707415B250}" type="pres">
      <dgm:prSet presAssocID="{85427661-8CD3-4E87-8521-A45118F5C4B3}" presName="parentLin" presStyleCnt="0"/>
      <dgm:spPr/>
    </dgm:pt>
    <dgm:pt modelId="{A95B3573-23FF-4DDC-B099-A8696FCD5942}" type="pres">
      <dgm:prSet presAssocID="{85427661-8CD3-4E87-8521-A45118F5C4B3}" presName="parentLeftMargin" presStyleLbl="node1" presStyleIdx="0" presStyleCnt="3"/>
      <dgm:spPr/>
    </dgm:pt>
    <dgm:pt modelId="{19D34AE4-72D7-4D7F-B39E-136D9E2E4BB9}" type="pres">
      <dgm:prSet presAssocID="{85427661-8CD3-4E87-8521-A45118F5C4B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B6B6711-C6A5-42B6-87E3-925B64E63888}" type="pres">
      <dgm:prSet presAssocID="{85427661-8CD3-4E87-8521-A45118F5C4B3}" presName="negativeSpace" presStyleCnt="0"/>
      <dgm:spPr/>
    </dgm:pt>
    <dgm:pt modelId="{A0EEB91B-2380-4405-A220-AFE3DCACC64D}" type="pres">
      <dgm:prSet presAssocID="{85427661-8CD3-4E87-8521-A45118F5C4B3}" presName="childText" presStyleLbl="conFgAcc1" presStyleIdx="0" presStyleCnt="3">
        <dgm:presLayoutVars>
          <dgm:bulletEnabled val="1"/>
        </dgm:presLayoutVars>
      </dgm:prSet>
      <dgm:spPr/>
    </dgm:pt>
    <dgm:pt modelId="{DED8FC1B-6EEE-4A52-B4A9-5A24C3F22CF5}" type="pres">
      <dgm:prSet presAssocID="{C8678BE2-7636-4D66-A575-40384D778DC5}" presName="spaceBetweenRectangles" presStyleCnt="0"/>
      <dgm:spPr/>
    </dgm:pt>
    <dgm:pt modelId="{E2233918-1296-4913-B848-3D82A9712B04}" type="pres">
      <dgm:prSet presAssocID="{3E5FBB01-7124-4326-BFE0-37801AE2918D}" presName="parentLin" presStyleCnt="0"/>
      <dgm:spPr/>
    </dgm:pt>
    <dgm:pt modelId="{6E2CFF0B-874E-4268-8F77-0858B0CA75B3}" type="pres">
      <dgm:prSet presAssocID="{3E5FBB01-7124-4326-BFE0-37801AE2918D}" presName="parentLeftMargin" presStyleLbl="node1" presStyleIdx="0" presStyleCnt="3"/>
      <dgm:spPr/>
    </dgm:pt>
    <dgm:pt modelId="{CBF4D8C8-A71B-4332-A1E8-BE5C7E4D69CC}" type="pres">
      <dgm:prSet presAssocID="{3E5FBB01-7124-4326-BFE0-37801AE2918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34F122E-9B55-484D-8CEF-F8CAEABC281E}" type="pres">
      <dgm:prSet presAssocID="{3E5FBB01-7124-4326-BFE0-37801AE2918D}" presName="negativeSpace" presStyleCnt="0"/>
      <dgm:spPr/>
    </dgm:pt>
    <dgm:pt modelId="{4272998F-B756-4871-9EF7-0FAD4C75BD8A}" type="pres">
      <dgm:prSet presAssocID="{3E5FBB01-7124-4326-BFE0-37801AE2918D}" presName="childText" presStyleLbl="conFgAcc1" presStyleIdx="1" presStyleCnt="3">
        <dgm:presLayoutVars>
          <dgm:bulletEnabled val="1"/>
        </dgm:presLayoutVars>
      </dgm:prSet>
      <dgm:spPr/>
    </dgm:pt>
    <dgm:pt modelId="{9247F049-8906-4327-8BC6-5CDFBDBC0582}" type="pres">
      <dgm:prSet presAssocID="{6A56AD0B-3CE1-40B4-9F6B-4E584D597D25}" presName="spaceBetweenRectangles" presStyleCnt="0"/>
      <dgm:spPr/>
    </dgm:pt>
    <dgm:pt modelId="{C661BCA4-836D-4FAF-942E-464F38B1BCAF}" type="pres">
      <dgm:prSet presAssocID="{1022ABBF-EF0E-4A25-9E63-6B0EB1F75123}" presName="parentLin" presStyleCnt="0"/>
      <dgm:spPr/>
    </dgm:pt>
    <dgm:pt modelId="{55923DBE-8BCA-4DA8-82E7-11AD23C69F22}" type="pres">
      <dgm:prSet presAssocID="{1022ABBF-EF0E-4A25-9E63-6B0EB1F75123}" presName="parentLeftMargin" presStyleLbl="node1" presStyleIdx="1" presStyleCnt="3"/>
      <dgm:spPr/>
    </dgm:pt>
    <dgm:pt modelId="{F8445D96-A8FF-4222-B64C-C079E7397B55}" type="pres">
      <dgm:prSet presAssocID="{1022ABBF-EF0E-4A25-9E63-6B0EB1F7512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FA9477A-8C04-44D2-9BEF-EC88918DBFD4}" type="pres">
      <dgm:prSet presAssocID="{1022ABBF-EF0E-4A25-9E63-6B0EB1F75123}" presName="negativeSpace" presStyleCnt="0"/>
      <dgm:spPr/>
    </dgm:pt>
    <dgm:pt modelId="{9BF2086B-FDD9-4802-B303-AC68D4F1D6B7}" type="pres">
      <dgm:prSet presAssocID="{1022ABBF-EF0E-4A25-9E63-6B0EB1F7512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E888A30-71D3-483F-A5BD-A827449291F0}" type="presOf" srcId="{3E5FBB01-7124-4326-BFE0-37801AE2918D}" destId="{6E2CFF0B-874E-4268-8F77-0858B0CA75B3}" srcOrd="0" destOrd="0" presId="urn:microsoft.com/office/officeart/2005/8/layout/list1"/>
    <dgm:cxn modelId="{63BB0034-B6C1-411F-A77C-2A97D7DBABC9}" srcId="{22658E77-2209-4C21-A78D-66F1E61F0DFC}" destId="{85427661-8CD3-4E87-8521-A45118F5C4B3}" srcOrd="0" destOrd="0" parTransId="{434A1055-C3CD-4E8D-A867-6A5BA6ECAF44}" sibTransId="{C8678BE2-7636-4D66-A575-40384D778DC5}"/>
    <dgm:cxn modelId="{0C8C6C45-DA64-4ADB-8071-8AB08FB02FEB}" srcId="{85427661-8CD3-4E87-8521-A45118F5C4B3}" destId="{EAE3FB78-C53B-4248-83ED-192F092C00B6}" srcOrd="0" destOrd="0" parTransId="{65474B9B-8233-4E61-A4E9-198302F334F9}" sibTransId="{1F9395AB-5184-487D-A4D0-01F51F544203}"/>
    <dgm:cxn modelId="{E5EADD4F-19FA-4001-9E39-781A6391C0FE}" type="presOf" srcId="{1022ABBF-EF0E-4A25-9E63-6B0EB1F75123}" destId="{F8445D96-A8FF-4222-B64C-C079E7397B55}" srcOrd="1" destOrd="0" presId="urn:microsoft.com/office/officeart/2005/8/layout/list1"/>
    <dgm:cxn modelId="{44F3FC71-9C07-4AE7-8B00-6FD3F7CB2A39}" type="presOf" srcId="{0A15D76E-BB2D-4C11-99F6-FDA6CC511D93}" destId="{9BF2086B-FDD9-4802-B303-AC68D4F1D6B7}" srcOrd="0" destOrd="0" presId="urn:microsoft.com/office/officeart/2005/8/layout/list1"/>
    <dgm:cxn modelId="{A5EC0472-35E0-45A7-8D78-9459DD6BCE17}" type="presOf" srcId="{85427661-8CD3-4E87-8521-A45118F5C4B3}" destId="{19D34AE4-72D7-4D7F-B39E-136D9E2E4BB9}" srcOrd="1" destOrd="0" presId="urn:microsoft.com/office/officeart/2005/8/layout/list1"/>
    <dgm:cxn modelId="{AB26B577-DC6E-494C-B10A-F3DD6AB98D7A}" srcId="{1022ABBF-EF0E-4A25-9E63-6B0EB1F75123}" destId="{0A15D76E-BB2D-4C11-99F6-FDA6CC511D93}" srcOrd="0" destOrd="0" parTransId="{14E3A1C8-0330-428B-8C83-170AAB59939E}" sibTransId="{E4ACE804-F0E8-4826-81CE-9A1ACABF5BD7}"/>
    <dgm:cxn modelId="{4FB8CB7E-C1AC-4421-A82C-4F8AAAF2AADB}" type="presOf" srcId="{3E5FBB01-7124-4326-BFE0-37801AE2918D}" destId="{CBF4D8C8-A71B-4332-A1E8-BE5C7E4D69CC}" srcOrd="1" destOrd="0" presId="urn:microsoft.com/office/officeart/2005/8/layout/list1"/>
    <dgm:cxn modelId="{0F3FED7E-B648-4D55-96D8-78BA359F42F6}" srcId="{22658E77-2209-4C21-A78D-66F1E61F0DFC}" destId="{1022ABBF-EF0E-4A25-9E63-6B0EB1F75123}" srcOrd="2" destOrd="0" parTransId="{5D562149-A4DF-4171-B49F-34FC1C8CAFAE}" sibTransId="{32E65849-C1EE-4BFD-B065-7D65E0E90C77}"/>
    <dgm:cxn modelId="{85400980-ED2C-4162-8F1B-7C938DBC3E91}" type="presOf" srcId="{1022ABBF-EF0E-4A25-9E63-6B0EB1F75123}" destId="{55923DBE-8BCA-4DA8-82E7-11AD23C69F22}" srcOrd="0" destOrd="0" presId="urn:microsoft.com/office/officeart/2005/8/layout/list1"/>
    <dgm:cxn modelId="{2E0DED8F-5372-4E2C-9E45-86F68CF2180C}" srcId="{3E5FBB01-7124-4326-BFE0-37801AE2918D}" destId="{C416DC6C-1C67-4C5E-9AEA-D32E64B079F8}" srcOrd="0" destOrd="0" parTransId="{B70C8477-5142-4989-992F-BA57161C6378}" sibTransId="{5FE052E1-CAE9-4DF9-9605-81540EB53AF9}"/>
    <dgm:cxn modelId="{250E0B9A-AFBD-4D3D-9DAC-8D70FB7BA34A}" srcId="{22658E77-2209-4C21-A78D-66F1E61F0DFC}" destId="{3E5FBB01-7124-4326-BFE0-37801AE2918D}" srcOrd="1" destOrd="0" parTransId="{2A565A88-0117-4E80-B31C-6921FFC42582}" sibTransId="{6A56AD0B-3CE1-40B4-9F6B-4E584D597D25}"/>
    <dgm:cxn modelId="{FDF162D0-73AF-4C02-B9A3-AAE29BE54BD3}" type="presOf" srcId="{C416DC6C-1C67-4C5E-9AEA-D32E64B079F8}" destId="{4272998F-B756-4871-9EF7-0FAD4C75BD8A}" srcOrd="0" destOrd="0" presId="urn:microsoft.com/office/officeart/2005/8/layout/list1"/>
    <dgm:cxn modelId="{5DA73DD5-80D3-4502-BA4F-DAED26B6B8B7}" type="presOf" srcId="{22658E77-2209-4C21-A78D-66F1E61F0DFC}" destId="{856C60D1-1090-4DD1-A027-ABCC3E70D07B}" srcOrd="0" destOrd="0" presId="urn:microsoft.com/office/officeart/2005/8/layout/list1"/>
    <dgm:cxn modelId="{E3D1C0DC-403B-4C13-B639-B62E3DA62937}" type="presOf" srcId="{85427661-8CD3-4E87-8521-A45118F5C4B3}" destId="{A95B3573-23FF-4DDC-B099-A8696FCD5942}" srcOrd="0" destOrd="0" presId="urn:microsoft.com/office/officeart/2005/8/layout/list1"/>
    <dgm:cxn modelId="{417C3FFB-CC1E-44F1-A61E-E28BD4A0D30D}" type="presOf" srcId="{EAE3FB78-C53B-4248-83ED-192F092C00B6}" destId="{A0EEB91B-2380-4405-A220-AFE3DCACC64D}" srcOrd="0" destOrd="0" presId="urn:microsoft.com/office/officeart/2005/8/layout/list1"/>
    <dgm:cxn modelId="{04683708-7271-4D0A-9230-784213252E5E}" type="presParOf" srcId="{856C60D1-1090-4DD1-A027-ABCC3E70D07B}" destId="{593D23E9-E614-4411-BC33-6C707415B250}" srcOrd="0" destOrd="0" presId="urn:microsoft.com/office/officeart/2005/8/layout/list1"/>
    <dgm:cxn modelId="{5967FB58-487A-417E-BEA5-42592484D4EE}" type="presParOf" srcId="{593D23E9-E614-4411-BC33-6C707415B250}" destId="{A95B3573-23FF-4DDC-B099-A8696FCD5942}" srcOrd="0" destOrd="0" presId="urn:microsoft.com/office/officeart/2005/8/layout/list1"/>
    <dgm:cxn modelId="{B75D61E2-9950-4163-A857-0916909E67C9}" type="presParOf" srcId="{593D23E9-E614-4411-BC33-6C707415B250}" destId="{19D34AE4-72D7-4D7F-B39E-136D9E2E4BB9}" srcOrd="1" destOrd="0" presId="urn:microsoft.com/office/officeart/2005/8/layout/list1"/>
    <dgm:cxn modelId="{FD6F9FAC-F48E-4E53-B9B0-48C5A04D98A1}" type="presParOf" srcId="{856C60D1-1090-4DD1-A027-ABCC3E70D07B}" destId="{6B6B6711-C6A5-42B6-87E3-925B64E63888}" srcOrd="1" destOrd="0" presId="urn:microsoft.com/office/officeart/2005/8/layout/list1"/>
    <dgm:cxn modelId="{48A296BE-5E56-443A-8ED8-94982F2A5E30}" type="presParOf" srcId="{856C60D1-1090-4DD1-A027-ABCC3E70D07B}" destId="{A0EEB91B-2380-4405-A220-AFE3DCACC64D}" srcOrd="2" destOrd="0" presId="urn:microsoft.com/office/officeart/2005/8/layout/list1"/>
    <dgm:cxn modelId="{BEE8558D-9D75-44BB-9ABC-E802597C7BB3}" type="presParOf" srcId="{856C60D1-1090-4DD1-A027-ABCC3E70D07B}" destId="{DED8FC1B-6EEE-4A52-B4A9-5A24C3F22CF5}" srcOrd="3" destOrd="0" presId="urn:microsoft.com/office/officeart/2005/8/layout/list1"/>
    <dgm:cxn modelId="{6B96B935-EB43-4F85-B2CA-222D4DE586AA}" type="presParOf" srcId="{856C60D1-1090-4DD1-A027-ABCC3E70D07B}" destId="{E2233918-1296-4913-B848-3D82A9712B04}" srcOrd="4" destOrd="0" presId="urn:microsoft.com/office/officeart/2005/8/layout/list1"/>
    <dgm:cxn modelId="{501AD133-73AD-4360-BD67-68CBDD41772F}" type="presParOf" srcId="{E2233918-1296-4913-B848-3D82A9712B04}" destId="{6E2CFF0B-874E-4268-8F77-0858B0CA75B3}" srcOrd="0" destOrd="0" presId="urn:microsoft.com/office/officeart/2005/8/layout/list1"/>
    <dgm:cxn modelId="{6284174F-8EE7-46C7-96B6-ECB4EDCF5F16}" type="presParOf" srcId="{E2233918-1296-4913-B848-3D82A9712B04}" destId="{CBF4D8C8-A71B-4332-A1E8-BE5C7E4D69CC}" srcOrd="1" destOrd="0" presId="urn:microsoft.com/office/officeart/2005/8/layout/list1"/>
    <dgm:cxn modelId="{D07253F0-9817-4D2E-B329-E8620A2D36D1}" type="presParOf" srcId="{856C60D1-1090-4DD1-A027-ABCC3E70D07B}" destId="{434F122E-9B55-484D-8CEF-F8CAEABC281E}" srcOrd="5" destOrd="0" presId="urn:microsoft.com/office/officeart/2005/8/layout/list1"/>
    <dgm:cxn modelId="{D1CFB348-0B40-46CA-99FD-E1BBC2C3C512}" type="presParOf" srcId="{856C60D1-1090-4DD1-A027-ABCC3E70D07B}" destId="{4272998F-B756-4871-9EF7-0FAD4C75BD8A}" srcOrd="6" destOrd="0" presId="urn:microsoft.com/office/officeart/2005/8/layout/list1"/>
    <dgm:cxn modelId="{A0AD2E6E-93EF-4F69-90FE-5C5AE61F329D}" type="presParOf" srcId="{856C60D1-1090-4DD1-A027-ABCC3E70D07B}" destId="{9247F049-8906-4327-8BC6-5CDFBDBC0582}" srcOrd="7" destOrd="0" presId="urn:microsoft.com/office/officeart/2005/8/layout/list1"/>
    <dgm:cxn modelId="{19826F6C-2E17-405D-8B67-E4FCF8C723C4}" type="presParOf" srcId="{856C60D1-1090-4DD1-A027-ABCC3E70D07B}" destId="{C661BCA4-836D-4FAF-942E-464F38B1BCAF}" srcOrd="8" destOrd="0" presId="urn:microsoft.com/office/officeart/2005/8/layout/list1"/>
    <dgm:cxn modelId="{CD1A74B8-81B5-47F2-9E5C-25223B9845FB}" type="presParOf" srcId="{C661BCA4-836D-4FAF-942E-464F38B1BCAF}" destId="{55923DBE-8BCA-4DA8-82E7-11AD23C69F22}" srcOrd="0" destOrd="0" presId="urn:microsoft.com/office/officeart/2005/8/layout/list1"/>
    <dgm:cxn modelId="{CEF21E5F-20E3-4701-8B8A-B8AC3BC54A75}" type="presParOf" srcId="{C661BCA4-836D-4FAF-942E-464F38B1BCAF}" destId="{F8445D96-A8FF-4222-B64C-C079E7397B55}" srcOrd="1" destOrd="0" presId="urn:microsoft.com/office/officeart/2005/8/layout/list1"/>
    <dgm:cxn modelId="{CCFEDA1B-5384-4675-A31A-FF281D48A98B}" type="presParOf" srcId="{856C60D1-1090-4DD1-A027-ABCC3E70D07B}" destId="{0FA9477A-8C04-44D2-9BEF-EC88918DBFD4}" srcOrd="9" destOrd="0" presId="urn:microsoft.com/office/officeart/2005/8/layout/list1"/>
    <dgm:cxn modelId="{12AA52FD-E3EB-418E-A62A-4C2ABCADA9F4}" type="presParOf" srcId="{856C60D1-1090-4DD1-A027-ABCC3E70D07B}" destId="{9BF2086B-FDD9-4802-B303-AC68D4F1D6B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7FFB6F2-AC37-46FB-8918-3A20359CC460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A872FFA-C606-4336-B416-FBE21CD52850}">
      <dgm:prSet/>
      <dgm:spPr/>
      <dgm:t>
        <a:bodyPr/>
        <a:lstStyle/>
        <a:p>
          <a:r>
            <a:rPr lang="en-US" b="1"/>
            <a:t>Example Pricing</a:t>
          </a:r>
          <a:r>
            <a:rPr lang="en-US"/>
            <a:t>:</a:t>
          </a:r>
        </a:p>
      </dgm:t>
    </dgm:pt>
    <dgm:pt modelId="{8935C43C-14DF-46DB-A28B-6311F72254FF}" type="parTrans" cxnId="{FCE43E9B-6530-4A68-8152-CEF3BE1041B7}">
      <dgm:prSet/>
      <dgm:spPr/>
      <dgm:t>
        <a:bodyPr/>
        <a:lstStyle/>
        <a:p>
          <a:endParaRPr lang="en-US"/>
        </a:p>
      </dgm:t>
    </dgm:pt>
    <dgm:pt modelId="{91FE2701-1A43-49A7-A035-9424B4AD5169}" type="sibTrans" cxnId="{FCE43E9B-6530-4A68-8152-CEF3BE1041B7}">
      <dgm:prSet/>
      <dgm:spPr/>
      <dgm:t>
        <a:bodyPr/>
        <a:lstStyle/>
        <a:p>
          <a:endParaRPr lang="en-US"/>
        </a:p>
      </dgm:t>
    </dgm:pt>
    <dgm:pt modelId="{A427F22E-54C3-4445-A5C8-ECF745EFB662}">
      <dgm:prSet/>
      <dgm:spPr/>
      <dgm:t>
        <a:bodyPr/>
        <a:lstStyle/>
        <a:p>
          <a:r>
            <a:rPr lang="en-US" b="1"/>
            <a:t>MSK</a:t>
          </a:r>
          <a:r>
            <a:rPr lang="en-US"/>
            <a:t>: ~$0.10/hour per broker (3 brokers = $2,160/month).</a:t>
          </a:r>
        </a:p>
      </dgm:t>
    </dgm:pt>
    <dgm:pt modelId="{4E2A67E9-5F3A-43CA-8933-8A5BF128C7B6}" type="parTrans" cxnId="{03F4B6B9-899C-4A47-8C67-A7C92095DD03}">
      <dgm:prSet/>
      <dgm:spPr/>
      <dgm:t>
        <a:bodyPr/>
        <a:lstStyle/>
        <a:p>
          <a:endParaRPr lang="en-US"/>
        </a:p>
      </dgm:t>
    </dgm:pt>
    <dgm:pt modelId="{B46F49AB-FFB5-472C-A99F-316C3FD73FAC}" type="sibTrans" cxnId="{03F4B6B9-899C-4A47-8C67-A7C92095DD03}">
      <dgm:prSet/>
      <dgm:spPr/>
      <dgm:t>
        <a:bodyPr/>
        <a:lstStyle/>
        <a:p>
          <a:endParaRPr lang="en-US"/>
        </a:p>
      </dgm:t>
    </dgm:pt>
    <dgm:pt modelId="{373848AE-E2E0-4302-8DD0-D06BCF52B758}">
      <dgm:prSet/>
      <dgm:spPr/>
      <dgm:t>
        <a:bodyPr/>
        <a:lstStyle/>
        <a:p>
          <a:r>
            <a:rPr lang="en-US" b="1"/>
            <a:t>EKS</a:t>
          </a:r>
          <a:r>
            <a:rPr lang="en-US"/>
            <a:t>: ~$0.10/hour per node (10 nodes = $720/month).</a:t>
          </a:r>
        </a:p>
      </dgm:t>
    </dgm:pt>
    <dgm:pt modelId="{823CE214-5C3E-4632-9F99-B0B61B1B99E7}" type="parTrans" cxnId="{C658984D-8D4A-4EBD-B177-39E5E201F700}">
      <dgm:prSet/>
      <dgm:spPr/>
      <dgm:t>
        <a:bodyPr/>
        <a:lstStyle/>
        <a:p>
          <a:endParaRPr lang="en-US"/>
        </a:p>
      </dgm:t>
    </dgm:pt>
    <dgm:pt modelId="{68FBEC19-6185-4285-8BF8-F32A36402B19}" type="sibTrans" cxnId="{C658984D-8D4A-4EBD-B177-39E5E201F700}">
      <dgm:prSet/>
      <dgm:spPr/>
      <dgm:t>
        <a:bodyPr/>
        <a:lstStyle/>
        <a:p>
          <a:endParaRPr lang="en-US"/>
        </a:p>
      </dgm:t>
    </dgm:pt>
    <dgm:pt modelId="{6F2BE739-F104-41F9-83C9-36BE2A83FDBA}">
      <dgm:prSet/>
      <dgm:spPr/>
      <dgm:t>
        <a:bodyPr/>
        <a:lstStyle/>
        <a:p>
          <a:r>
            <a:rPr lang="en-US" b="1"/>
            <a:t>Savings</a:t>
          </a:r>
          <a:r>
            <a:rPr lang="en-US"/>
            <a:t>: Spot Instances for non-critical microservices.</a:t>
          </a:r>
        </a:p>
      </dgm:t>
    </dgm:pt>
    <dgm:pt modelId="{758ECE44-8B41-4AD0-959D-4238C893B3B5}" type="parTrans" cxnId="{A9BA2FAB-1DF6-482C-B446-615F3EE250DB}">
      <dgm:prSet/>
      <dgm:spPr/>
      <dgm:t>
        <a:bodyPr/>
        <a:lstStyle/>
        <a:p>
          <a:endParaRPr lang="en-US"/>
        </a:p>
      </dgm:t>
    </dgm:pt>
    <dgm:pt modelId="{6C77B8B6-EDD5-4D18-872C-DFA94D513BFC}" type="sibTrans" cxnId="{A9BA2FAB-1DF6-482C-B446-615F3EE250DB}">
      <dgm:prSet/>
      <dgm:spPr/>
      <dgm:t>
        <a:bodyPr/>
        <a:lstStyle/>
        <a:p>
          <a:endParaRPr lang="en-US"/>
        </a:p>
      </dgm:t>
    </dgm:pt>
    <dgm:pt modelId="{3465710F-6BDC-450E-ADD8-1E1F23A9A581}" type="pres">
      <dgm:prSet presAssocID="{07FFB6F2-AC37-46FB-8918-3A20359CC460}" presName="matrix" presStyleCnt="0">
        <dgm:presLayoutVars>
          <dgm:chMax val="1"/>
          <dgm:dir/>
          <dgm:resizeHandles val="exact"/>
        </dgm:presLayoutVars>
      </dgm:prSet>
      <dgm:spPr/>
    </dgm:pt>
    <dgm:pt modelId="{776ABA9B-1AE7-49D9-ABB8-5661E2EDC8F0}" type="pres">
      <dgm:prSet presAssocID="{07FFB6F2-AC37-46FB-8918-3A20359CC460}" presName="diamond" presStyleLbl="bgShp" presStyleIdx="0" presStyleCnt="1"/>
      <dgm:spPr/>
    </dgm:pt>
    <dgm:pt modelId="{2B4568FB-B9F7-4ECD-9C9B-66DD0FC80433}" type="pres">
      <dgm:prSet presAssocID="{07FFB6F2-AC37-46FB-8918-3A20359CC46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D3AE179-39C7-4702-BAC9-86AFB19EC20F}" type="pres">
      <dgm:prSet presAssocID="{07FFB6F2-AC37-46FB-8918-3A20359CC46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2CC0259-395A-4826-B09D-2E54B981BE22}" type="pres">
      <dgm:prSet presAssocID="{07FFB6F2-AC37-46FB-8918-3A20359CC46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963615A-8A0B-4F28-A3E2-336EA143D91F}" type="pres">
      <dgm:prSet presAssocID="{07FFB6F2-AC37-46FB-8918-3A20359CC46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C7A6347-80D8-4CFD-9852-DF906CFA2622}" type="presOf" srcId="{6F2BE739-F104-41F9-83C9-36BE2A83FDBA}" destId="{7963615A-8A0B-4F28-A3E2-336EA143D91F}" srcOrd="0" destOrd="0" presId="urn:microsoft.com/office/officeart/2005/8/layout/matrix3"/>
    <dgm:cxn modelId="{C658984D-8D4A-4EBD-B177-39E5E201F700}" srcId="{07FFB6F2-AC37-46FB-8918-3A20359CC460}" destId="{373848AE-E2E0-4302-8DD0-D06BCF52B758}" srcOrd="2" destOrd="0" parTransId="{823CE214-5C3E-4632-9F99-B0B61B1B99E7}" sibTransId="{68FBEC19-6185-4285-8BF8-F32A36402B19}"/>
    <dgm:cxn modelId="{BEEC0984-EB09-442A-9A52-15EC1378C4DD}" type="presOf" srcId="{A427F22E-54C3-4445-A5C8-ECF745EFB662}" destId="{5D3AE179-39C7-4702-BAC9-86AFB19EC20F}" srcOrd="0" destOrd="0" presId="urn:microsoft.com/office/officeart/2005/8/layout/matrix3"/>
    <dgm:cxn modelId="{67A09797-65DF-46C0-824E-7871B08DB20B}" type="presOf" srcId="{373848AE-E2E0-4302-8DD0-D06BCF52B758}" destId="{42CC0259-395A-4826-B09D-2E54B981BE22}" srcOrd="0" destOrd="0" presId="urn:microsoft.com/office/officeart/2005/8/layout/matrix3"/>
    <dgm:cxn modelId="{FCE43E9B-6530-4A68-8152-CEF3BE1041B7}" srcId="{07FFB6F2-AC37-46FB-8918-3A20359CC460}" destId="{4A872FFA-C606-4336-B416-FBE21CD52850}" srcOrd="0" destOrd="0" parTransId="{8935C43C-14DF-46DB-A28B-6311F72254FF}" sibTransId="{91FE2701-1A43-49A7-A035-9424B4AD5169}"/>
    <dgm:cxn modelId="{A9BA2FAB-1DF6-482C-B446-615F3EE250DB}" srcId="{07FFB6F2-AC37-46FB-8918-3A20359CC460}" destId="{6F2BE739-F104-41F9-83C9-36BE2A83FDBA}" srcOrd="3" destOrd="0" parTransId="{758ECE44-8B41-4AD0-959D-4238C893B3B5}" sibTransId="{6C77B8B6-EDD5-4D18-872C-DFA94D513BFC}"/>
    <dgm:cxn modelId="{03F4B6B9-899C-4A47-8C67-A7C92095DD03}" srcId="{07FFB6F2-AC37-46FB-8918-3A20359CC460}" destId="{A427F22E-54C3-4445-A5C8-ECF745EFB662}" srcOrd="1" destOrd="0" parTransId="{4E2A67E9-5F3A-43CA-8933-8A5BF128C7B6}" sibTransId="{B46F49AB-FFB5-472C-A99F-316C3FD73FAC}"/>
    <dgm:cxn modelId="{C7B16EC0-DB2D-4366-A993-8D93EB569776}" type="presOf" srcId="{4A872FFA-C606-4336-B416-FBE21CD52850}" destId="{2B4568FB-B9F7-4ECD-9C9B-66DD0FC80433}" srcOrd="0" destOrd="0" presId="urn:microsoft.com/office/officeart/2005/8/layout/matrix3"/>
    <dgm:cxn modelId="{A93471EF-AEFF-4892-9D6C-99151198B6C0}" type="presOf" srcId="{07FFB6F2-AC37-46FB-8918-3A20359CC460}" destId="{3465710F-6BDC-450E-ADD8-1E1F23A9A581}" srcOrd="0" destOrd="0" presId="urn:microsoft.com/office/officeart/2005/8/layout/matrix3"/>
    <dgm:cxn modelId="{260DFD94-2297-4A05-AFE3-C0BB94E79077}" type="presParOf" srcId="{3465710F-6BDC-450E-ADD8-1E1F23A9A581}" destId="{776ABA9B-1AE7-49D9-ABB8-5661E2EDC8F0}" srcOrd="0" destOrd="0" presId="urn:microsoft.com/office/officeart/2005/8/layout/matrix3"/>
    <dgm:cxn modelId="{5650F157-1FCD-4A8F-A045-EC712886C308}" type="presParOf" srcId="{3465710F-6BDC-450E-ADD8-1E1F23A9A581}" destId="{2B4568FB-B9F7-4ECD-9C9B-66DD0FC80433}" srcOrd="1" destOrd="0" presId="urn:microsoft.com/office/officeart/2005/8/layout/matrix3"/>
    <dgm:cxn modelId="{D62DE584-9230-41B6-A3BF-6D3F2179576D}" type="presParOf" srcId="{3465710F-6BDC-450E-ADD8-1E1F23A9A581}" destId="{5D3AE179-39C7-4702-BAC9-86AFB19EC20F}" srcOrd="2" destOrd="0" presId="urn:microsoft.com/office/officeart/2005/8/layout/matrix3"/>
    <dgm:cxn modelId="{AD369CAD-0FA9-4B6B-B832-75E23CB3FDEB}" type="presParOf" srcId="{3465710F-6BDC-450E-ADD8-1E1F23A9A581}" destId="{42CC0259-395A-4826-B09D-2E54B981BE22}" srcOrd="3" destOrd="0" presId="urn:microsoft.com/office/officeart/2005/8/layout/matrix3"/>
    <dgm:cxn modelId="{B0F41CFB-CDB5-4605-B21C-6BBDE14F74AB}" type="presParOf" srcId="{3465710F-6BDC-450E-ADD8-1E1F23A9A581}" destId="{7963615A-8A0B-4F28-A3E2-336EA143D91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3655E06-DB13-4921-9301-8F88F376A7B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DF1FF8A-833A-4B16-86CC-F2233E0166A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Timeline</a:t>
          </a:r>
          <a:r>
            <a:rPr lang="en-US"/>
            <a:t>:</a:t>
          </a:r>
        </a:p>
      </dgm:t>
    </dgm:pt>
    <dgm:pt modelId="{6680D1D4-D6E6-4840-90AA-BFACC2FA8A45}" type="parTrans" cxnId="{341DE973-6CCF-4BCB-AA8A-2A8942DC35AD}">
      <dgm:prSet/>
      <dgm:spPr/>
      <dgm:t>
        <a:bodyPr/>
        <a:lstStyle/>
        <a:p>
          <a:endParaRPr lang="en-US"/>
        </a:p>
      </dgm:t>
    </dgm:pt>
    <dgm:pt modelId="{5DFDE1F9-6919-4696-AE98-5EA974667936}" type="sibTrans" cxnId="{341DE973-6CCF-4BCB-AA8A-2A8942DC35A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7C12F87-BC47-433C-A0D6-5581186E8B1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Week 1-2</a:t>
          </a:r>
          <a:r>
            <a:rPr lang="en-US"/>
            <a:t>: PoC (MSK + 1 microservice).</a:t>
          </a:r>
        </a:p>
      </dgm:t>
    </dgm:pt>
    <dgm:pt modelId="{0F9B3A6C-D45E-4F9B-A30B-6039D528FEA1}" type="parTrans" cxnId="{88723B40-A081-4E7E-87DB-32DF056D794C}">
      <dgm:prSet/>
      <dgm:spPr/>
      <dgm:t>
        <a:bodyPr/>
        <a:lstStyle/>
        <a:p>
          <a:endParaRPr lang="en-US"/>
        </a:p>
      </dgm:t>
    </dgm:pt>
    <dgm:pt modelId="{A52F53BB-849A-4667-8D4C-9D122093947B}" type="sibTrans" cxnId="{88723B40-A081-4E7E-87DB-32DF056D794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D62495E-9F40-4FCE-B7BA-86A7DB5BEB3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Week 3-4</a:t>
          </a:r>
          <a:r>
            <a:rPr lang="en-US"/>
            <a:t>: Full deployment + load testing.</a:t>
          </a:r>
        </a:p>
      </dgm:t>
    </dgm:pt>
    <dgm:pt modelId="{B5273EAB-D394-4CC8-A6E9-456725E38DCE}" type="parTrans" cxnId="{1CF6D678-C0EF-4375-A906-06CCDC8D7264}">
      <dgm:prSet/>
      <dgm:spPr/>
      <dgm:t>
        <a:bodyPr/>
        <a:lstStyle/>
        <a:p>
          <a:endParaRPr lang="en-US"/>
        </a:p>
      </dgm:t>
    </dgm:pt>
    <dgm:pt modelId="{118B8AF9-A99C-4D10-A3C4-0A829940F380}" type="sibTrans" cxnId="{1CF6D678-C0EF-4375-A906-06CCDC8D726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BC08E11-FF66-4864-B747-D8252D658F4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Week 5</a:t>
          </a:r>
          <a:r>
            <a:rPr lang="en-US"/>
            <a:t>: Go-live with rollback plan.</a:t>
          </a:r>
        </a:p>
      </dgm:t>
    </dgm:pt>
    <dgm:pt modelId="{627E088D-DEC5-4F89-9057-854480AEE987}" type="parTrans" cxnId="{FD5123C5-8A00-48CB-A29F-95557986F2B3}">
      <dgm:prSet/>
      <dgm:spPr/>
      <dgm:t>
        <a:bodyPr/>
        <a:lstStyle/>
        <a:p>
          <a:endParaRPr lang="en-US"/>
        </a:p>
      </dgm:t>
    </dgm:pt>
    <dgm:pt modelId="{57C4A347-037A-4D6C-95DB-B20552D85567}" type="sibTrans" cxnId="{FD5123C5-8A00-48CB-A29F-95557986F2B3}">
      <dgm:prSet/>
      <dgm:spPr/>
      <dgm:t>
        <a:bodyPr/>
        <a:lstStyle/>
        <a:p>
          <a:endParaRPr lang="en-US"/>
        </a:p>
      </dgm:t>
    </dgm:pt>
    <dgm:pt modelId="{92ABCB13-AF3E-42DC-A33F-1EB634CFDD69}" type="pres">
      <dgm:prSet presAssocID="{B3655E06-DB13-4921-9301-8F88F376A7BB}" presName="outerComposite" presStyleCnt="0">
        <dgm:presLayoutVars>
          <dgm:chMax val="5"/>
          <dgm:dir/>
          <dgm:resizeHandles val="exact"/>
        </dgm:presLayoutVars>
      </dgm:prSet>
      <dgm:spPr/>
    </dgm:pt>
    <dgm:pt modelId="{E77C75FC-80C4-46D5-BB25-A70519C9498A}" type="pres">
      <dgm:prSet presAssocID="{B3655E06-DB13-4921-9301-8F88F376A7BB}" presName="dummyMaxCanvas" presStyleCnt="0">
        <dgm:presLayoutVars/>
      </dgm:prSet>
      <dgm:spPr/>
    </dgm:pt>
    <dgm:pt modelId="{9925A7BA-B8B1-4676-BC2D-6EAF266CD10B}" type="pres">
      <dgm:prSet presAssocID="{B3655E06-DB13-4921-9301-8F88F376A7BB}" presName="FourNodes_1" presStyleLbl="node1" presStyleIdx="0" presStyleCnt="4">
        <dgm:presLayoutVars>
          <dgm:bulletEnabled val="1"/>
        </dgm:presLayoutVars>
      </dgm:prSet>
      <dgm:spPr/>
    </dgm:pt>
    <dgm:pt modelId="{D5C8E820-4479-4827-944F-890915F93169}" type="pres">
      <dgm:prSet presAssocID="{B3655E06-DB13-4921-9301-8F88F376A7BB}" presName="FourNodes_2" presStyleLbl="node1" presStyleIdx="1" presStyleCnt="4">
        <dgm:presLayoutVars>
          <dgm:bulletEnabled val="1"/>
        </dgm:presLayoutVars>
      </dgm:prSet>
      <dgm:spPr/>
    </dgm:pt>
    <dgm:pt modelId="{E8FD5D9F-613C-4CDB-A874-60EFDE3BF5F0}" type="pres">
      <dgm:prSet presAssocID="{B3655E06-DB13-4921-9301-8F88F376A7BB}" presName="FourNodes_3" presStyleLbl="node1" presStyleIdx="2" presStyleCnt="4">
        <dgm:presLayoutVars>
          <dgm:bulletEnabled val="1"/>
        </dgm:presLayoutVars>
      </dgm:prSet>
      <dgm:spPr/>
    </dgm:pt>
    <dgm:pt modelId="{12A551D3-F6B1-4FB3-89DA-DDCFB35FCDCF}" type="pres">
      <dgm:prSet presAssocID="{B3655E06-DB13-4921-9301-8F88F376A7BB}" presName="FourNodes_4" presStyleLbl="node1" presStyleIdx="3" presStyleCnt="4">
        <dgm:presLayoutVars>
          <dgm:bulletEnabled val="1"/>
        </dgm:presLayoutVars>
      </dgm:prSet>
      <dgm:spPr/>
    </dgm:pt>
    <dgm:pt modelId="{1E5D4FC2-D59C-4B96-A937-1BABBC3D0A89}" type="pres">
      <dgm:prSet presAssocID="{B3655E06-DB13-4921-9301-8F88F376A7BB}" presName="FourConn_1-2" presStyleLbl="fgAccFollowNode1" presStyleIdx="0" presStyleCnt="3">
        <dgm:presLayoutVars>
          <dgm:bulletEnabled val="1"/>
        </dgm:presLayoutVars>
      </dgm:prSet>
      <dgm:spPr/>
    </dgm:pt>
    <dgm:pt modelId="{953F1393-1045-424B-8BB8-30B7123B952B}" type="pres">
      <dgm:prSet presAssocID="{B3655E06-DB13-4921-9301-8F88F376A7BB}" presName="FourConn_2-3" presStyleLbl="fgAccFollowNode1" presStyleIdx="1" presStyleCnt="3">
        <dgm:presLayoutVars>
          <dgm:bulletEnabled val="1"/>
        </dgm:presLayoutVars>
      </dgm:prSet>
      <dgm:spPr/>
    </dgm:pt>
    <dgm:pt modelId="{DD4CA35B-31D3-44D1-831D-F5017A73409D}" type="pres">
      <dgm:prSet presAssocID="{B3655E06-DB13-4921-9301-8F88F376A7BB}" presName="FourConn_3-4" presStyleLbl="fgAccFollowNode1" presStyleIdx="2" presStyleCnt="3">
        <dgm:presLayoutVars>
          <dgm:bulletEnabled val="1"/>
        </dgm:presLayoutVars>
      </dgm:prSet>
      <dgm:spPr/>
    </dgm:pt>
    <dgm:pt modelId="{759979AA-80E8-4607-BAD7-202693338DFE}" type="pres">
      <dgm:prSet presAssocID="{B3655E06-DB13-4921-9301-8F88F376A7BB}" presName="FourNodes_1_text" presStyleLbl="node1" presStyleIdx="3" presStyleCnt="4">
        <dgm:presLayoutVars>
          <dgm:bulletEnabled val="1"/>
        </dgm:presLayoutVars>
      </dgm:prSet>
      <dgm:spPr/>
    </dgm:pt>
    <dgm:pt modelId="{58F13189-4784-4BD6-8409-B8502C6A27A6}" type="pres">
      <dgm:prSet presAssocID="{B3655E06-DB13-4921-9301-8F88F376A7BB}" presName="FourNodes_2_text" presStyleLbl="node1" presStyleIdx="3" presStyleCnt="4">
        <dgm:presLayoutVars>
          <dgm:bulletEnabled val="1"/>
        </dgm:presLayoutVars>
      </dgm:prSet>
      <dgm:spPr/>
    </dgm:pt>
    <dgm:pt modelId="{410E858F-16FC-4389-B919-0C3AE15CBF63}" type="pres">
      <dgm:prSet presAssocID="{B3655E06-DB13-4921-9301-8F88F376A7BB}" presName="FourNodes_3_text" presStyleLbl="node1" presStyleIdx="3" presStyleCnt="4">
        <dgm:presLayoutVars>
          <dgm:bulletEnabled val="1"/>
        </dgm:presLayoutVars>
      </dgm:prSet>
      <dgm:spPr/>
    </dgm:pt>
    <dgm:pt modelId="{89E11977-C230-4522-BF4D-31321CD5844C}" type="pres">
      <dgm:prSet presAssocID="{B3655E06-DB13-4921-9301-8F88F376A7B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F959908-4E8C-4DA5-A0CE-A53A123E0DD2}" type="presOf" srcId="{118B8AF9-A99C-4D10-A3C4-0A829940F380}" destId="{DD4CA35B-31D3-44D1-831D-F5017A73409D}" srcOrd="0" destOrd="0" presId="urn:microsoft.com/office/officeart/2005/8/layout/vProcess5"/>
    <dgm:cxn modelId="{5111911A-E3B0-415B-AED7-A0F20802A63F}" type="presOf" srcId="{47C12F87-BC47-433C-A0D6-5581186E8B18}" destId="{D5C8E820-4479-4827-944F-890915F93169}" srcOrd="0" destOrd="0" presId="urn:microsoft.com/office/officeart/2005/8/layout/vProcess5"/>
    <dgm:cxn modelId="{02574825-DDDF-4EB4-99EE-A2AEA2683F94}" type="presOf" srcId="{B3655E06-DB13-4921-9301-8F88F376A7BB}" destId="{92ABCB13-AF3E-42DC-A33F-1EB634CFDD69}" srcOrd="0" destOrd="0" presId="urn:microsoft.com/office/officeart/2005/8/layout/vProcess5"/>
    <dgm:cxn modelId="{829B5828-31D6-4240-8F34-828A32471A66}" type="presOf" srcId="{DDF1FF8A-833A-4B16-86CC-F2233E0166AB}" destId="{9925A7BA-B8B1-4676-BC2D-6EAF266CD10B}" srcOrd="0" destOrd="0" presId="urn:microsoft.com/office/officeart/2005/8/layout/vProcess5"/>
    <dgm:cxn modelId="{40529631-E899-4780-B228-7CB07DAAA353}" type="presOf" srcId="{47C12F87-BC47-433C-A0D6-5581186E8B18}" destId="{58F13189-4784-4BD6-8409-B8502C6A27A6}" srcOrd="1" destOrd="0" presId="urn:microsoft.com/office/officeart/2005/8/layout/vProcess5"/>
    <dgm:cxn modelId="{88723B40-A081-4E7E-87DB-32DF056D794C}" srcId="{B3655E06-DB13-4921-9301-8F88F376A7BB}" destId="{47C12F87-BC47-433C-A0D6-5581186E8B18}" srcOrd="1" destOrd="0" parTransId="{0F9B3A6C-D45E-4F9B-A30B-6039D528FEA1}" sibTransId="{A52F53BB-849A-4667-8D4C-9D122093947B}"/>
    <dgm:cxn modelId="{A468A171-FDC7-47C1-9E7A-000E84CDC3BD}" type="presOf" srcId="{A52F53BB-849A-4667-8D4C-9D122093947B}" destId="{953F1393-1045-424B-8BB8-30B7123B952B}" srcOrd="0" destOrd="0" presId="urn:microsoft.com/office/officeart/2005/8/layout/vProcess5"/>
    <dgm:cxn modelId="{341DE973-6CCF-4BCB-AA8A-2A8942DC35AD}" srcId="{B3655E06-DB13-4921-9301-8F88F376A7BB}" destId="{DDF1FF8A-833A-4B16-86CC-F2233E0166AB}" srcOrd="0" destOrd="0" parTransId="{6680D1D4-D6E6-4840-90AA-BFACC2FA8A45}" sibTransId="{5DFDE1F9-6919-4696-AE98-5EA974667936}"/>
    <dgm:cxn modelId="{1CF6D678-C0EF-4375-A906-06CCDC8D7264}" srcId="{B3655E06-DB13-4921-9301-8F88F376A7BB}" destId="{1D62495E-9F40-4FCE-B7BA-86A7DB5BEB34}" srcOrd="2" destOrd="0" parTransId="{B5273EAB-D394-4CC8-A6E9-456725E38DCE}" sibTransId="{118B8AF9-A99C-4D10-A3C4-0A829940F380}"/>
    <dgm:cxn modelId="{ED3FF682-7849-4DCD-9D52-D4BBD989206D}" type="presOf" srcId="{1D62495E-9F40-4FCE-B7BA-86A7DB5BEB34}" destId="{410E858F-16FC-4389-B919-0C3AE15CBF63}" srcOrd="1" destOrd="0" presId="urn:microsoft.com/office/officeart/2005/8/layout/vProcess5"/>
    <dgm:cxn modelId="{9D5F1BB4-B837-433D-84EF-75E2A1109C98}" type="presOf" srcId="{8BC08E11-FF66-4864-B747-D8252D658F48}" destId="{89E11977-C230-4522-BF4D-31321CD5844C}" srcOrd="1" destOrd="0" presId="urn:microsoft.com/office/officeart/2005/8/layout/vProcess5"/>
    <dgm:cxn modelId="{FD5123C5-8A00-48CB-A29F-95557986F2B3}" srcId="{B3655E06-DB13-4921-9301-8F88F376A7BB}" destId="{8BC08E11-FF66-4864-B747-D8252D658F48}" srcOrd="3" destOrd="0" parTransId="{627E088D-DEC5-4F89-9057-854480AEE987}" sibTransId="{57C4A347-037A-4D6C-95DB-B20552D85567}"/>
    <dgm:cxn modelId="{AAF84CE0-FDEA-4852-A5FB-6D97F903CB9F}" type="presOf" srcId="{DDF1FF8A-833A-4B16-86CC-F2233E0166AB}" destId="{759979AA-80E8-4607-BAD7-202693338DFE}" srcOrd="1" destOrd="0" presId="urn:microsoft.com/office/officeart/2005/8/layout/vProcess5"/>
    <dgm:cxn modelId="{AB8556EB-8338-4BC9-BF79-56AFE7774419}" type="presOf" srcId="{5DFDE1F9-6919-4696-AE98-5EA974667936}" destId="{1E5D4FC2-D59C-4B96-A937-1BABBC3D0A89}" srcOrd="0" destOrd="0" presId="urn:microsoft.com/office/officeart/2005/8/layout/vProcess5"/>
    <dgm:cxn modelId="{5B5A00F8-449F-47B9-AA95-7FB0F460A268}" type="presOf" srcId="{1D62495E-9F40-4FCE-B7BA-86A7DB5BEB34}" destId="{E8FD5D9F-613C-4CDB-A874-60EFDE3BF5F0}" srcOrd="0" destOrd="0" presId="urn:microsoft.com/office/officeart/2005/8/layout/vProcess5"/>
    <dgm:cxn modelId="{DA19B3F8-9E5D-4C89-B961-73C27B152586}" type="presOf" srcId="{8BC08E11-FF66-4864-B747-D8252D658F48}" destId="{12A551D3-F6B1-4FB3-89DA-DDCFB35FCDCF}" srcOrd="0" destOrd="0" presId="urn:microsoft.com/office/officeart/2005/8/layout/vProcess5"/>
    <dgm:cxn modelId="{B54E1670-92A7-48CB-911C-9C88F3E4D6F0}" type="presParOf" srcId="{92ABCB13-AF3E-42DC-A33F-1EB634CFDD69}" destId="{E77C75FC-80C4-46D5-BB25-A70519C9498A}" srcOrd="0" destOrd="0" presId="urn:microsoft.com/office/officeart/2005/8/layout/vProcess5"/>
    <dgm:cxn modelId="{2D503437-6B80-4AAA-AF89-139D13E4CD14}" type="presParOf" srcId="{92ABCB13-AF3E-42DC-A33F-1EB634CFDD69}" destId="{9925A7BA-B8B1-4676-BC2D-6EAF266CD10B}" srcOrd="1" destOrd="0" presId="urn:microsoft.com/office/officeart/2005/8/layout/vProcess5"/>
    <dgm:cxn modelId="{89E0585D-FF2B-4C96-90FD-9B2FDC592050}" type="presParOf" srcId="{92ABCB13-AF3E-42DC-A33F-1EB634CFDD69}" destId="{D5C8E820-4479-4827-944F-890915F93169}" srcOrd="2" destOrd="0" presId="urn:microsoft.com/office/officeart/2005/8/layout/vProcess5"/>
    <dgm:cxn modelId="{E2DCA7FC-EFAF-44F5-9EC4-3D58BE0C6464}" type="presParOf" srcId="{92ABCB13-AF3E-42DC-A33F-1EB634CFDD69}" destId="{E8FD5D9F-613C-4CDB-A874-60EFDE3BF5F0}" srcOrd="3" destOrd="0" presId="urn:microsoft.com/office/officeart/2005/8/layout/vProcess5"/>
    <dgm:cxn modelId="{05167DC0-0FFF-4F08-A2AB-5E2F5E1BBE26}" type="presParOf" srcId="{92ABCB13-AF3E-42DC-A33F-1EB634CFDD69}" destId="{12A551D3-F6B1-4FB3-89DA-DDCFB35FCDCF}" srcOrd="4" destOrd="0" presId="urn:microsoft.com/office/officeart/2005/8/layout/vProcess5"/>
    <dgm:cxn modelId="{372B3F56-B3C3-4D3B-B165-0E75B135A0F8}" type="presParOf" srcId="{92ABCB13-AF3E-42DC-A33F-1EB634CFDD69}" destId="{1E5D4FC2-D59C-4B96-A937-1BABBC3D0A89}" srcOrd="5" destOrd="0" presId="urn:microsoft.com/office/officeart/2005/8/layout/vProcess5"/>
    <dgm:cxn modelId="{8432CE3B-CD44-445E-81A2-1B55C60FFC39}" type="presParOf" srcId="{92ABCB13-AF3E-42DC-A33F-1EB634CFDD69}" destId="{953F1393-1045-424B-8BB8-30B7123B952B}" srcOrd="6" destOrd="0" presId="urn:microsoft.com/office/officeart/2005/8/layout/vProcess5"/>
    <dgm:cxn modelId="{4D7ADD32-8C41-448F-8862-FC0F08C3B48F}" type="presParOf" srcId="{92ABCB13-AF3E-42DC-A33F-1EB634CFDD69}" destId="{DD4CA35B-31D3-44D1-831D-F5017A73409D}" srcOrd="7" destOrd="0" presId="urn:microsoft.com/office/officeart/2005/8/layout/vProcess5"/>
    <dgm:cxn modelId="{C18C0C80-5294-4A2C-99F8-892B4B3E1B88}" type="presParOf" srcId="{92ABCB13-AF3E-42DC-A33F-1EB634CFDD69}" destId="{759979AA-80E8-4607-BAD7-202693338DFE}" srcOrd="8" destOrd="0" presId="urn:microsoft.com/office/officeart/2005/8/layout/vProcess5"/>
    <dgm:cxn modelId="{BFBA0204-D175-413C-914A-89A46624F556}" type="presParOf" srcId="{92ABCB13-AF3E-42DC-A33F-1EB634CFDD69}" destId="{58F13189-4784-4BD6-8409-B8502C6A27A6}" srcOrd="9" destOrd="0" presId="urn:microsoft.com/office/officeart/2005/8/layout/vProcess5"/>
    <dgm:cxn modelId="{B311FFC4-9B65-4AB3-AFA4-108F7E471107}" type="presParOf" srcId="{92ABCB13-AF3E-42DC-A33F-1EB634CFDD69}" destId="{410E858F-16FC-4389-B919-0C3AE15CBF63}" srcOrd="10" destOrd="0" presId="urn:microsoft.com/office/officeart/2005/8/layout/vProcess5"/>
    <dgm:cxn modelId="{48DCACA3-FA37-41DD-9B20-150948C83381}" type="presParOf" srcId="{92ABCB13-AF3E-42DC-A33F-1EB634CFDD69}" destId="{89E11977-C230-4522-BF4D-31321CD5844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18EBC93-E4AD-4452-AB82-38BDE1496829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65A262-9C62-449E-AB36-7A7D7617E930}">
      <dgm:prSet phldr="0"/>
      <dgm:spPr/>
      <dgm:t>
        <a:bodyPr/>
        <a:lstStyle/>
        <a:p>
          <a:pPr rtl="0"/>
          <a:r>
            <a:rPr lang="en-US" b="1"/>
            <a:t>Kafka</a:t>
          </a:r>
          <a:r>
            <a:rPr lang="en-US"/>
            <a:t> as the backbone for 100K+ TPS trade ingestion.</a:t>
          </a:r>
          <a:endParaRPr lang="en-US">
            <a:latin typeface="Aptos Display" panose="020F0302020204030204"/>
          </a:endParaRPr>
        </a:p>
      </dgm:t>
    </dgm:pt>
    <dgm:pt modelId="{707A13A7-D49F-4EBA-8DB4-4059D5FC0964}" type="parTrans" cxnId="{140A7A47-152F-42A4-A4FC-ED0418F3ECED}">
      <dgm:prSet/>
      <dgm:spPr/>
    </dgm:pt>
    <dgm:pt modelId="{D770E656-D28F-4CA5-AFEB-30BF8B837275}" type="sibTrans" cxnId="{140A7A47-152F-42A4-A4FC-ED0418F3ECED}">
      <dgm:prSet/>
      <dgm:spPr/>
    </dgm:pt>
    <dgm:pt modelId="{8965037D-2588-4422-9B69-C80105731D48}">
      <dgm:prSet phldr="0"/>
      <dgm:spPr/>
      <dgm:t>
        <a:bodyPr/>
        <a:lstStyle/>
        <a:p>
          <a:r>
            <a:rPr lang="en-US" b="1"/>
            <a:t>Spring Boot</a:t>
          </a:r>
          <a:r>
            <a:rPr lang="en-US"/>
            <a:t> microservices for atomic scaling (e.g., risk checks during volatility).</a:t>
          </a:r>
        </a:p>
      </dgm:t>
    </dgm:pt>
    <dgm:pt modelId="{05AF074D-308D-4FF9-87F1-F9B71B0D712B}" type="parTrans" cxnId="{ED54F2F6-A921-4F78-9585-405F0BF91D4B}">
      <dgm:prSet/>
      <dgm:spPr/>
    </dgm:pt>
    <dgm:pt modelId="{3CD1453E-F930-4B50-8120-DE50D90215C9}" type="sibTrans" cxnId="{ED54F2F6-A921-4F78-9585-405F0BF91D4B}">
      <dgm:prSet/>
      <dgm:spPr/>
    </dgm:pt>
    <dgm:pt modelId="{9430AE88-F9FA-4D97-85F7-04D893C31B52}">
      <dgm:prSet phldr="0"/>
      <dgm:spPr/>
      <dgm:t>
        <a:bodyPr/>
        <a:lstStyle/>
        <a:p>
          <a:r>
            <a:rPr lang="en-US" b="1"/>
            <a:t>Hyperledger/RTGS</a:t>
          </a:r>
          <a:r>
            <a:rPr lang="en-US"/>
            <a:t> for immutable settlement (DvP).</a:t>
          </a:r>
        </a:p>
      </dgm:t>
    </dgm:pt>
    <dgm:pt modelId="{C433AA62-BA8E-41B5-8EBD-830D2B46AC2A}" type="parTrans" cxnId="{4507285C-19A0-4182-AEFE-66F4A3129DC1}">
      <dgm:prSet/>
      <dgm:spPr/>
    </dgm:pt>
    <dgm:pt modelId="{7BDE6C79-6D78-464B-ABCA-269B5F575A1B}" type="sibTrans" cxnId="{4507285C-19A0-4182-AEFE-66F4A3129DC1}">
      <dgm:prSet/>
      <dgm:spPr/>
    </dgm:pt>
    <dgm:pt modelId="{5D45784E-9295-4C4F-BF3A-A23850C8069E}">
      <dgm:prSet phldr="0"/>
      <dgm:spPr/>
      <dgm:t>
        <a:bodyPr/>
        <a:lstStyle/>
        <a:p>
          <a:r>
            <a:rPr lang="en-US" b="1"/>
            <a:t>DLQ + Retry</a:t>
          </a:r>
          <a:r>
            <a:rPr lang="en-US"/>
            <a:t> ensures 99.99% SLA even during outages.</a:t>
          </a:r>
        </a:p>
      </dgm:t>
    </dgm:pt>
    <dgm:pt modelId="{90F6D721-7883-4C5C-A75C-03FF8E72B337}" type="parTrans" cxnId="{DB7BE74C-6902-4593-8FBF-CEF9F1A4ABC8}">
      <dgm:prSet/>
      <dgm:spPr/>
    </dgm:pt>
    <dgm:pt modelId="{E130E4F0-152B-47A1-A2AB-84E19E810D03}" type="sibTrans" cxnId="{DB7BE74C-6902-4593-8FBF-CEF9F1A4ABC8}">
      <dgm:prSet/>
      <dgm:spPr/>
    </dgm:pt>
    <dgm:pt modelId="{7425D9EA-E43A-493D-B9DB-EC0AC075C186}" type="pres">
      <dgm:prSet presAssocID="{718EBC93-E4AD-4452-AB82-38BDE1496829}" presName="linear" presStyleCnt="0">
        <dgm:presLayoutVars>
          <dgm:animLvl val="lvl"/>
          <dgm:resizeHandles val="exact"/>
        </dgm:presLayoutVars>
      </dgm:prSet>
      <dgm:spPr/>
    </dgm:pt>
    <dgm:pt modelId="{F17F429A-D4A9-4187-B8B4-193B51C6D2FF}" type="pres">
      <dgm:prSet presAssocID="{8265A262-9C62-449E-AB36-7A7D7617E93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466D2D7-561A-404B-8389-ADC021AA5D4E}" type="pres">
      <dgm:prSet presAssocID="{D770E656-D28F-4CA5-AFEB-30BF8B837275}" presName="spacer" presStyleCnt="0"/>
      <dgm:spPr/>
    </dgm:pt>
    <dgm:pt modelId="{499C6F6A-72CC-4133-AA4D-A6251162EB70}" type="pres">
      <dgm:prSet presAssocID="{8965037D-2588-4422-9B69-C80105731D4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771DC57-7451-4CA9-A268-F3EB332DE7B3}" type="pres">
      <dgm:prSet presAssocID="{3CD1453E-F930-4B50-8120-DE50D90215C9}" presName="spacer" presStyleCnt="0"/>
      <dgm:spPr/>
    </dgm:pt>
    <dgm:pt modelId="{8FA1C617-79A1-4075-B3BF-A36D72F0AB0D}" type="pres">
      <dgm:prSet presAssocID="{9430AE88-F9FA-4D97-85F7-04D893C31B5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0C9DB8B-E400-4FE6-A8D4-0F954F2109FF}" type="pres">
      <dgm:prSet presAssocID="{7BDE6C79-6D78-464B-ABCA-269B5F575A1B}" presName="spacer" presStyleCnt="0"/>
      <dgm:spPr/>
    </dgm:pt>
    <dgm:pt modelId="{44CC8E41-11C9-4C65-A098-40683190111D}" type="pres">
      <dgm:prSet presAssocID="{5D45784E-9295-4C4F-BF3A-A23850C8069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E98C61A-EC4C-43BE-83C7-1AC98FA3442F}" type="presOf" srcId="{8965037D-2588-4422-9B69-C80105731D48}" destId="{499C6F6A-72CC-4133-AA4D-A6251162EB70}" srcOrd="0" destOrd="0" presId="urn:microsoft.com/office/officeart/2005/8/layout/vList2"/>
    <dgm:cxn modelId="{4507285C-19A0-4182-AEFE-66F4A3129DC1}" srcId="{718EBC93-E4AD-4452-AB82-38BDE1496829}" destId="{9430AE88-F9FA-4D97-85F7-04D893C31B52}" srcOrd="2" destOrd="0" parTransId="{C433AA62-BA8E-41B5-8EBD-830D2B46AC2A}" sibTransId="{7BDE6C79-6D78-464B-ABCA-269B5F575A1B}"/>
    <dgm:cxn modelId="{1065B541-663A-4719-BD01-4FAACA930341}" type="presOf" srcId="{9430AE88-F9FA-4D97-85F7-04D893C31B52}" destId="{8FA1C617-79A1-4075-B3BF-A36D72F0AB0D}" srcOrd="0" destOrd="0" presId="urn:microsoft.com/office/officeart/2005/8/layout/vList2"/>
    <dgm:cxn modelId="{140A7A47-152F-42A4-A4FC-ED0418F3ECED}" srcId="{718EBC93-E4AD-4452-AB82-38BDE1496829}" destId="{8265A262-9C62-449E-AB36-7A7D7617E930}" srcOrd="0" destOrd="0" parTransId="{707A13A7-D49F-4EBA-8DB4-4059D5FC0964}" sibTransId="{D770E656-D28F-4CA5-AFEB-30BF8B837275}"/>
    <dgm:cxn modelId="{DB7BE74C-6902-4593-8FBF-CEF9F1A4ABC8}" srcId="{718EBC93-E4AD-4452-AB82-38BDE1496829}" destId="{5D45784E-9295-4C4F-BF3A-A23850C8069E}" srcOrd="3" destOrd="0" parTransId="{90F6D721-7883-4C5C-A75C-03FF8E72B337}" sibTransId="{E130E4F0-152B-47A1-A2AB-84E19E810D03}"/>
    <dgm:cxn modelId="{D836E398-BF87-4E3E-B1B8-2DC10AB136BD}" type="presOf" srcId="{8265A262-9C62-449E-AB36-7A7D7617E930}" destId="{F17F429A-D4A9-4187-B8B4-193B51C6D2FF}" srcOrd="0" destOrd="0" presId="urn:microsoft.com/office/officeart/2005/8/layout/vList2"/>
    <dgm:cxn modelId="{BB22BDB0-6874-439C-9E19-1DFABC234D3A}" type="presOf" srcId="{718EBC93-E4AD-4452-AB82-38BDE1496829}" destId="{7425D9EA-E43A-493D-B9DB-EC0AC075C186}" srcOrd="0" destOrd="0" presId="urn:microsoft.com/office/officeart/2005/8/layout/vList2"/>
    <dgm:cxn modelId="{7F1C35C7-B40E-4873-9B23-BE76C352A8A9}" type="presOf" srcId="{5D45784E-9295-4C4F-BF3A-A23850C8069E}" destId="{44CC8E41-11C9-4C65-A098-40683190111D}" srcOrd="0" destOrd="0" presId="urn:microsoft.com/office/officeart/2005/8/layout/vList2"/>
    <dgm:cxn modelId="{ED54F2F6-A921-4F78-9585-405F0BF91D4B}" srcId="{718EBC93-E4AD-4452-AB82-38BDE1496829}" destId="{8965037D-2588-4422-9B69-C80105731D48}" srcOrd="1" destOrd="0" parTransId="{05AF074D-308D-4FF9-87F1-F9B71B0D712B}" sibTransId="{3CD1453E-F930-4B50-8120-DE50D90215C9}"/>
    <dgm:cxn modelId="{01BB30E7-A415-466B-9169-AFE1C4E1068B}" type="presParOf" srcId="{7425D9EA-E43A-493D-B9DB-EC0AC075C186}" destId="{F17F429A-D4A9-4187-B8B4-193B51C6D2FF}" srcOrd="0" destOrd="0" presId="urn:microsoft.com/office/officeart/2005/8/layout/vList2"/>
    <dgm:cxn modelId="{7DA2A489-D439-469D-9702-EBD4093BE954}" type="presParOf" srcId="{7425D9EA-E43A-493D-B9DB-EC0AC075C186}" destId="{1466D2D7-561A-404B-8389-ADC021AA5D4E}" srcOrd="1" destOrd="0" presId="urn:microsoft.com/office/officeart/2005/8/layout/vList2"/>
    <dgm:cxn modelId="{BF7825DE-6E15-4203-B13F-422146F2C6CA}" type="presParOf" srcId="{7425D9EA-E43A-493D-B9DB-EC0AC075C186}" destId="{499C6F6A-72CC-4133-AA4D-A6251162EB70}" srcOrd="2" destOrd="0" presId="urn:microsoft.com/office/officeart/2005/8/layout/vList2"/>
    <dgm:cxn modelId="{AEDE70E3-B9B3-4B6C-B669-B2E5C1B5B843}" type="presParOf" srcId="{7425D9EA-E43A-493D-B9DB-EC0AC075C186}" destId="{F771DC57-7451-4CA9-A268-F3EB332DE7B3}" srcOrd="3" destOrd="0" presId="urn:microsoft.com/office/officeart/2005/8/layout/vList2"/>
    <dgm:cxn modelId="{27B0FD75-1235-40A0-A30E-FAF9B432BAD3}" type="presParOf" srcId="{7425D9EA-E43A-493D-B9DB-EC0AC075C186}" destId="{8FA1C617-79A1-4075-B3BF-A36D72F0AB0D}" srcOrd="4" destOrd="0" presId="urn:microsoft.com/office/officeart/2005/8/layout/vList2"/>
    <dgm:cxn modelId="{26366DB5-A358-441E-AEF5-E8FEE1151CA4}" type="presParOf" srcId="{7425D9EA-E43A-493D-B9DB-EC0AC075C186}" destId="{E0C9DB8B-E400-4FE6-A8D4-0F954F2109FF}" srcOrd="5" destOrd="0" presId="urn:microsoft.com/office/officeart/2005/8/layout/vList2"/>
    <dgm:cxn modelId="{D0F2367F-CFAF-4397-9AF0-F31256449745}" type="presParOf" srcId="{7425D9EA-E43A-493D-B9DB-EC0AC075C186}" destId="{44CC8E41-11C9-4C65-A098-40683190111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F8CB47-1CC2-4B52-914D-60A35019F103}">
      <dsp:nvSpPr>
        <dsp:cNvPr id="0" name=""/>
        <dsp:cNvSpPr/>
      </dsp:nvSpPr>
      <dsp:spPr>
        <a:xfrm rot="5400000">
          <a:off x="6731621" y="-2839081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Amazon MSK</a:t>
          </a:r>
          <a:r>
            <a:rPr lang="en-US" sz="1600" kern="1200"/>
            <a:t> (Managed Kafka) – Replace self-managed Kafka clusters.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Kinesis</a:t>
          </a:r>
          <a:r>
            <a:rPr lang="en-US" sz="1600" kern="1200"/>
            <a:t> (Alternative for high-throughput but simpler use cases).</a:t>
          </a:r>
        </a:p>
      </dsp:txBody>
      <dsp:txXfrm rot="-5400000">
        <a:off x="3785615" y="147831"/>
        <a:ext cx="6689078" cy="756160"/>
      </dsp:txXfrm>
    </dsp:sp>
    <dsp:sp modelId="{976CA881-62AE-4A58-9C1E-A6365EBD9A33}">
      <dsp:nvSpPr>
        <dsp:cNvPr id="0" name=""/>
        <dsp:cNvSpPr/>
      </dsp:nvSpPr>
      <dsp:spPr>
        <a:xfrm>
          <a:off x="0" y="2177"/>
          <a:ext cx="3785616" cy="10474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Event Streaming</a:t>
          </a:r>
          <a:r>
            <a:rPr lang="en-US" sz="2900" kern="1200"/>
            <a:t>:</a:t>
          </a:r>
        </a:p>
      </dsp:txBody>
      <dsp:txXfrm>
        <a:off x="51133" y="53310"/>
        <a:ext cx="3683350" cy="945199"/>
      </dsp:txXfrm>
    </dsp:sp>
    <dsp:sp modelId="{7C54256C-2D5D-4EC4-ADFF-BC759DFB8615}">
      <dsp:nvSpPr>
        <dsp:cNvPr id="0" name=""/>
        <dsp:cNvSpPr/>
      </dsp:nvSpPr>
      <dsp:spPr>
        <a:xfrm rot="5400000">
          <a:off x="6731621" y="-1739242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AWS EKS</a:t>
          </a:r>
          <a:r>
            <a:rPr lang="en-US" sz="1600" kern="1200"/>
            <a:t> (Kubernetes) or </a:t>
          </a:r>
          <a:r>
            <a:rPr lang="en-US" sz="1600" b="1" kern="1200"/>
            <a:t>ECS Fargate</a:t>
          </a:r>
          <a:r>
            <a:rPr lang="en-US" sz="1600" kern="1200"/>
            <a:t> – Host Spring Boot apps.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Lambda</a:t>
          </a:r>
          <a:r>
            <a:rPr lang="en-US" sz="1600" kern="1200"/>
            <a:t> – For lightweight enrichment/validation.</a:t>
          </a:r>
        </a:p>
      </dsp:txBody>
      <dsp:txXfrm rot="-5400000">
        <a:off x="3785615" y="1247670"/>
        <a:ext cx="6689078" cy="756160"/>
      </dsp:txXfrm>
    </dsp:sp>
    <dsp:sp modelId="{6487EE80-9F8D-402A-B02A-05BC0ED357E7}">
      <dsp:nvSpPr>
        <dsp:cNvPr id="0" name=""/>
        <dsp:cNvSpPr/>
      </dsp:nvSpPr>
      <dsp:spPr>
        <a:xfrm>
          <a:off x="0" y="1102016"/>
          <a:ext cx="3785616" cy="10474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Microservices</a:t>
          </a:r>
          <a:r>
            <a:rPr lang="en-US" sz="2900" kern="1200"/>
            <a:t>:</a:t>
          </a:r>
        </a:p>
      </dsp:txBody>
      <dsp:txXfrm>
        <a:off x="51133" y="1153149"/>
        <a:ext cx="3683350" cy="945199"/>
      </dsp:txXfrm>
    </dsp:sp>
    <dsp:sp modelId="{B4B18469-CE99-45BE-90E8-8EAA542126B5}">
      <dsp:nvSpPr>
        <dsp:cNvPr id="0" name=""/>
        <dsp:cNvSpPr/>
      </dsp:nvSpPr>
      <dsp:spPr>
        <a:xfrm rot="5400000">
          <a:off x="6731621" y="-639403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Amazon Aurora</a:t>
          </a:r>
          <a:r>
            <a:rPr lang="en-US" sz="1600" kern="1200"/>
            <a:t> (PostgreSQL) – Transactional data.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DynamoDB</a:t>
          </a:r>
          <a:r>
            <a:rPr lang="en-US" sz="1600" kern="1200"/>
            <a:t> – For low-latency reference data.</a:t>
          </a:r>
        </a:p>
      </dsp:txBody>
      <dsp:txXfrm rot="-5400000">
        <a:off x="3785615" y="2347509"/>
        <a:ext cx="6689078" cy="756160"/>
      </dsp:txXfrm>
    </dsp:sp>
    <dsp:sp modelId="{9535A355-3112-4B4C-941D-C1BF7A2268FA}">
      <dsp:nvSpPr>
        <dsp:cNvPr id="0" name=""/>
        <dsp:cNvSpPr/>
      </dsp:nvSpPr>
      <dsp:spPr>
        <a:xfrm>
          <a:off x="0" y="2201855"/>
          <a:ext cx="3785616" cy="10474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Databases</a:t>
          </a:r>
          <a:r>
            <a:rPr lang="en-US" sz="2900" kern="1200"/>
            <a:t>:</a:t>
          </a:r>
        </a:p>
      </dsp:txBody>
      <dsp:txXfrm>
        <a:off x="51133" y="2252988"/>
        <a:ext cx="3683350" cy="945199"/>
      </dsp:txXfrm>
    </dsp:sp>
    <dsp:sp modelId="{DB302F8E-897D-4C26-BD21-1C045683B31C}">
      <dsp:nvSpPr>
        <dsp:cNvPr id="0" name=""/>
        <dsp:cNvSpPr/>
      </dsp:nvSpPr>
      <dsp:spPr>
        <a:xfrm rot="5400000">
          <a:off x="6731621" y="460435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Amazon QLDB</a:t>
          </a:r>
          <a:r>
            <a:rPr lang="en-US" sz="1600" kern="1200"/>
            <a:t> (Immutable ledger for DvP).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AWS Fraud Detector</a:t>
          </a:r>
          <a:r>
            <a:rPr lang="en-US" sz="1600" kern="1200"/>
            <a:t> (AML/risk checks).</a:t>
          </a:r>
        </a:p>
      </dsp:txBody>
      <dsp:txXfrm rot="-5400000">
        <a:off x="3785615" y="3447347"/>
        <a:ext cx="6689078" cy="756160"/>
      </dsp:txXfrm>
    </dsp:sp>
    <dsp:sp modelId="{772B3673-B7FC-4B0D-9397-0B5F5805DCC2}">
      <dsp:nvSpPr>
        <dsp:cNvPr id="0" name=""/>
        <dsp:cNvSpPr/>
      </dsp:nvSpPr>
      <dsp:spPr>
        <a:xfrm>
          <a:off x="0" y="3301694"/>
          <a:ext cx="3785616" cy="10474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Settlement &amp; Compliance</a:t>
          </a:r>
          <a:r>
            <a:rPr lang="en-US" sz="2900" kern="1200"/>
            <a:t>:</a:t>
          </a:r>
        </a:p>
      </dsp:txBody>
      <dsp:txXfrm>
        <a:off x="51133" y="3352827"/>
        <a:ext cx="3683350" cy="9451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8BF046-1286-4640-9E5D-76D630BA86E4}">
      <dsp:nvSpPr>
        <dsp:cNvPr id="0" name=""/>
        <dsp:cNvSpPr/>
      </dsp:nvSpPr>
      <dsp:spPr>
        <a:xfrm>
          <a:off x="8930" y="506863"/>
          <a:ext cx="3534264" cy="1060279"/>
        </a:xfrm>
        <a:prstGeom prst="chevron">
          <a:avLst>
            <a:gd name="adj" fmla="val 3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Phase 1</a:t>
          </a:r>
        </a:p>
      </dsp:txBody>
      <dsp:txXfrm>
        <a:off x="327014" y="506863"/>
        <a:ext cx="2898096" cy="1060279"/>
      </dsp:txXfrm>
    </dsp:sp>
    <dsp:sp modelId="{9D488D20-4215-42CC-808A-67E6C864F2AD}">
      <dsp:nvSpPr>
        <dsp:cNvPr id="0" name=""/>
        <dsp:cNvSpPr/>
      </dsp:nvSpPr>
      <dsp:spPr>
        <a:xfrm>
          <a:off x="8930" y="1567142"/>
          <a:ext cx="3216180" cy="2277331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Foundation Setup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VPC Design: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Isolated subnets for Kafka/MSK (private), microservices (private), and public APIs.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Kafka on AWS: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Deploy Amazon MSK with 3 brokers (multi-AZ).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Configure topics: trade-events, settlement-queue, </a:t>
          </a:r>
          <a:r>
            <a:rPr lang="en-US" sz="900" kern="1200" dirty="0" err="1"/>
            <a:t>dlq</a:t>
          </a:r>
          <a:r>
            <a:rPr lang="en-US" sz="900" kern="1200" dirty="0"/>
            <a:t>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Infrastructure as Code (</a:t>
          </a:r>
          <a:r>
            <a:rPr lang="en-US" sz="900" kern="1200" dirty="0" err="1"/>
            <a:t>IaC</a:t>
          </a:r>
          <a:r>
            <a:rPr lang="en-US" sz="900" kern="1200" dirty="0"/>
            <a:t>):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Use AWS CDK or Terraform to automate provisioning.</a:t>
          </a:r>
        </a:p>
      </dsp:txBody>
      <dsp:txXfrm>
        <a:off x="8930" y="1567142"/>
        <a:ext cx="3216180" cy="2277331"/>
      </dsp:txXfrm>
    </dsp:sp>
    <dsp:sp modelId="{34C49DD0-BD3A-41E7-B25F-68D97899F4F6}">
      <dsp:nvSpPr>
        <dsp:cNvPr id="0" name=""/>
        <dsp:cNvSpPr/>
      </dsp:nvSpPr>
      <dsp:spPr>
        <a:xfrm>
          <a:off x="3490667" y="506863"/>
          <a:ext cx="3534264" cy="1060279"/>
        </a:xfrm>
        <a:prstGeom prst="chevron">
          <a:avLst>
            <a:gd name="adj" fmla="val 3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Phase 2</a:t>
          </a:r>
        </a:p>
      </dsp:txBody>
      <dsp:txXfrm>
        <a:off x="3808751" y="506863"/>
        <a:ext cx="2898096" cy="1060279"/>
      </dsp:txXfrm>
    </dsp:sp>
    <dsp:sp modelId="{054F9502-EB51-4AC7-B4EF-25F70DC38F3C}">
      <dsp:nvSpPr>
        <dsp:cNvPr id="0" name=""/>
        <dsp:cNvSpPr/>
      </dsp:nvSpPr>
      <dsp:spPr>
        <a:xfrm>
          <a:off x="3490667" y="1567142"/>
          <a:ext cx="3216180" cy="2277331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Microservices Deployment</a:t>
          </a:r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Trade Validation Service:</a:t>
          </a:r>
          <a:r>
            <a:rPr lang="en-US" sz="900" kern="1200" dirty="0">
              <a:latin typeface="Aptos Display" panose="020F0302020204030204"/>
            </a:rPr>
            <a:t> </a:t>
          </a:r>
          <a:r>
            <a:rPr lang="en-US" sz="900" kern="1200" dirty="0"/>
            <a:t>Spring Boot app on EKS with auto-scaling.</a:t>
          </a:r>
        </a:p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Enrichment Service:</a:t>
          </a:r>
          <a:r>
            <a:rPr lang="en-US" sz="1100" kern="1200" dirty="0">
              <a:latin typeface="Aptos Display" panose="020F0302020204030204"/>
            </a:rPr>
            <a:t> </a:t>
          </a:r>
          <a:r>
            <a:rPr lang="en-US" sz="1100" kern="1200" dirty="0">
              <a:solidFill>
                <a:srgbClr val="000000"/>
              </a:solidFill>
              <a:latin typeface="Aptos Display" panose="020F0302020204030204"/>
            </a:rPr>
            <a:t> </a:t>
          </a:r>
          <a:r>
            <a:rPr lang="en-US" sz="1100" kern="1200" dirty="0">
              <a:solidFill>
                <a:srgbClr val="404040"/>
              </a:solidFill>
            </a:rPr>
            <a:t>Pull reference data from </a:t>
          </a:r>
          <a:r>
            <a:rPr lang="en-US" sz="1100" b="1" kern="1200" dirty="0">
              <a:solidFill>
                <a:srgbClr val="404040"/>
              </a:solidFill>
            </a:rPr>
            <a:t>DynamoDB</a:t>
          </a:r>
          <a:r>
            <a:rPr lang="en-US" sz="1100" kern="1200" dirty="0">
              <a:solidFill>
                <a:srgbClr val="404040"/>
              </a:solidFill>
            </a:rPr>
            <a:t> (TTL caching).</a:t>
          </a:r>
          <a:endParaRPr lang="en-US" sz="1100" kern="1200" dirty="0">
            <a:solidFill>
              <a:srgbClr val="000000"/>
            </a:solidFill>
            <a:latin typeface="Aptos Display" panose="020F0302020204030204"/>
          </a:endParaRPr>
        </a:p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Clearing Engine:</a:t>
          </a:r>
          <a:r>
            <a:rPr lang="en-US" sz="1100" kern="1200" dirty="0">
              <a:solidFill>
                <a:srgbClr val="000000"/>
              </a:solidFill>
              <a:latin typeface="Aptos Display" panose="020F0302020204030204"/>
            </a:rPr>
            <a:t> </a:t>
          </a:r>
          <a:r>
            <a:rPr lang="en-US" sz="1100" kern="1200" dirty="0">
              <a:solidFill>
                <a:srgbClr val="404040"/>
              </a:solidFill>
            </a:rPr>
            <a:t>Use </a:t>
          </a:r>
          <a:r>
            <a:rPr lang="en-US" sz="1100" b="1" kern="1200" dirty="0">
              <a:solidFill>
                <a:srgbClr val="404040"/>
              </a:solidFill>
            </a:rPr>
            <a:t>AWS Step Functions</a:t>
          </a:r>
          <a:r>
            <a:rPr lang="en-US" sz="1100" kern="1200" dirty="0">
              <a:solidFill>
                <a:srgbClr val="404040"/>
              </a:solidFill>
            </a:rPr>
            <a:t> for orchestration.</a:t>
          </a:r>
          <a:endParaRPr lang="en-US" sz="1100" kern="1200" dirty="0">
            <a:latin typeface="Aptos Display" panose="020F0302020204030204"/>
          </a:endParaRPr>
        </a:p>
      </dsp:txBody>
      <dsp:txXfrm>
        <a:off x="3490667" y="1567142"/>
        <a:ext cx="3216180" cy="2277331"/>
      </dsp:txXfrm>
    </dsp:sp>
    <dsp:sp modelId="{A509907C-BFE0-4F10-8C99-25CA61A7155D}">
      <dsp:nvSpPr>
        <dsp:cNvPr id="0" name=""/>
        <dsp:cNvSpPr/>
      </dsp:nvSpPr>
      <dsp:spPr>
        <a:xfrm>
          <a:off x="6972405" y="506863"/>
          <a:ext cx="3534264" cy="1060279"/>
        </a:xfrm>
        <a:prstGeom prst="chevron">
          <a:avLst>
            <a:gd name="adj" fmla="val 3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Phase 3</a:t>
          </a:r>
        </a:p>
      </dsp:txBody>
      <dsp:txXfrm>
        <a:off x="7290489" y="506863"/>
        <a:ext cx="2898096" cy="1060279"/>
      </dsp:txXfrm>
    </dsp:sp>
    <dsp:sp modelId="{2A3BC982-FDA7-40D4-AE2B-CD3536311CE3}">
      <dsp:nvSpPr>
        <dsp:cNvPr id="0" name=""/>
        <dsp:cNvSpPr/>
      </dsp:nvSpPr>
      <dsp:spPr>
        <a:xfrm>
          <a:off x="6972405" y="1567142"/>
          <a:ext cx="3216180" cy="2277331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Settlement &amp; Resilience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Settlement Service: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Connect to QLDB for DvP and SWIFT Gateway via AWS </a:t>
          </a:r>
          <a:r>
            <a:rPr lang="en-US" sz="900" kern="1200" dirty="0" err="1"/>
            <a:t>PrivateLink</a:t>
          </a:r>
          <a:r>
            <a:rPr lang="en-US" sz="900" kern="1200" dirty="0"/>
            <a:t>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Dead Letter Queue (DLQ):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SQS + Lambda for retries.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Monitoring: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CloudWatch for latency metrics.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X-Ray for tracing.</a:t>
          </a:r>
        </a:p>
      </dsp:txBody>
      <dsp:txXfrm>
        <a:off x="6972405" y="1567142"/>
        <a:ext cx="3216180" cy="22773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D106EC-7A61-4C26-B586-2887FEA38234}">
      <dsp:nvSpPr>
        <dsp:cNvPr id="0" name=""/>
        <dsp:cNvSpPr/>
      </dsp:nvSpPr>
      <dsp:spPr>
        <a:xfrm>
          <a:off x="4737924" y="2488"/>
          <a:ext cx="1039750" cy="67583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/>
            <a:t>Key Metrics</a:t>
          </a:r>
          <a:r>
            <a:rPr lang="en-US" sz="700" kern="1200"/>
            <a:t>:</a:t>
          </a:r>
        </a:p>
      </dsp:txBody>
      <dsp:txXfrm>
        <a:off x="4770916" y="35480"/>
        <a:ext cx="973766" cy="609853"/>
      </dsp:txXfrm>
    </dsp:sp>
    <dsp:sp modelId="{F9555647-D364-412C-A1DF-2A52022F24CB}">
      <dsp:nvSpPr>
        <dsp:cNvPr id="0" name=""/>
        <dsp:cNvSpPr/>
      </dsp:nvSpPr>
      <dsp:spPr>
        <a:xfrm>
          <a:off x="3326930" y="340407"/>
          <a:ext cx="3861738" cy="3861738"/>
        </a:xfrm>
        <a:custGeom>
          <a:avLst/>
          <a:gdLst/>
          <a:ahLst/>
          <a:cxnLst/>
          <a:rect l="0" t="0" r="0" b="0"/>
          <a:pathLst>
            <a:path>
              <a:moveTo>
                <a:pt x="2587249" y="114988"/>
              </a:moveTo>
              <a:arcTo wR="1930869" hR="1930869" stAng="17392394" swAng="773153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9239CD-99CA-442D-B36A-79CDEBC2612E}">
      <dsp:nvSpPr>
        <dsp:cNvPr id="0" name=""/>
        <dsp:cNvSpPr/>
      </dsp:nvSpPr>
      <dsp:spPr>
        <a:xfrm>
          <a:off x="6247539" y="729480"/>
          <a:ext cx="1039750" cy="67583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/>
            <a:t>Trade Ingestion</a:t>
          </a:r>
          <a:r>
            <a:rPr lang="en-US" sz="700" kern="1200"/>
            <a:t>: &lt;50ms (MSK with enhanced fan-out).</a:t>
          </a:r>
        </a:p>
      </dsp:txBody>
      <dsp:txXfrm>
        <a:off x="6280531" y="762472"/>
        <a:ext cx="973766" cy="609853"/>
      </dsp:txXfrm>
    </dsp:sp>
    <dsp:sp modelId="{8DE4087E-52ED-43A7-AC47-453AF5516514}">
      <dsp:nvSpPr>
        <dsp:cNvPr id="0" name=""/>
        <dsp:cNvSpPr/>
      </dsp:nvSpPr>
      <dsp:spPr>
        <a:xfrm>
          <a:off x="3326930" y="340407"/>
          <a:ext cx="3861738" cy="3861738"/>
        </a:xfrm>
        <a:custGeom>
          <a:avLst/>
          <a:gdLst/>
          <a:ahLst/>
          <a:cxnLst/>
          <a:rect l="0" t="0" r="0" b="0"/>
          <a:pathLst>
            <a:path>
              <a:moveTo>
                <a:pt x="3735458" y="1244055"/>
              </a:moveTo>
              <a:arcTo wR="1930869" hR="1930869" stAng="20349812" swAng="1064996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230D85-40D8-496D-A8D0-16D4EB7A3F19}">
      <dsp:nvSpPr>
        <dsp:cNvPr id="0" name=""/>
        <dsp:cNvSpPr/>
      </dsp:nvSpPr>
      <dsp:spPr>
        <a:xfrm>
          <a:off x="6620383" y="2363017"/>
          <a:ext cx="1039750" cy="67583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/>
            <a:t>Validation + Clearing</a:t>
          </a:r>
          <a:r>
            <a:rPr lang="en-US" sz="700" kern="1200"/>
            <a:t>: &lt;100ms (Aurora Optimized Reads).</a:t>
          </a:r>
        </a:p>
      </dsp:txBody>
      <dsp:txXfrm>
        <a:off x="6653375" y="2396009"/>
        <a:ext cx="973766" cy="609853"/>
      </dsp:txXfrm>
    </dsp:sp>
    <dsp:sp modelId="{292C5568-EACC-4BF1-AAA9-EFB95758AFF7}">
      <dsp:nvSpPr>
        <dsp:cNvPr id="0" name=""/>
        <dsp:cNvSpPr/>
      </dsp:nvSpPr>
      <dsp:spPr>
        <a:xfrm>
          <a:off x="3326930" y="340407"/>
          <a:ext cx="3861738" cy="3861738"/>
        </a:xfrm>
        <a:custGeom>
          <a:avLst/>
          <a:gdLst/>
          <a:ahLst/>
          <a:cxnLst/>
          <a:rect l="0" t="0" r="0" b="0"/>
          <a:pathLst>
            <a:path>
              <a:moveTo>
                <a:pt x="3635448" y="2837878"/>
              </a:moveTo>
              <a:arcTo wR="1930869" hR="1930869" stAng="1681050" swAng="836257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E6B0ED-7827-44CB-B12F-49FA284A9A0E}">
      <dsp:nvSpPr>
        <dsp:cNvPr id="0" name=""/>
        <dsp:cNvSpPr/>
      </dsp:nvSpPr>
      <dsp:spPr>
        <a:xfrm>
          <a:off x="5575697" y="3673011"/>
          <a:ext cx="1039750" cy="67583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/>
            <a:t>End-to-End Settlement</a:t>
          </a:r>
          <a:r>
            <a:rPr lang="en-US" sz="700" kern="1200"/>
            <a:t>: &lt;300ms (QLDB + EKS low-latency pods).</a:t>
          </a:r>
        </a:p>
      </dsp:txBody>
      <dsp:txXfrm>
        <a:off x="5608689" y="3706003"/>
        <a:ext cx="973766" cy="609853"/>
      </dsp:txXfrm>
    </dsp:sp>
    <dsp:sp modelId="{8483F8FA-8AB3-4824-8A86-F27029C3A8E2}">
      <dsp:nvSpPr>
        <dsp:cNvPr id="0" name=""/>
        <dsp:cNvSpPr/>
      </dsp:nvSpPr>
      <dsp:spPr>
        <a:xfrm>
          <a:off x="3326930" y="340407"/>
          <a:ext cx="3861738" cy="3861738"/>
        </a:xfrm>
        <a:custGeom>
          <a:avLst/>
          <a:gdLst/>
          <a:ahLst/>
          <a:cxnLst/>
          <a:rect l="0" t="0" r="0" b="0"/>
          <a:pathLst>
            <a:path>
              <a:moveTo>
                <a:pt x="2122744" y="3852181"/>
              </a:moveTo>
              <a:arcTo wR="1930869" hR="1930869" stAng="5057818" swAng="684364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7FC2E6-E399-4958-98AB-F466A54F0FA1}">
      <dsp:nvSpPr>
        <dsp:cNvPr id="0" name=""/>
        <dsp:cNvSpPr/>
      </dsp:nvSpPr>
      <dsp:spPr>
        <a:xfrm>
          <a:off x="3900151" y="3673011"/>
          <a:ext cx="1039750" cy="67583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/>
            <a:t>AWS Features Used</a:t>
          </a:r>
          <a:r>
            <a:rPr lang="en-US" sz="700" kern="1200"/>
            <a:t>:</a:t>
          </a:r>
        </a:p>
      </dsp:txBody>
      <dsp:txXfrm>
        <a:off x="3933143" y="3706003"/>
        <a:ext cx="973766" cy="609853"/>
      </dsp:txXfrm>
    </dsp:sp>
    <dsp:sp modelId="{5BC7D298-E6B4-4C60-8585-788406276397}">
      <dsp:nvSpPr>
        <dsp:cNvPr id="0" name=""/>
        <dsp:cNvSpPr/>
      </dsp:nvSpPr>
      <dsp:spPr>
        <a:xfrm>
          <a:off x="3326930" y="340407"/>
          <a:ext cx="3861738" cy="3861738"/>
        </a:xfrm>
        <a:custGeom>
          <a:avLst/>
          <a:gdLst/>
          <a:ahLst/>
          <a:cxnLst/>
          <a:rect l="0" t="0" r="0" b="0"/>
          <a:pathLst>
            <a:path>
              <a:moveTo>
                <a:pt x="494942" y="3221748"/>
              </a:moveTo>
              <a:arcTo wR="1930869" hR="1930869" stAng="8282693" swAng="836257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FF3C83-704D-4219-B223-3F229E04C506}">
      <dsp:nvSpPr>
        <dsp:cNvPr id="0" name=""/>
        <dsp:cNvSpPr/>
      </dsp:nvSpPr>
      <dsp:spPr>
        <a:xfrm>
          <a:off x="2855466" y="2363017"/>
          <a:ext cx="1039750" cy="67583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/>
            <a:t>MSK Tiered Storage</a:t>
          </a:r>
          <a:r>
            <a:rPr lang="en-US" sz="700" kern="1200"/>
            <a:t>: Reduce cost for historical data.</a:t>
          </a:r>
        </a:p>
      </dsp:txBody>
      <dsp:txXfrm>
        <a:off x="2888458" y="2396009"/>
        <a:ext cx="973766" cy="609853"/>
      </dsp:txXfrm>
    </dsp:sp>
    <dsp:sp modelId="{62378F28-761E-4A62-BE3B-F7055D265935}">
      <dsp:nvSpPr>
        <dsp:cNvPr id="0" name=""/>
        <dsp:cNvSpPr/>
      </dsp:nvSpPr>
      <dsp:spPr>
        <a:xfrm>
          <a:off x="3326930" y="340407"/>
          <a:ext cx="3861738" cy="3861738"/>
        </a:xfrm>
        <a:custGeom>
          <a:avLst/>
          <a:gdLst/>
          <a:ahLst/>
          <a:cxnLst/>
          <a:rect l="0" t="0" r="0" b="0"/>
          <a:pathLst>
            <a:path>
              <a:moveTo>
                <a:pt x="2801" y="1826903"/>
              </a:moveTo>
              <a:arcTo wR="1930869" hR="1930869" stAng="10985192" swAng="1064996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246A98-E2C9-416E-B267-AFBE34D42219}">
      <dsp:nvSpPr>
        <dsp:cNvPr id="0" name=""/>
        <dsp:cNvSpPr/>
      </dsp:nvSpPr>
      <dsp:spPr>
        <a:xfrm>
          <a:off x="3228310" y="729480"/>
          <a:ext cx="1039750" cy="67583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/>
            <a:t>ElastiCache</a:t>
          </a:r>
          <a:r>
            <a:rPr lang="en-US" sz="700" kern="1200"/>
            <a:t> (Redis): Cache reference data.</a:t>
          </a:r>
        </a:p>
      </dsp:txBody>
      <dsp:txXfrm>
        <a:off x="3261302" y="762472"/>
        <a:ext cx="973766" cy="609853"/>
      </dsp:txXfrm>
    </dsp:sp>
    <dsp:sp modelId="{A322C675-E16E-4F75-9E30-4AAC91F25A52}">
      <dsp:nvSpPr>
        <dsp:cNvPr id="0" name=""/>
        <dsp:cNvSpPr/>
      </dsp:nvSpPr>
      <dsp:spPr>
        <a:xfrm>
          <a:off x="3326930" y="340407"/>
          <a:ext cx="3861738" cy="3861738"/>
        </a:xfrm>
        <a:custGeom>
          <a:avLst/>
          <a:gdLst/>
          <a:ahLst/>
          <a:cxnLst/>
          <a:rect l="0" t="0" r="0" b="0"/>
          <a:pathLst>
            <a:path>
              <a:moveTo>
                <a:pt x="886060" y="307098"/>
              </a:moveTo>
              <a:arcTo wR="1930869" hR="1930869" stAng="14234454" swAng="773153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EB91B-2380-4405-A220-AFE3DCACC64D}">
      <dsp:nvSpPr>
        <dsp:cNvPr id="0" name=""/>
        <dsp:cNvSpPr/>
      </dsp:nvSpPr>
      <dsp:spPr>
        <a:xfrm>
          <a:off x="0" y="379039"/>
          <a:ext cx="6666833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99872" rIns="5174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TLS 1.3 for in-transit (MSK), KMS for at-rest.</a:t>
          </a:r>
        </a:p>
      </dsp:txBody>
      <dsp:txXfrm>
        <a:off x="0" y="379039"/>
        <a:ext cx="6666833" cy="1360800"/>
      </dsp:txXfrm>
    </dsp:sp>
    <dsp:sp modelId="{19D34AE4-72D7-4D7F-B39E-136D9E2E4BB9}">
      <dsp:nvSpPr>
        <dsp:cNvPr id="0" name=""/>
        <dsp:cNvSpPr/>
      </dsp:nvSpPr>
      <dsp:spPr>
        <a:xfrm>
          <a:off x="333341" y="24799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Data Encryption</a:t>
          </a:r>
          <a:r>
            <a:rPr lang="en-US" sz="2400" kern="1200"/>
            <a:t>:</a:t>
          </a:r>
        </a:p>
      </dsp:txBody>
      <dsp:txXfrm>
        <a:off x="367926" y="59384"/>
        <a:ext cx="4597613" cy="639310"/>
      </dsp:txXfrm>
    </dsp:sp>
    <dsp:sp modelId="{4272998F-B756-4871-9EF7-0FAD4C75BD8A}">
      <dsp:nvSpPr>
        <dsp:cNvPr id="0" name=""/>
        <dsp:cNvSpPr/>
      </dsp:nvSpPr>
      <dsp:spPr>
        <a:xfrm>
          <a:off x="0" y="2223679"/>
          <a:ext cx="6666833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99872" rIns="5174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IAM roles for services, VPC endpoints to avoid public internet.</a:t>
          </a:r>
        </a:p>
      </dsp:txBody>
      <dsp:txXfrm>
        <a:off x="0" y="2223679"/>
        <a:ext cx="6666833" cy="1360800"/>
      </dsp:txXfrm>
    </dsp:sp>
    <dsp:sp modelId="{CBF4D8C8-A71B-4332-A1E8-BE5C7E4D69CC}">
      <dsp:nvSpPr>
        <dsp:cNvPr id="0" name=""/>
        <dsp:cNvSpPr/>
      </dsp:nvSpPr>
      <dsp:spPr>
        <a:xfrm>
          <a:off x="333341" y="1869440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Access Control</a:t>
          </a:r>
          <a:r>
            <a:rPr lang="en-US" sz="2400" kern="1200"/>
            <a:t>:</a:t>
          </a:r>
        </a:p>
      </dsp:txBody>
      <dsp:txXfrm>
        <a:off x="367926" y="1904025"/>
        <a:ext cx="4597613" cy="639310"/>
      </dsp:txXfrm>
    </dsp:sp>
    <dsp:sp modelId="{9BF2086B-FDD9-4802-B303-AC68D4F1D6B7}">
      <dsp:nvSpPr>
        <dsp:cNvPr id="0" name=""/>
        <dsp:cNvSpPr/>
      </dsp:nvSpPr>
      <dsp:spPr>
        <a:xfrm>
          <a:off x="0" y="4068319"/>
          <a:ext cx="6666833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99872" rIns="5174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/>
            <a:t>AWS CloudTrail</a:t>
          </a:r>
          <a:r>
            <a:rPr lang="en-US" sz="2400" kern="1200"/>
            <a:t> + </a:t>
          </a:r>
          <a:r>
            <a:rPr lang="en-US" sz="2400" b="1" kern="1200"/>
            <a:t>QLDB</a:t>
          </a:r>
          <a:r>
            <a:rPr lang="en-US" sz="2400" kern="1200"/>
            <a:t> for immutable logs.</a:t>
          </a:r>
        </a:p>
      </dsp:txBody>
      <dsp:txXfrm>
        <a:off x="0" y="4068319"/>
        <a:ext cx="6666833" cy="1360800"/>
      </dsp:txXfrm>
    </dsp:sp>
    <dsp:sp modelId="{F8445D96-A8FF-4222-B64C-C079E7397B55}">
      <dsp:nvSpPr>
        <dsp:cNvPr id="0" name=""/>
        <dsp:cNvSpPr/>
      </dsp:nvSpPr>
      <dsp:spPr>
        <a:xfrm>
          <a:off x="333341" y="3714079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Audit</a:t>
          </a:r>
          <a:r>
            <a:rPr lang="en-US" sz="2400" kern="1200"/>
            <a:t>:</a:t>
          </a:r>
        </a:p>
      </dsp:txBody>
      <dsp:txXfrm>
        <a:off x="367926" y="3748664"/>
        <a:ext cx="4597613" cy="6393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6ABA9B-1AE7-49D9-ABB8-5661E2EDC8F0}">
      <dsp:nvSpPr>
        <dsp:cNvPr id="0" name=""/>
        <dsp:cNvSpPr/>
      </dsp:nvSpPr>
      <dsp:spPr>
        <a:xfrm>
          <a:off x="380489" y="0"/>
          <a:ext cx="5530735" cy="5530735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4568FB-B9F7-4ECD-9C9B-66DD0FC80433}">
      <dsp:nvSpPr>
        <dsp:cNvPr id="0" name=""/>
        <dsp:cNvSpPr/>
      </dsp:nvSpPr>
      <dsp:spPr>
        <a:xfrm>
          <a:off x="905909" y="525419"/>
          <a:ext cx="2156986" cy="215698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Example Pricing</a:t>
          </a:r>
          <a:r>
            <a:rPr lang="en-US" sz="2100" kern="1200"/>
            <a:t>:</a:t>
          </a:r>
        </a:p>
      </dsp:txBody>
      <dsp:txXfrm>
        <a:off x="1011204" y="630714"/>
        <a:ext cx="1946396" cy="1946396"/>
      </dsp:txXfrm>
    </dsp:sp>
    <dsp:sp modelId="{5D3AE179-39C7-4702-BAC9-86AFB19EC20F}">
      <dsp:nvSpPr>
        <dsp:cNvPr id="0" name=""/>
        <dsp:cNvSpPr/>
      </dsp:nvSpPr>
      <dsp:spPr>
        <a:xfrm>
          <a:off x="3228818" y="525419"/>
          <a:ext cx="2156986" cy="2156986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MSK</a:t>
          </a:r>
          <a:r>
            <a:rPr lang="en-US" sz="2100" kern="1200"/>
            <a:t>: ~$0.10/hour per broker (3 brokers = $2,160/month).</a:t>
          </a:r>
        </a:p>
      </dsp:txBody>
      <dsp:txXfrm>
        <a:off x="3334113" y="630714"/>
        <a:ext cx="1946396" cy="1946396"/>
      </dsp:txXfrm>
    </dsp:sp>
    <dsp:sp modelId="{42CC0259-395A-4826-B09D-2E54B981BE22}">
      <dsp:nvSpPr>
        <dsp:cNvPr id="0" name=""/>
        <dsp:cNvSpPr/>
      </dsp:nvSpPr>
      <dsp:spPr>
        <a:xfrm>
          <a:off x="905909" y="2848328"/>
          <a:ext cx="2156986" cy="2156986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EKS</a:t>
          </a:r>
          <a:r>
            <a:rPr lang="en-US" sz="2100" kern="1200"/>
            <a:t>: ~$0.10/hour per node (10 nodes = $720/month).</a:t>
          </a:r>
        </a:p>
      </dsp:txBody>
      <dsp:txXfrm>
        <a:off x="1011204" y="2953623"/>
        <a:ext cx="1946396" cy="1946396"/>
      </dsp:txXfrm>
    </dsp:sp>
    <dsp:sp modelId="{7963615A-8A0B-4F28-A3E2-336EA143D91F}">
      <dsp:nvSpPr>
        <dsp:cNvPr id="0" name=""/>
        <dsp:cNvSpPr/>
      </dsp:nvSpPr>
      <dsp:spPr>
        <a:xfrm>
          <a:off x="3228818" y="2848328"/>
          <a:ext cx="2156986" cy="2156986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Savings</a:t>
          </a:r>
          <a:r>
            <a:rPr lang="en-US" sz="2100" kern="1200"/>
            <a:t>: Spot Instances for non-critical microservices.</a:t>
          </a:r>
        </a:p>
      </dsp:txBody>
      <dsp:txXfrm>
        <a:off x="3334113" y="2953623"/>
        <a:ext cx="1946396" cy="19463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25A7BA-B8B1-4676-BC2D-6EAF266CD10B}">
      <dsp:nvSpPr>
        <dsp:cNvPr id="0" name=""/>
        <dsp:cNvSpPr/>
      </dsp:nvSpPr>
      <dsp:spPr>
        <a:xfrm>
          <a:off x="0" y="0"/>
          <a:ext cx="8656320" cy="8214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b="1" kern="1200"/>
            <a:t>Timeline</a:t>
          </a:r>
          <a:r>
            <a:rPr lang="en-US" sz="2600" kern="1200"/>
            <a:t>:</a:t>
          </a:r>
        </a:p>
      </dsp:txBody>
      <dsp:txXfrm>
        <a:off x="24059" y="24059"/>
        <a:ext cx="7700515" cy="773317"/>
      </dsp:txXfrm>
    </dsp:sp>
    <dsp:sp modelId="{D5C8E820-4479-4827-944F-890915F93169}">
      <dsp:nvSpPr>
        <dsp:cNvPr id="0" name=""/>
        <dsp:cNvSpPr/>
      </dsp:nvSpPr>
      <dsp:spPr>
        <a:xfrm>
          <a:off x="724966" y="970787"/>
          <a:ext cx="8656320" cy="821435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b="1" kern="1200"/>
            <a:t>Week 1-2</a:t>
          </a:r>
          <a:r>
            <a:rPr lang="en-US" sz="2600" kern="1200"/>
            <a:t>: PoC (MSK + 1 microservice).</a:t>
          </a:r>
        </a:p>
      </dsp:txBody>
      <dsp:txXfrm>
        <a:off x="749025" y="994846"/>
        <a:ext cx="7349301" cy="773317"/>
      </dsp:txXfrm>
    </dsp:sp>
    <dsp:sp modelId="{E8FD5D9F-613C-4CDB-A874-60EFDE3BF5F0}">
      <dsp:nvSpPr>
        <dsp:cNvPr id="0" name=""/>
        <dsp:cNvSpPr/>
      </dsp:nvSpPr>
      <dsp:spPr>
        <a:xfrm>
          <a:off x="1439113" y="1941575"/>
          <a:ext cx="8656320" cy="821435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b="1" kern="1200"/>
            <a:t>Week 3-4</a:t>
          </a:r>
          <a:r>
            <a:rPr lang="en-US" sz="2600" kern="1200"/>
            <a:t>: Full deployment + load testing.</a:t>
          </a:r>
        </a:p>
      </dsp:txBody>
      <dsp:txXfrm>
        <a:off x="1463172" y="1965634"/>
        <a:ext cx="7360122" cy="773317"/>
      </dsp:txXfrm>
    </dsp:sp>
    <dsp:sp modelId="{12A551D3-F6B1-4FB3-89DA-DDCFB35FCDCF}">
      <dsp:nvSpPr>
        <dsp:cNvPr id="0" name=""/>
        <dsp:cNvSpPr/>
      </dsp:nvSpPr>
      <dsp:spPr>
        <a:xfrm>
          <a:off x="2164079" y="2912363"/>
          <a:ext cx="8656320" cy="821435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b="1" kern="1200"/>
            <a:t>Week 5</a:t>
          </a:r>
          <a:r>
            <a:rPr lang="en-US" sz="2600" kern="1200"/>
            <a:t>: Go-live with rollback plan.</a:t>
          </a:r>
        </a:p>
      </dsp:txBody>
      <dsp:txXfrm>
        <a:off x="2188138" y="2936422"/>
        <a:ext cx="7349301" cy="773317"/>
      </dsp:txXfrm>
    </dsp:sp>
    <dsp:sp modelId="{1E5D4FC2-D59C-4B96-A937-1BABBC3D0A89}">
      <dsp:nvSpPr>
        <dsp:cNvPr id="0" name=""/>
        <dsp:cNvSpPr/>
      </dsp:nvSpPr>
      <dsp:spPr>
        <a:xfrm>
          <a:off x="8122386" y="629145"/>
          <a:ext cx="533933" cy="5339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242521" y="629145"/>
        <a:ext cx="293663" cy="401785"/>
      </dsp:txXfrm>
    </dsp:sp>
    <dsp:sp modelId="{953F1393-1045-424B-8BB8-30B7123B952B}">
      <dsp:nvSpPr>
        <dsp:cNvPr id="0" name=""/>
        <dsp:cNvSpPr/>
      </dsp:nvSpPr>
      <dsp:spPr>
        <a:xfrm>
          <a:off x="8847353" y="1599932"/>
          <a:ext cx="533933" cy="5339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967488" y="1599932"/>
        <a:ext cx="293663" cy="401785"/>
      </dsp:txXfrm>
    </dsp:sp>
    <dsp:sp modelId="{DD4CA35B-31D3-44D1-831D-F5017A73409D}">
      <dsp:nvSpPr>
        <dsp:cNvPr id="0" name=""/>
        <dsp:cNvSpPr/>
      </dsp:nvSpPr>
      <dsp:spPr>
        <a:xfrm>
          <a:off x="9561499" y="2570720"/>
          <a:ext cx="533933" cy="5339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681634" y="2570720"/>
        <a:ext cx="293663" cy="40178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7F429A-D4A9-4187-B8B4-193B51C6D2FF}">
      <dsp:nvSpPr>
        <dsp:cNvPr id="0" name=""/>
        <dsp:cNvSpPr/>
      </dsp:nvSpPr>
      <dsp:spPr>
        <a:xfrm>
          <a:off x="0" y="96336"/>
          <a:ext cx="4818888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Kafka</a:t>
          </a:r>
          <a:r>
            <a:rPr lang="en-US" sz="2000" kern="1200"/>
            <a:t> as the backbone for 100K+ TPS trade ingestion.</a:t>
          </a:r>
          <a:endParaRPr lang="en-US" sz="2000" kern="1200">
            <a:latin typeface="Aptos Display" panose="020F0302020204030204"/>
          </a:endParaRPr>
        </a:p>
      </dsp:txBody>
      <dsp:txXfrm>
        <a:off x="38838" y="135174"/>
        <a:ext cx="4741212" cy="717924"/>
      </dsp:txXfrm>
    </dsp:sp>
    <dsp:sp modelId="{499C6F6A-72CC-4133-AA4D-A6251162EB70}">
      <dsp:nvSpPr>
        <dsp:cNvPr id="0" name=""/>
        <dsp:cNvSpPr/>
      </dsp:nvSpPr>
      <dsp:spPr>
        <a:xfrm>
          <a:off x="0" y="949536"/>
          <a:ext cx="4818888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Spring Boot</a:t>
          </a:r>
          <a:r>
            <a:rPr lang="en-US" sz="2000" kern="1200"/>
            <a:t> microservices for atomic scaling (e.g., risk checks during volatility).</a:t>
          </a:r>
        </a:p>
      </dsp:txBody>
      <dsp:txXfrm>
        <a:off x="38838" y="988374"/>
        <a:ext cx="4741212" cy="717924"/>
      </dsp:txXfrm>
    </dsp:sp>
    <dsp:sp modelId="{8FA1C617-79A1-4075-B3BF-A36D72F0AB0D}">
      <dsp:nvSpPr>
        <dsp:cNvPr id="0" name=""/>
        <dsp:cNvSpPr/>
      </dsp:nvSpPr>
      <dsp:spPr>
        <a:xfrm>
          <a:off x="0" y="1802736"/>
          <a:ext cx="4818888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Hyperledger/RTGS</a:t>
          </a:r>
          <a:r>
            <a:rPr lang="en-US" sz="2000" kern="1200"/>
            <a:t> for immutable settlement (DvP).</a:t>
          </a:r>
        </a:p>
      </dsp:txBody>
      <dsp:txXfrm>
        <a:off x="38838" y="1841574"/>
        <a:ext cx="4741212" cy="717924"/>
      </dsp:txXfrm>
    </dsp:sp>
    <dsp:sp modelId="{44CC8E41-11C9-4C65-A098-40683190111D}">
      <dsp:nvSpPr>
        <dsp:cNvPr id="0" name=""/>
        <dsp:cNvSpPr/>
      </dsp:nvSpPr>
      <dsp:spPr>
        <a:xfrm>
          <a:off x="0" y="2655936"/>
          <a:ext cx="4818888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DLQ + Retry</a:t>
          </a:r>
          <a:r>
            <a:rPr lang="en-US" sz="2000" kern="1200"/>
            <a:t> ensures 99.99% SLA even during outages.</a:t>
          </a:r>
        </a:p>
      </dsp:txBody>
      <dsp:txXfrm>
        <a:off x="38838" y="2694774"/>
        <a:ext cx="4741212" cy="7179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44F8A4-51AE-4781-BD8C-CDB66FB71A80}" type="datetimeFigureOut">
              <a:t>8/16/2025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8EF67-22A0-417E-93A1-33B7F0C1B18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85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404040"/>
                </a:solidFill>
              </a:rPr>
              <a:t>Pattern                                     AWS Service                                                                Your Application                                                                           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b="1" dirty="0">
                <a:solidFill>
                  <a:srgbClr val="404040"/>
                </a:solidFill>
              </a:rPr>
              <a:t>Event Sourcing                       </a:t>
            </a:r>
            <a:r>
              <a:rPr lang="en-US" dirty="0">
                <a:solidFill>
                  <a:srgbClr val="404040"/>
                </a:solidFill>
              </a:rPr>
              <a:t>DynamoDB Streams                                                    Rebuild account state from payment events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b="1" dirty="0">
                <a:solidFill>
                  <a:srgbClr val="404040"/>
                </a:solidFill>
              </a:rPr>
              <a:t>CQRS                                        </a:t>
            </a:r>
            <a:r>
              <a:rPr lang="en-US" dirty="0">
                <a:solidFill>
                  <a:srgbClr val="404040"/>
                </a:solidFill>
              </a:rPr>
              <a:t>DynamoDB + Elasticsearch                                         Real-time risk dashboards</a:t>
            </a:r>
            <a:endParaRPr lang="en-US" dirty="0"/>
          </a:p>
          <a:p>
            <a:r>
              <a:rPr lang="en-US" b="1" dirty="0">
                <a:solidFill>
                  <a:srgbClr val="404040"/>
                </a:solidFill>
              </a:rPr>
              <a:t>Time-Series                             </a:t>
            </a:r>
            <a:r>
              <a:rPr lang="en-US" dirty="0">
                <a:solidFill>
                  <a:srgbClr val="404040"/>
                </a:solidFill>
              </a:rPr>
              <a:t>Timestream                                                                   Trading volume analytics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8EF67-22A0-417E-93A1-33B7F0C1B18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02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  <a:p>
            <a:r>
              <a:rPr lang="en-US" b="1" dirty="0">
                <a:solidFill>
                  <a:srgbClr val="404040"/>
                </a:solidFill>
              </a:rPr>
              <a:t>Cost Optimization</a:t>
            </a:r>
            <a:endParaRPr lang="en-US"/>
          </a:p>
          <a:p>
            <a:r>
              <a:rPr lang="en-US" b="1" dirty="0">
                <a:solidFill>
                  <a:srgbClr val="404040"/>
                </a:solidFill>
              </a:rPr>
              <a:t>Your Strategies</a:t>
            </a:r>
            <a:r>
              <a:rPr lang="en-US" dirty="0">
                <a:solidFill>
                  <a:srgbClr val="404040"/>
                </a:solidFill>
              </a:rPr>
              <a:t>: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DynamoDB Autoscaling</a:t>
            </a:r>
            <a:r>
              <a:rPr lang="en-US" dirty="0">
                <a:solidFill>
                  <a:srgbClr val="404040"/>
                </a:solidFill>
              </a:rPr>
              <a:t>:</a:t>
            </a:r>
            <a:endParaRPr lang="en-US"/>
          </a:p>
          <a:p>
            <a:r>
              <a:rPr lang="en-US" dirty="0">
                <a:solidFill>
                  <a:srgbClr val="525252"/>
                </a:solidFill>
              </a:rPr>
              <a:t>bash</a:t>
            </a:r>
            <a:endParaRPr lang="en-US"/>
          </a:p>
          <a:p>
            <a:r>
              <a:rPr lang="en-US">
                <a:solidFill>
                  <a:srgbClr val="494949"/>
                </a:solidFill>
              </a:rPr>
              <a:t>aws application-autoscaling register-scalable-target </a:t>
            </a:r>
            <a:r>
              <a:rPr lang="en-US">
                <a:solidFill>
                  <a:srgbClr val="383A42"/>
                </a:solidFill>
              </a:rPr>
              <a:t>\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>
                <a:solidFill>
                  <a:srgbClr val="494949"/>
                </a:solidFill>
              </a:rPr>
              <a:t>  --service-namespace dynamodb </a:t>
            </a:r>
            <a:r>
              <a:rPr lang="en-US">
                <a:solidFill>
                  <a:srgbClr val="383A42"/>
                </a:solidFill>
              </a:rPr>
              <a:t>\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>
                <a:solidFill>
                  <a:srgbClr val="494949"/>
                </a:solidFill>
              </a:rPr>
              <a:t>  --scalable-dimension </a:t>
            </a:r>
            <a:r>
              <a:rPr lang="en-US">
                <a:solidFill>
                  <a:srgbClr val="50A14F"/>
                </a:solidFill>
              </a:rPr>
              <a:t>"dynamodb:table:WriteCapacityUnits"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>
                <a:solidFill>
                  <a:srgbClr val="383A42"/>
                </a:solidFill>
              </a:rPr>
              <a:t>\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>
                <a:solidFill>
                  <a:srgbClr val="494949"/>
                </a:solidFill>
              </a:rPr>
              <a:t>  --min-capacity </a:t>
            </a:r>
            <a:r>
              <a:rPr lang="en-US">
                <a:solidFill>
                  <a:srgbClr val="B76B01"/>
                </a:solidFill>
              </a:rPr>
              <a:t>100</a:t>
            </a:r>
            <a:r>
              <a:rPr lang="en-US">
                <a:solidFill>
                  <a:srgbClr val="494949"/>
                </a:solidFill>
              </a:rPr>
              <a:t> --max-capacity </a:t>
            </a:r>
            <a:r>
              <a:rPr lang="en-US">
                <a:solidFill>
                  <a:srgbClr val="B76B01"/>
                </a:solidFill>
              </a:rPr>
              <a:t>10000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 b="1" dirty="0" err="1">
                <a:solidFill>
                  <a:srgbClr val="404040"/>
                </a:solidFill>
              </a:rPr>
              <a:t>ElastiCache</a:t>
            </a:r>
            <a:r>
              <a:rPr lang="en-US" b="1" dirty="0">
                <a:solidFill>
                  <a:srgbClr val="404040"/>
                </a:solidFill>
              </a:rPr>
              <a:t> Reserved Nodes</a:t>
            </a:r>
            <a:r>
              <a:rPr lang="en-US" dirty="0">
                <a:solidFill>
                  <a:srgbClr val="404040"/>
                </a:solidFill>
              </a:rPr>
              <a:t>: 1-year term for stable workloads</a:t>
            </a:r>
            <a:endParaRPr lang="en-US"/>
          </a:p>
          <a:p>
            <a:endParaRPr lang="en-US" dirty="0">
              <a:cs typeface="+mn-lt"/>
            </a:endParaRPr>
          </a:p>
          <a:p>
            <a:endParaRPr lang="en-US" dirty="0">
              <a:cs typeface="+mn-lt"/>
            </a:endParaRPr>
          </a:p>
          <a:p>
            <a:r>
              <a:rPr lang="en-US" dirty="0">
                <a:cs typeface="+mn-lt"/>
              </a:rPr>
              <a:t>======================</a:t>
            </a:r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DynamoDB For: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High-velocity data</a:t>
            </a:r>
            <a:r>
              <a:rPr lang="en-US" dirty="0">
                <a:solidFill>
                  <a:srgbClr val="404040"/>
                </a:solidFill>
              </a:rPr>
              <a:t>: Payment events (10K+ TPS)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Predictable scaling</a:t>
            </a:r>
            <a:r>
              <a:rPr lang="en-US" dirty="0">
                <a:solidFill>
                  <a:srgbClr val="404040"/>
                </a:solidFill>
              </a:rPr>
              <a:t>: Merchant holiday traffic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Serverless ops</a:t>
            </a:r>
            <a:r>
              <a:rPr lang="en-US" dirty="0">
                <a:solidFill>
                  <a:srgbClr val="404040"/>
                </a:solidFill>
              </a:rPr>
              <a:t>: No DBA overhead</a:t>
            </a:r>
            <a:endParaRPr lang="en-US" dirty="0"/>
          </a:p>
          <a:p>
            <a:r>
              <a:rPr lang="en-US" dirty="0">
                <a:cs typeface="+mn-lt"/>
              </a:rPr>
              <a:t>==================</a:t>
            </a:r>
            <a:br>
              <a:rPr lang="en-US" dirty="0">
                <a:cs typeface="+mn-lt"/>
              </a:rPr>
            </a:br>
            <a:endParaRPr lang="en-US">
              <a:solidFill>
                <a:srgbClr val="000000"/>
              </a:solidFill>
            </a:endParaRPr>
          </a:p>
          <a:p>
            <a:r>
              <a:rPr lang="en-US" b="1" dirty="0">
                <a:solidFill>
                  <a:srgbClr val="404040"/>
                </a:solidFill>
              </a:rPr>
              <a:t>Security &amp; Compliance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>
                <a:solidFill>
                  <a:srgbClr val="404040"/>
                </a:solidFill>
              </a:rPr>
              <a:t>Your Configurations</a:t>
            </a:r>
            <a:r>
              <a:rPr lang="en-US" dirty="0">
                <a:solidFill>
                  <a:srgbClr val="404040"/>
                </a:solidFill>
              </a:rPr>
              <a:t>: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Encryption</a:t>
            </a:r>
            <a:r>
              <a:rPr lang="en-US" dirty="0">
                <a:solidFill>
                  <a:srgbClr val="404040"/>
                </a:solidFill>
              </a:rPr>
              <a:t>: KMS CMKs for DynamoDB at rest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Access Control</a:t>
            </a:r>
            <a:r>
              <a:rPr lang="en-US" dirty="0">
                <a:solidFill>
                  <a:srgbClr val="404040"/>
                </a:solidFill>
              </a:rPr>
              <a:t>: IAM policies with fine-grained DynamoDB permissions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Audit</a:t>
            </a:r>
            <a:r>
              <a:rPr lang="en-US" dirty="0">
                <a:solidFill>
                  <a:srgbClr val="404040"/>
                </a:solidFill>
              </a:rPr>
              <a:t>: CloudTrail logs for all NoSQL API calls</a:t>
            </a:r>
            <a:endParaRPr lang="en-US" dirty="0"/>
          </a:p>
          <a:p>
            <a:endParaRPr lang="en-US" dirty="0">
              <a:cs typeface="+mn-lt"/>
            </a:endParaRPr>
          </a:p>
          <a:p>
            <a:r>
              <a:rPr lang="en-US" dirty="0">
                <a:ea typeface="Calibri"/>
                <a:cs typeface="Calibri"/>
              </a:rPr>
              <a:t>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8EF67-22A0-417E-93A1-33B7F0C1B18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507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Regulatory :</a:t>
            </a:r>
            <a:endParaRPr lang="en-US" dirty="0"/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b="1" dirty="0">
                <a:solidFill>
                  <a:srgbClr val="404040"/>
                </a:solidFill>
              </a:rPr>
              <a:t>Immutable Workflow</a:t>
            </a:r>
            <a:r>
              <a:rPr lang="en-US" dirty="0">
                <a:solidFill>
                  <a:srgbClr val="404040"/>
                </a:solidFill>
              </a:rPr>
              <a:t>: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404040"/>
                </a:solidFill>
              </a:rPr>
              <a:t>Kafka event → Lambda → QLDB (INSERT)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404040"/>
                </a:solidFill>
              </a:rPr>
              <a:t>Stream to S3 for analytics (Athena)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=====================</a:t>
            </a:r>
          </a:p>
          <a:p>
            <a:r>
              <a:rPr lang="en-US" b="1" dirty="0">
                <a:solidFill>
                  <a:srgbClr val="404040"/>
                </a:solidFill>
              </a:rPr>
              <a:t>Core Banking Use Cases for Hibernate</a:t>
            </a:r>
            <a:endParaRPr lang="en-US" dirty="0"/>
          </a:p>
          <a:p>
            <a:r>
              <a:rPr lang="en-US" b="1" dirty="0">
                <a:solidFill>
                  <a:srgbClr val="404040"/>
                </a:solidFill>
              </a:rPr>
              <a:t>Feature</a:t>
            </a:r>
            <a:endParaRPr lang="en-US" dirty="0"/>
          </a:p>
          <a:p>
            <a:r>
              <a:rPr lang="en-US" b="1" dirty="0">
                <a:solidFill>
                  <a:srgbClr val="404040"/>
                </a:solidFill>
              </a:rPr>
              <a:t>Banking Application</a:t>
            </a:r>
            <a:endParaRPr lang="en-US" dirty="0"/>
          </a:p>
          <a:p>
            <a:r>
              <a:rPr lang="en-US" b="1" dirty="0">
                <a:solidFill>
                  <a:srgbClr val="404040"/>
                </a:solidFill>
              </a:rPr>
              <a:t>Your Implementation</a:t>
            </a:r>
            <a:endParaRPr lang="en-US" dirty="0"/>
          </a:p>
          <a:p>
            <a:r>
              <a:rPr lang="en-US" b="1" dirty="0"/>
              <a:t>Entity Relationships</a:t>
            </a:r>
            <a:endParaRPr lang="en-US" dirty="0"/>
          </a:p>
          <a:p>
            <a:r>
              <a:rPr lang="en-US" dirty="0"/>
              <a:t>Trade ↔ Settlement (</a:t>
            </a:r>
            <a:r>
              <a:rPr lang="en-US" dirty="0" err="1"/>
              <a:t>OneToMany</a:t>
            </a:r>
            <a:r>
              <a:rPr lang="en-US" dirty="0"/>
              <a:t>)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@OneToMany(cascade=ALL, </a:t>
            </a:r>
            <a:r>
              <a:rPr lang="en-US" dirty="0" err="1"/>
              <a:t>orphanRemoval</a:t>
            </a:r>
            <a:r>
              <a:rPr lang="en-US" dirty="0"/>
              <a:t>=true)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Caching</a:t>
            </a:r>
            <a:endParaRPr lang="en-US" dirty="0"/>
          </a:p>
          <a:p>
            <a:r>
              <a:rPr lang="en-US" dirty="0"/>
              <a:t>Reference data (FX rates, currencies)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L2 Cache (</a:t>
            </a:r>
            <a:r>
              <a:rPr lang="en-US" dirty="0" err="1"/>
              <a:t>Ehcache</a:t>
            </a:r>
            <a:r>
              <a:rPr lang="en-US" dirty="0"/>
              <a:t>) + @Cache(usage=READ_WRITE)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Batch Processing</a:t>
            </a:r>
            <a:endParaRPr lang="en-US" dirty="0"/>
          </a:p>
          <a:p>
            <a:r>
              <a:rPr lang="en-US" dirty="0"/>
              <a:t>EOD reconciliation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/>
              <a:t>hibernate.jdbc.batch_size</a:t>
            </a:r>
            <a:r>
              <a:rPr lang="en-US" dirty="0"/>
              <a:t>=50 + @Id sequence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Audit Logging</a:t>
            </a:r>
            <a:endParaRPr lang="en-US" dirty="0"/>
          </a:p>
          <a:p>
            <a:r>
              <a:rPr lang="en-US" dirty="0"/>
              <a:t>Regulatory compliance (MiFID II)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@PreUpdate + Kafka event publishing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cs typeface="+mn-lt"/>
              </a:rPr>
              <a:t>=======================</a:t>
            </a:r>
          </a:p>
          <a:p>
            <a:endParaRPr lang="en-US" dirty="0">
              <a:cs typeface="+mn-lt"/>
            </a:endParaRPr>
          </a:p>
          <a:p>
            <a:endParaRPr lang="en-US" dirty="0">
              <a:cs typeface="+mn-lt"/>
            </a:endParaRPr>
          </a:p>
          <a:p>
            <a:r>
              <a:rPr lang="en-US" dirty="0">
                <a:cs typeface="+mn-lt"/>
              </a:rPr>
              <a:t>Deployment Factors</a:t>
            </a:r>
            <a:endParaRPr lang="en-US" dirty="0">
              <a:ea typeface="Calibri"/>
              <a:cs typeface="+mn-lt"/>
            </a:endParaRPr>
          </a:p>
          <a:p>
            <a:endParaRPr lang="en-US" dirty="0"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Criticality</a:t>
            </a:r>
            <a:r>
              <a:rPr lang="en-US" dirty="0">
                <a:solidFill>
                  <a:srgbClr val="404040"/>
                </a:solidFill>
              </a:rPr>
              <a:t>: Kubernetes for core payments (self-healing), Lambda for background checks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Compliance</a:t>
            </a:r>
            <a:r>
              <a:rPr lang="en-US" dirty="0">
                <a:solidFill>
                  <a:srgbClr val="404040"/>
                </a:solidFill>
              </a:rPr>
              <a:t>: Isolated namespaces for PCI data, Terraform for audit trails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Cost</a:t>
            </a:r>
            <a:r>
              <a:rPr lang="en-US" dirty="0">
                <a:solidFill>
                  <a:srgbClr val="404040"/>
                </a:solidFill>
              </a:rPr>
              <a:t>: Serverless for spiky workloads, reserved instances for steady-state</a:t>
            </a:r>
            <a:endParaRPr lang="en-US" dirty="0"/>
          </a:p>
          <a:p>
            <a:endParaRPr lang="en-US" dirty="0">
              <a:cs typeface="+mn-lt"/>
            </a:endParaRPr>
          </a:p>
          <a:p>
            <a:r>
              <a:rPr lang="en-US" dirty="0">
                <a:cs typeface="+mn-lt"/>
              </a:rPr>
              <a:t>==========================</a:t>
            </a:r>
            <a:endParaRPr lang="en-US" dirty="0">
              <a:ea typeface="Calibri" panose="020F0502020204030204"/>
              <a:cs typeface="+mn-lt"/>
            </a:endParaRPr>
          </a:p>
          <a:p>
            <a:r>
              <a:rPr lang="en-US" dirty="0">
                <a:solidFill>
                  <a:srgbClr val="404040"/>
                </a:solidFill>
              </a:rPr>
              <a:t>Model</a:t>
            </a:r>
            <a:endParaRPr lang="en-US" dirty="0"/>
          </a:p>
          <a:p>
            <a:r>
              <a:rPr lang="en-US" dirty="0">
                <a:solidFill>
                  <a:srgbClr val="404040"/>
                </a:solidFill>
              </a:rPr>
              <a:t>Use Case</a:t>
            </a:r>
            <a:endParaRPr lang="en-US" dirty="0"/>
          </a:p>
          <a:p>
            <a:r>
              <a:rPr lang="en-US" dirty="0">
                <a:solidFill>
                  <a:srgbClr val="404040"/>
                </a:solidFill>
              </a:rPr>
              <a:t>Tech Stack You've Used</a:t>
            </a:r>
            <a:endParaRPr lang="en-US" dirty="0"/>
          </a:p>
          <a:p>
            <a:r>
              <a:rPr lang="en-US" dirty="0">
                <a:solidFill>
                  <a:srgbClr val="404040"/>
                </a:solidFill>
              </a:rPr>
              <a:t>Pros/Cons</a:t>
            </a:r>
            <a:endParaRPr lang="en-US" dirty="0"/>
          </a:p>
          <a:p>
            <a:endParaRPr lang="en-US" dirty="0">
              <a:solidFill>
                <a:srgbClr val="404040"/>
              </a:solidFill>
            </a:endParaRPr>
          </a:p>
          <a:p>
            <a:endParaRPr lang="en-US" dirty="0">
              <a:solidFill>
                <a:srgbClr val="404040"/>
              </a:solidFill>
            </a:endParaRPr>
          </a:p>
          <a:p>
            <a:r>
              <a:rPr lang="en-US" dirty="0">
                <a:solidFill>
                  <a:srgbClr val="404040"/>
                </a:solidFill>
              </a:rPr>
              <a:t>Kubernetes (EKS/OpenShift)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solidFill>
                  <a:srgbClr val="404040"/>
                </a:solidFill>
              </a:rPr>
              <a:t>High-scale trading platforms</a:t>
            </a:r>
            <a:endParaRPr lang="en-US" dirty="0"/>
          </a:p>
          <a:p>
            <a:r>
              <a:rPr lang="en-US" dirty="0">
                <a:solidFill>
                  <a:srgbClr val="404040"/>
                </a:solidFill>
              </a:rPr>
              <a:t>AWS EKS, Red Hat OpenShift</a:t>
            </a:r>
            <a:endParaRPr lang="en-US" dirty="0"/>
          </a:p>
          <a:p>
            <a:r>
              <a:rPr lang="en-US" dirty="0">
                <a:solidFill>
                  <a:srgbClr val="404040"/>
                </a:solidFill>
              </a:rPr>
              <a:t>✅ Auto-scaling, multi-AZ</a:t>
            </a:r>
            <a:br>
              <a:rPr lang="en-US" dirty="0">
                <a:cs typeface="+mn-lt"/>
              </a:rPr>
            </a:br>
            <a:r>
              <a:rPr lang="en-US" dirty="0">
                <a:solidFill>
                  <a:srgbClr val="404040"/>
                </a:solidFill>
              </a:rPr>
              <a:t>❌ Complex networking</a:t>
            </a:r>
            <a:endParaRPr lang="en-US" dirty="0"/>
          </a:p>
          <a:p>
            <a:endParaRPr lang="en-US" dirty="0">
              <a:solidFill>
                <a:srgbClr val="404040"/>
              </a:solidFill>
            </a:endParaRPr>
          </a:p>
          <a:p>
            <a:endParaRPr lang="en-US" dirty="0">
              <a:solidFill>
                <a:srgbClr val="404040"/>
              </a:solidFill>
            </a:endParaRPr>
          </a:p>
          <a:p>
            <a:r>
              <a:rPr lang="en-US" dirty="0">
                <a:solidFill>
                  <a:srgbClr val="404040"/>
                </a:solidFill>
              </a:rPr>
              <a:t>Serverless (Lambda)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solidFill>
                  <a:srgbClr val="404040"/>
                </a:solidFill>
              </a:rPr>
              <a:t>Event-driven tasks (e.g., fraud checks)</a:t>
            </a:r>
            <a:endParaRPr lang="en-US" dirty="0"/>
          </a:p>
          <a:p>
            <a:r>
              <a:rPr lang="en-US" dirty="0">
                <a:solidFill>
                  <a:srgbClr val="404040"/>
                </a:solidFill>
              </a:rPr>
              <a:t>AWS Lambda + SQS/Kafka</a:t>
            </a:r>
            <a:endParaRPr lang="en-US" dirty="0"/>
          </a:p>
          <a:p>
            <a:r>
              <a:rPr lang="en-US" dirty="0">
                <a:solidFill>
                  <a:srgbClr val="404040"/>
                </a:solidFill>
              </a:rPr>
              <a:t>✅ Zero ops, pay-per-use</a:t>
            </a:r>
            <a:br>
              <a:rPr lang="en-US" dirty="0">
                <a:cs typeface="+mn-lt"/>
              </a:rPr>
            </a:br>
            <a:r>
              <a:rPr lang="en-US" dirty="0">
                <a:solidFill>
                  <a:srgbClr val="404040"/>
                </a:solidFill>
              </a:rPr>
              <a:t>❌ Cold starts</a:t>
            </a:r>
            <a:endParaRPr lang="en-US" dirty="0"/>
          </a:p>
          <a:p>
            <a:endParaRPr lang="en-US" dirty="0">
              <a:solidFill>
                <a:srgbClr val="404040"/>
              </a:solidFill>
            </a:endParaRPr>
          </a:p>
          <a:p>
            <a:endParaRPr lang="en-US" dirty="0">
              <a:solidFill>
                <a:srgbClr val="404040"/>
              </a:solidFill>
            </a:endParaRPr>
          </a:p>
          <a:p>
            <a:endParaRPr lang="en-US" dirty="0">
              <a:solidFill>
                <a:srgbClr val="404040"/>
              </a:solidFill>
            </a:endParaRPr>
          </a:p>
          <a:p>
            <a:r>
              <a:rPr lang="en-US" dirty="0">
                <a:solidFill>
                  <a:srgbClr val="404040"/>
                </a:solidFill>
              </a:rPr>
              <a:t>VM-Based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solidFill>
                  <a:srgbClr val="404040"/>
                </a:solidFill>
              </a:rPr>
              <a:t>Legacy systems with strict compliance</a:t>
            </a:r>
            <a:endParaRPr lang="en-US" dirty="0"/>
          </a:p>
          <a:p>
            <a:r>
              <a:rPr lang="en-US" dirty="0">
                <a:solidFill>
                  <a:srgbClr val="404040"/>
                </a:solidFill>
              </a:rPr>
              <a:t>EC2 + Auto Scaling Groups</a:t>
            </a:r>
            <a:endParaRPr lang="en-US" dirty="0"/>
          </a:p>
          <a:p>
            <a:r>
              <a:rPr lang="en-US" dirty="0">
                <a:solidFill>
                  <a:srgbClr val="404040"/>
                </a:solidFill>
              </a:rPr>
              <a:t>✅ Full control</a:t>
            </a:r>
            <a:br>
              <a:rPr lang="en-US" dirty="0">
                <a:cs typeface="+mn-lt"/>
              </a:rPr>
            </a:br>
            <a:r>
              <a:rPr lang="en-US" dirty="0">
                <a:solidFill>
                  <a:srgbClr val="404040"/>
                </a:solidFill>
              </a:rPr>
              <a:t>❌ Manual scaling</a:t>
            </a:r>
            <a:endParaRPr lang="en-US" dirty="0"/>
          </a:p>
          <a:p>
            <a:endParaRPr lang="en-US" dirty="0">
              <a:solidFill>
                <a:srgbClr val="404040"/>
              </a:solidFill>
            </a:endParaRPr>
          </a:p>
          <a:p>
            <a:endParaRPr lang="en-US" dirty="0">
              <a:solidFill>
                <a:srgbClr val="404040"/>
              </a:solidFill>
            </a:endParaRPr>
          </a:p>
          <a:p>
            <a:endParaRPr lang="en-US" dirty="0">
              <a:solidFill>
                <a:srgbClr val="404040"/>
              </a:solidFill>
            </a:endParaRPr>
          </a:p>
          <a:p>
            <a:r>
              <a:rPr lang="en-US" dirty="0">
                <a:solidFill>
                  <a:srgbClr val="404040"/>
                </a:solidFill>
              </a:rPr>
              <a:t>Hybrid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solidFill>
                  <a:srgbClr val="404040"/>
                </a:solidFill>
              </a:rPr>
              <a:t>Gradual cloud migration</a:t>
            </a:r>
            <a:endParaRPr lang="en-US" dirty="0"/>
          </a:p>
          <a:p>
            <a:r>
              <a:rPr lang="en-US" dirty="0">
                <a:solidFill>
                  <a:srgbClr val="404040"/>
                </a:solidFill>
              </a:rPr>
              <a:t>EKS + On-prem OpenShift</a:t>
            </a:r>
            <a:endParaRPr lang="en-US" dirty="0"/>
          </a:p>
          <a:p>
            <a:r>
              <a:rPr lang="en-US" dirty="0">
                <a:solidFill>
                  <a:srgbClr val="404040"/>
                </a:solidFill>
              </a:rPr>
              <a:t>✅ Flexibility</a:t>
            </a:r>
            <a:br>
              <a:rPr lang="en-US" dirty="0">
                <a:cs typeface="+mn-lt"/>
              </a:rPr>
            </a:br>
            <a:r>
              <a:rPr lang="en-US" dirty="0">
                <a:solidFill>
                  <a:srgbClr val="404040"/>
                </a:solidFill>
              </a:rPr>
              <a:t>❌ Increased complexity</a:t>
            </a:r>
            <a:endParaRPr lang="en-US" dirty="0"/>
          </a:p>
          <a:p>
            <a:endParaRPr lang="en-US" b="1" dirty="0">
              <a:solidFill>
                <a:srgbClr val="404040"/>
              </a:solidFill>
              <a:ea typeface="Calibri"/>
              <a:cs typeface="+mn-lt"/>
            </a:endParaRPr>
          </a:p>
          <a:p>
            <a:r>
              <a:rPr lang="en-US" dirty="0">
                <a:cs typeface="+mn-lt"/>
              </a:rPr>
              <a:t>=============================</a:t>
            </a:r>
            <a:br>
              <a:rPr lang="en-US" dirty="0">
                <a:cs typeface="+mn-lt"/>
              </a:rPr>
            </a:br>
            <a:endParaRPr lang="en-US">
              <a:ea typeface="Calibri"/>
              <a:cs typeface="+mn-lt"/>
            </a:endParaRPr>
          </a:p>
          <a:p>
            <a:r>
              <a:rPr lang="en-US" dirty="0">
                <a:cs typeface="+mn-lt"/>
              </a:rPr>
              <a:t>Banking App specific strategies</a:t>
            </a:r>
            <a:endParaRPr lang="en-US" dirty="0">
              <a:ea typeface="Calibri"/>
              <a:cs typeface="+mn-lt"/>
            </a:endParaRPr>
          </a:p>
          <a:p>
            <a:r>
              <a:rPr lang="en-US" dirty="0">
                <a:solidFill>
                  <a:srgbClr val="404040"/>
                </a:solidFill>
              </a:rPr>
              <a:t>key strategies: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Protocol Choice</a:t>
            </a:r>
            <a:r>
              <a:rPr lang="en-US" dirty="0">
                <a:solidFill>
                  <a:srgbClr val="404040"/>
                </a:solidFill>
              </a:rPr>
              <a:t>: </a:t>
            </a:r>
            <a:r>
              <a:rPr lang="en-US" dirty="0" err="1">
                <a:solidFill>
                  <a:srgbClr val="404040"/>
                </a:solidFill>
              </a:rPr>
              <a:t>gRPC</a:t>
            </a:r>
            <a:r>
              <a:rPr lang="en-US" dirty="0">
                <a:solidFill>
                  <a:srgbClr val="404040"/>
                </a:solidFill>
              </a:rPr>
              <a:t> over REST for internal calls (40ms latency).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Caching</a:t>
            </a:r>
            <a:r>
              <a:rPr lang="en-US" dirty="0">
                <a:solidFill>
                  <a:srgbClr val="404040"/>
                </a:solidFill>
              </a:rPr>
              <a:t>: Redis for reference data, Hibernate L2 cache for DB entities.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Async Processing</a:t>
            </a:r>
            <a:r>
              <a:rPr lang="en-US" dirty="0">
                <a:solidFill>
                  <a:srgbClr val="404040"/>
                </a:solidFill>
              </a:rPr>
              <a:t>: Kafka for settlement with exactly-once semantics.</a:t>
            </a:r>
            <a:br>
              <a:rPr lang="en-US" dirty="0">
                <a:cs typeface="+mn-lt"/>
              </a:rPr>
            </a:br>
            <a:r>
              <a:rPr lang="en-US" dirty="0">
                <a:solidFill>
                  <a:srgbClr val="404040"/>
                </a:solidFill>
              </a:rPr>
              <a:t>*At JPM Chase, this handled 10K+ trades/sec with &lt;100ms E2E latency.*"*</a:t>
            </a:r>
            <a:endParaRPr lang="en-US" dirty="0"/>
          </a:p>
          <a:p>
            <a:endParaRPr lang="en-US" dirty="0">
              <a:solidFill>
                <a:srgbClr val="404040"/>
              </a:solidFill>
            </a:endParaRPr>
          </a:p>
          <a:p>
            <a:r>
              <a:rPr lang="en-US" dirty="0">
                <a:solidFill>
                  <a:srgbClr val="404040"/>
                </a:solidFill>
              </a:rPr>
              <a:t>*"Defense in depth: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Resilience4j</a:t>
            </a:r>
            <a:r>
              <a:rPr lang="en-US" dirty="0">
                <a:solidFill>
                  <a:srgbClr val="404040"/>
                </a:solidFill>
              </a:rPr>
              <a:t>: Circuit breakers on downstream calls.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Kubernetes</a:t>
            </a:r>
            <a:r>
              <a:rPr lang="en-US" dirty="0">
                <a:solidFill>
                  <a:srgbClr val="404040"/>
                </a:solidFill>
              </a:rPr>
              <a:t>: Pod limits + HPA.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Kafka</a:t>
            </a:r>
            <a:r>
              <a:rPr lang="en-US" dirty="0">
                <a:solidFill>
                  <a:srgbClr val="404040"/>
                </a:solidFill>
              </a:rPr>
              <a:t>: Rate-limiting producers.</a:t>
            </a:r>
            <a:br>
              <a:rPr lang="en-US" dirty="0">
                <a:cs typeface="+mn-lt"/>
              </a:rPr>
            </a:br>
            <a:endParaRPr lang="en-US">
              <a:solidFill>
                <a:srgbClr val="404040"/>
              </a:solidFill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+mn-lt"/>
              </a:rPr>
              <a:t>======================================</a:t>
            </a:r>
            <a:endParaRPr lang="en-US" dirty="0"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8EF67-22A0-417E-93A1-33B7F0C1B18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77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solidFill>
                <a:srgbClr val="40404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8EF67-22A0-417E-93A1-33B7F0C1B18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05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b="1">
                <a:solidFill>
                  <a:srgbClr val="404040"/>
                </a:solidFill>
              </a:rPr>
              <a:t>Event </a:t>
            </a:r>
            <a:r>
              <a:rPr lang="en-US" b="1" err="1">
                <a:solidFill>
                  <a:srgbClr val="404040"/>
                </a:solidFill>
              </a:rPr>
              <a:t>Sourceing</a:t>
            </a:r>
            <a:endParaRPr lang="en-US" dirty="0" err="1">
              <a:solidFill>
                <a:srgbClr val="444444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b="1">
                <a:solidFill>
                  <a:srgbClr val="404040"/>
                </a:solidFill>
              </a:rPr>
              <a:t>Complete Audit Trail</a:t>
            </a:r>
            <a:r>
              <a:rPr lang="en-US">
                <a:solidFill>
                  <a:srgbClr val="404040"/>
                </a:solidFill>
              </a:rPr>
              <a:t>: Every state change is an immutable event.</a:t>
            </a:r>
            <a:endParaRPr lang="en-US" dirty="0">
              <a:solidFill>
                <a:srgbClr val="444444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b="1">
                <a:solidFill>
                  <a:srgbClr val="404040"/>
                </a:solidFill>
              </a:rPr>
              <a:t>Real-Time Processing</a:t>
            </a:r>
            <a:r>
              <a:rPr lang="en-US">
                <a:solidFill>
                  <a:srgbClr val="404040"/>
                </a:solidFill>
              </a:rPr>
              <a:t>: Kafka enables sub-second settlement.</a:t>
            </a:r>
            <a:endParaRPr lang="en-US" dirty="0">
              <a:solidFill>
                <a:srgbClr val="444444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b="1">
                <a:solidFill>
                  <a:srgbClr val="404040"/>
                </a:solidFill>
              </a:rPr>
              <a:t>Fault Recovery</a:t>
            </a:r>
            <a:r>
              <a:rPr lang="en-US">
                <a:solidFill>
                  <a:srgbClr val="404040"/>
                </a:solidFill>
              </a:rPr>
              <a:t>: Replay events to rebuild state after failures.</a:t>
            </a:r>
            <a:br>
              <a:rPr lang="en-US" dirty="0">
                <a:solidFill>
                  <a:srgbClr val="404040"/>
                </a:solidFill>
              </a:rPr>
            </a:br>
            <a:r>
              <a:rPr lang="en-US">
                <a:solidFill>
                  <a:srgbClr val="404040"/>
                </a:solidFill>
              </a:rPr>
              <a:t>Use Case Example:</a:t>
            </a:r>
            <a:endParaRPr lang="en-US" dirty="0">
              <a:solidFill>
                <a:srgbClr val="444444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i="1">
                <a:solidFill>
                  <a:srgbClr val="404040"/>
                </a:solidFill>
              </a:rPr>
              <a:t>"Reconstruct the exact state of a $1B FX trade settlement after a system crash."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"/>
              <a:buChar char="•"/>
            </a:pP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b="1">
                <a:solidFill>
                  <a:srgbClr val="404040"/>
                </a:solidFill>
              </a:rPr>
              <a:t>Settlement Service Workflow: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 b="1">
                <a:solidFill>
                  <a:srgbClr val="404040"/>
                </a:solidFill>
              </a:rPr>
              <a:t>Consume</a:t>
            </a:r>
            <a:r>
              <a:rPr lang="en-US" dirty="0">
                <a:solidFill>
                  <a:srgbClr val="404040"/>
                </a:solidFill>
              </a:rPr>
              <a:t> </a:t>
            </a:r>
            <a:r>
              <a:rPr lang="en-US" err="1">
                <a:solidFill>
                  <a:srgbClr val="404040"/>
                </a:solidFill>
              </a:rPr>
              <a:t>TradeEvent</a:t>
            </a:r>
            <a:r>
              <a:rPr lang="en-US">
                <a:solidFill>
                  <a:srgbClr val="404040"/>
                </a:solidFill>
              </a:rPr>
              <a:t> from Kafka.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 b="1" dirty="0">
                <a:solidFill>
                  <a:srgbClr val="404040"/>
                </a:solidFill>
              </a:rPr>
              <a:t>Validate</a:t>
            </a:r>
            <a:r>
              <a:rPr lang="en-US" dirty="0">
                <a:solidFill>
                  <a:srgbClr val="404040"/>
                </a:solidFill>
              </a:rPr>
              <a:t>: Check funds, counterparty limits.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 b="1" dirty="0">
                <a:solidFill>
                  <a:srgbClr val="404040"/>
                </a:solidFill>
              </a:rPr>
              <a:t>Emit</a:t>
            </a:r>
            <a:r>
              <a:rPr lang="en-US" dirty="0">
                <a:solidFill>
                  <a:srgbClr val="404040"/>
                </a:solidFill>
              </a:rPr>
              <a:t>:</a:t>
            </a:r>
            <a:endParaRPr lang="en-US" dirty="0">
              <a:solidFill>
                <a:srgbClr val="444444"/>
              </a:solidFill>
            </a:endParaRPr>
          </a:p>
          <a:p>
            <a:pPr marL="628650" lvl="1" indent="-171450">
              <a:buFont typeface="Arial,Sans-Serif"/>
              <a:buChar char="•"/>
            </a:pPr>
            <a:r>
              <a:rPr lang="en-US" dirty="0" err="1">
                <a:solidFill>
                  <a:srgbClr val="404040"/>
                </a:solidFill>
              </a:rPr>
              <a:t>SettlementInitiatedEvent</a:t>
            </a:r>
            <a:r>
              <a:rPr lang="en-US" dirty="0">
                <a:solidFill>
                  <a:srgbClr val="404040"/>
                </a:solidFill>
              </a:rPr>
              <a:t> → Notify ops team.</a:t>
            </a:r>
            <a:endParaRPr lang="en-US" dirty="0">
              <a:solidFill>
                <a:srgbClr val="444444"/>
              </a:solidFill>
            </a:endParaRPr>
          </a:p>
          <a:p>
            <a:pPr marL="628650" lvl="1" indent="-171450">
              <a:buFont typeface="Arial,Sans-Serif"/>
              <a:buChar char="•"/>
            </a:pPr>
            <a:r>
              <a:rPr lang="en-US" dirty="0" err="1">
                <a:solidFill>
                  <a:srgbClr val="404040"/>
                </a:solidFill>
              </a:rPr>
              <a:t>SettlementCompletedEvent</a:t>
            </a:r>
            <a:r>
              <a:rPr lang="en-US" dirty="0">
                <a:solidFill>
                  <a:srgbClr val="404040"/>
                </a:solidFill>
              </a:rPr>
              <a:t> → Update ledger.</a:t>
            </a:r>
            <a:br>
              <a:rPr lang="en-US" dirty="0">
                <a:cs typeface="+mn-lt"/>
              </a:rPr>
            </a:br>
            <a:r>
              <a:rPr lang="en-US" dirty="0">
                <a:solidFill>
                  <a:srgbClr val="404040"/>
                </a:solidFill>
              </a:rPr>
              <a:t>Code Snippet (Kafka Streams):</a:t>
            </a:r>
            <a:endParaRPr lang="en-US" dirty="0">
              <a:solidFill>
                <a:srgbClr val="444444"/>
              </a:solidFill>
            </a:endParaRPr>
          </a:p>
          <a:p>
            <a:pPr marL="628650" lvl="1" indent="-171450">
              <a:buFont typeface="Arial"/>
              <a:buChar char="•"/>
            </a:pPr>
            <a:r>
              <a:rPr lang="en-US" dirty="0">
                <a:solidFill>
                  <a:srgbClr val="525252"/>
                </a:solidFill>
              </a:rPr>
              <a:t>java</a:t>
            </a:r>
            <a:endParaRPr lang="en-US" dirty="0">
              <a:solidFill>
                <a:srgbClr val="444444"/>
              </a:solidFill>
            </a:endParaRPr>
          </a:p>
          <a:p>
            <a:pPr marL="628650" lvl="1" indent="-171450">
              <a:buFont typeface="Arial"/>
              <a:buChar char="•"/>
            </a:pPr>
            <a:r>
              <a:rPr lang="en-US" dirty="0" err="1">
                <a:solidFill>
                  <a:srgbClr val="B76B01"/>
                </a:solidFill>
              </a:rPr>
              <a:t>KStream</a:t>
            </a:r>
            <a:r>
              <a:rPr lang="en-US" dirty="0">
                <a:solidFill>
                  <a:srgbClr val="383A42"/>
                </a:solidFill>
              </a:rPr>
              <a:t>&lt;</a:t>
            </a:r>
            <a:r>
              <a:rPr lang="en-US" dirty="0">
                <a:solidFill>
                  <a:srgbClr val="B76B01"/>
                </a:solidFill>
              </a:rPr>
              <a:t>String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TradeEvent</a:t>
            </a:r>
            <a:r>
              <a:rPr lang="en-US" dirty="0">
                <a:solidFill>
                  <a:srgbClr val="383A42"/>
                </a:solidFill>
              </a:rPr>
              <a:t>&gt;</a:t>
            </a:r>
            <a:r>
              <a:rPr lang="en-US" dirty="0">
                <a:solidFill>
                  <a:srgbClr val="494949"/>
                </a:solidFill>
              </a:rPr>
              <a:t> trades </a:t>
            </a:r>
            <a:r>
              <a:rPr lang="en-US" dirty="0">
                <a:solidFill>
                  <a:srgbClr val="4078F2"/>
                </a:solidFill>
              </a:rPr>
              <a:t>=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builder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stream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50A14F"/>
                </a:solidFill>
              </a:rPr>
              <a:t>"</a:t>
            </a:r>
            <a:r>
              <a:rPr lang="en-US" dirty="0" err="1">
                <a:solidFill>
                  <a:srgbClr val="50A14F"/>
                </a:solidFill>
              </a:rPr>
              <a:t>trades.raw</a:t>
            </a:r>
            <a:r>
              <a:rPr lang="en-US" dirty="0">
                <a:solidFill>
                  <a:srgbClr val="50A14F"/>
                </a:solidFill>
              </a:rPr>
              <a:t>"</a:t>
            </a:r>
            <a:r>
              <a:rPr lang="en-US" dirty="0">
                <a:solidFill>
                  <a:srgbClr val="383A42"/>
                </a:solidFill>
              </a:rPr>
              <a:t>);</a:t>
            </a:r>
            <a:br>
              <a:rPr lang="en-US" dirty="0">
                <a:cs typeface="+mn-lt"/>
              </a:rPr>
            </a:br>
            <a:r>
              <a:rPr lang="en-US" dirty="0" err="1">
                <a:solidFill>
                  <a:srgbClr val="383A42"/>
                </a:solidFill>
              </a:rPr>
              <a:t>trades.</a:t>
            </a:r>
            <a:r>
              <a:rPr lang="en-US" dirty="0" err="1">
                <a:solidFill>
                  <a:srgbClr val="4078F2"/>
                </a:solidFill>
              </a:rPr>
              <a:t>filter</a:t>
            </a:r>
            <a:r>
              <a:rPr lang="en-US" dirty="0">
                <a:solidFill>
                  <a:srgbClr val="383A42"/>
                </a:solidFill>
              </a:rPr>
              <a:t>((</a:t>
            </a:r>
            <a:r>
              <a:rPr lang="en-US" dirty="0">
                <a:solidFill>
                  <a:srgbClr val="494949"/>
                </a:solidFill>
              </a:rPr>
              <a:t>k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v</a:t>
            </a:r>
            <a:r>
              <a:rPr lang="en-US" dirty="0">
                <a:solidFill>
                  <a:srgbClr val="383A42"/>
                </a:solidFill>
              </a:rPr>
              <a:t>)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4078F2"/>
                </a:solidFill>
              </a:rPr>
              <a:t>-&gt;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50A14F"/>
                </a:solidFill>
              </a:rPr>
              <a:t>"</a:t>
            </a:r>
            <a:r>
              <a:rPr lang="en-US" dirty="0" err="1">
                <a:solidFill>
                  <a:srgbClr val="50A14F"/>
                </a:solidFill>
              </a:rPr>
              <a:t>FX"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equals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 err="1">
                <a:solidFill>
                  <a:srgbClr val="494949"/>
                </a:solidFill>
              </a:rPr>
              <a:t>v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getProductType</a:t>
            </a:r>
            <a:r>
              <a:rPr lang="en-US" dirty="0">
                <a:solidFill>
                  <a:srgbClr val="383A42"/>
                </a:solidFill>
              </a:rPr>
              <a:t>()))</a:t>
            </a:r>
            <a:br>
              <a:rPr lang="en-US" dirty="0">
                <a:cs typeface="+mn-lt"/>
              </a:rPr>
            </a:br>
            <a:r>
              <a:rPr lang="en-US" dirty="0">
                <a:solidFill>
                  <a:srgbClr val="383A42"/>
                </a:solidFill>
              </a:rPr>
              <a:t> .</a:t>
            </a:r>
            <a:r>
              <a:rPr lang="en-US" dirty="0" err="1">
                <a:solidFill>
                  <a:srgbClr val="4078F2"/>
                </a:solidFill>
              </a:rPr>
              <a:t>mapValues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494949"/>
                </a:solidFill>
              </a:rPr>
              <a:t>trade </a:t>
            </a:r>
            <a:r>
              <a:rPr lang="en-US" dirty="0">
                <a:solidFill>
                  <a:srgbClr val="4078F2"/>
                </a:solidFill>
              </a:rPr>
              <a:t>-&gt;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A626A4"/>
                </a:solidFill>
              </a:rPr>
              <a:t>new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SettlementEvent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494949"/>
                </a:solidFill>
              </a:rPr>
              <a:t>trade</a:t>
            </a:r>
            <a:r>
              <a:rPr lang="en-US" dirty="0">
                <a:solidFill>
                  <a:srgbClr val="383A42"/>
                </a:solidFill>
              </a:rPr>
              <a:t>))</a:t>
            </a:r>
            <a:br>
              <a:rPr lang="en-US" dirty="0">
                <a:cs typeface="+mn-lt"/>
              </a:rPr>
            </a:br>
            <a:r>
              <a:rPr lang="en-US" dirty="0">
                <a:solidFill>
                  <a:srgbClr val="383A42"/>
                </a:solidFill>
              </a:rPr>
              <a:t> .</a:t>
            </a:r>
            <a:r>
              <a:rPr lang="en-US" dirty="0">
                <a:solidFill>
                  <a:srgbClr val="A626A4"/>
                </a:solidFill>
              </a:rPr>
              <a:t>to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50A14F"/>
                </a:solidFill>
              </a:rPr>
              <a:t>"</a:t>
            </a:r>
            <a:r>
              <a:rPr lang="en-US" dirty="0" err="1">
                <a:solidFill>
                  <a:srgbClr val="50A14F"/>
                </a:solidFill>
              </a:rPr>
              <a:t>settlements.processed</a:t>
            </a:r>
            <a:r>
              <a:rPr lang="en-US" dirty="0">
                <a:solidFill>
                  <a:srgbClr val="50A14F"/>
                </a:solidFill>
              </a:rPr>
              <a:t>"</a:t>
            </a:r>
            <a:r>
              <a:rPr lang="en-US" dirty="0">
                <a:solidFill>
                  <a:srgbClr val="383A42"/>
                </a:solidFill>
              </a:rPr>
              <a:t>);</a:t>
            </a:r>
            <a:endParaRPr lang="en-US" dirty="0">
              <a:solidFill>
                <a:srgbClr val="444444"/>
              </a:solidFill>
            </a:endParaRPr>
          </a:p>
          <a:p>
            <a:pPr marL="628650" lvl="1" indent="-171450">
              <a:buFont typeface="Arial"/>
              <a:buChar char="•"/>
            </a:pPr>
            <a:br>
              <a:rPr lang="en-US" dirty="0">
                <a:cs typeface="+mn-lt"/>
              </a:rPr>
            </a:br>
            <a:endParaRPr lang="en-US" dirty="0">
              <a:cs typeface="+mn-lt"/>
            </a:endParaRPr>
          </a:p>
          <a:p>
            <a:pPr marL="628650" lvl="1" indent="-171450">
              <a:buFont typeface="Arial"/>
              <a:buChar char="•"/>
            </a:pPr>
            <a:r>
              <a:rPr lang="en-US" b="1">
                <a:solidFill>
                  <a:srgbClr val="404040"/>
                </a:solidFill>
              </a:rPr>
              <a:t>Failure Handling &amp; Idempotency</a:t>
            </a:r>
            <a:endParaRPr lang="en-US">
              <a:solidFill>
                <a:srgbClr val="444444"/>
              </a:solidFill>
            </a:endParaRPr>
          </a:p>
          <a:p>
            <a:pPr marL="628650" lvl="1" indent="-171450">
              <a:buFont typeface="Arial"/>
              <a:buChar char="•"/>
            </a:pPr>
            <a:endParaRPr lang="en-US" b="1" dirty="0">
              <a:solidFill>
                <a:srgbClr val="404040"/>
              </a:solidFill>
            </a:endParaRPr>
          </a:p>
          <a:p>
            <a:pPr marL="628650" lvl="1" indent="-171450">
              <a:buFont typeface="Arial"/>
              <a:buChar char="•"/>
            </a:pPr>
            <a:endParaRPr lang="en-US" b="1" dirty="0">
              <a:solidFill>
                <a:srgbClr val="404040"/>
              </a:solidFill>
            </a:endParaRPr>
          </a:p>
          <a:p>
            <a:pPr marL="628650" lvl="1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Patterns:</a:t>
            </a:r>
            <a:endParaRPr lang="en-US" dirty="0">
              <a:solidFill>
                <a:srgbClr val="444444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,Sans-Serif"/>
              <a:buChar char="•"/>
            </a:pPr>
            <a:r>
              <a:rPr lang="en-US" b="1" dirty="0">
                <a:solidFill>
                  <a:srgbClr val="404040"/>
                </a:solidFill>
              </a:rPr>
              <a:t>Dead Letter Queue (DLQ)</a:t>
            </a:r>
            <a:r>
              <a:rPr lang="en-US" dirty="0">
                <a:solidFill>
                  <a:srgbClr val="404040"/>
                </a:solidFill>
              </a:rPr>
              <a:t>: Route malformed events to </a:t>
            </a:r>
            <a:r>
              <a:rPr lang="en-US" dirty="0" err="1">
                <a:solidFill>
                  <a:srgbClr val="404040"/>
                </a:solidFill>
              </a:rPr>
              <a:t>trades.dlq</a:t>
            </a:r>
            <a:r>
              <a:rPr lang="en-US" dirty="0">
                <a:solidFill>
                  <a:srgbClr val="404040"/>
                </a:solidFill>
              </a:rPr>
              <a:t>.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 b="1" dirty="0">
                <a:solidFill>
                  <a:srgbClr val="404040"/>
                </a:solidFill>
              </a:rPr>
              <a:t>Idempotent Writes</a:t>
            </a:r>
            <a:r>
              <a:rPr lang="en-US" dirty="0">
                <a:solidFill>
                  <a:srgbClr val="404040"/>
                </a:solidFill>
              </a:rPr>
              <a:t>: Use </a:t>
            </a:r>
            <a:r>
              <a:rPr lang="en-US" dirty="0" err="1">
                <a:solidFill>
                  <a:srgbClr val="404040"/>
                </a:solidFill>
              </a:rPr>
              <a:t>event_id</a:t>
            </a:r>
            <a:r>
              <a:rPr lang="en-US" dirty="0">
                <a:solidFill>
                  <a:srgbClr val="404040"/>
                </a:solidFill>
              </a:rPr>
              <a:t> to dedupe in databases.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 b="1" dirty="0">
                <a:solidFill>
                  <a:srgbClr val="404040"/>
                </a:solidFill>
              </a:rPr>
              <a:t>State Recovery</a:t>
            </a:r>
            <a:r>
              <a:rPr lang="en-US" dirty="0">
                <a:solidFill>
                  <a:srgbClr val="404040"/>
                </a:solidFill>
              </a:rPr>
              <a:t>: Rebuild state from Kafka topic (e.g., after outage).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Visual:</a:t>
            </a:r>
            <a:endParaRPr lang="en-US" b="1" dirty="0">
              <a:solidFill>
                <a:srgbClr val="444444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525252"/>
                </a:solidFill>
              </a:rPr>
              <a:t>text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494949"/>
                </a:solidFill>
              </a:rPr>
              <a:t>Kafka Topic (</a:t>
            </a:r>
            <a:r>
              <a:rPr lang="en-US" dirty="0" err="1">
                <a:solidFill>
                  <a:srgbClr val="494949"/>
                </a:solidFill>
              </a:rPr>
              <a:t>trades.raw</a:t>
            </a:r>
            <a:r>
              <a:rPr lang="en-US" dirty="0">
                <a:solidFill>
                  <a:srgbClr val="494949"/>
                </a:solidFill>
              </a:rPr>
              <a:t>)</a:t>
            </a:r>
            <a:br>
              <a:rPr lang="en-US" dirty="0">
                <a:cs typeface="+mn-lt"/>
              </a:rPr>
            </a:br>
            <a:r>
              <a:rPr lang="en-US" dirty="0">
                <a:solidFill>
                  <a:srgbClr val="494949"/>
                </a:solidFill>
              </a:rPr>
              <a:t> │</a:t>
            </a:r>
            <a:br>
              <a:rPr lang="en-US" dirty="0">
                <a:cs typeface="+mn-lt"/>
              </a:rPr>
            </a:br>
            <a:r>
              <a:rPr lang="en-US" dirty="0">
                <a:solidFill>
                  <a:srgbClr val="494949"/>
                </a:solidFill>
              </a:rPr>
              <a:t> ├─▶ Success: Settlement Service</a:t>
            </a:r>
            <a:br>
              <a:rPr lang="en-US" dirty="0">
                <a:cs typeface="+mn-lt"/>
              </a:rPr>
            </a:br>
            <a:r>
              <a:rPr lang="en-US" dirty="0">
                <a:solidFill>
                  <a:srgbClr val="494949"/>
                </a:solidFill>
              </a:rPr>
              <a:t> └─▶ Failure: DLQ → Lambda (Alerts + Retry)</a:t>
            </a:r>
            <a:endParaRPr lang="en-US" dirty="0">
              <a:solidFill>
                <a:srgbClr val="494949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br>
              <a:rPr lang="en-US" dirty="0">
                <a:solidFill>
                  <a:srgbClr val="444444"/>
                </a:solidFill>
              </a:rPr>
            </a:br>
            <a:endParaRPr lang="en-US" dirty="0">
              <a:solidFill>
                <a:srgbClr val="444444"/>
              </a:solidFill>
            </a:endParaRPr>
          </a:p>
          <a:p>
            <a:r>
              <a:rPr lang="en-US" b="1" dirty="0">
                <a:solidFill>
                  <a:srgbClr val="404040"/>
                </a:solidFill>
              </a:rPr>
              <a:t>Compliance &amp; Audit</a:t>
            </a:r>
            <a:endParaRPr lang="en-US" dirty="0">
              <a:solidFill>
                <a:srgbClr val="444444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Key Features: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 b="1" dirty="0">
                <a:solidFill>
                  <a:srgbClr val="404040"/>
                </a:solidFill>
              </a:rPr>
              <a:t>Immutable Log</a:t>
            </a:r>
            <a:r>
              <a:rPr lang="en-US" dirty="0">
                <a:solidFill>
                  <a:srgbClr val="404040"/>
                </a:solidFill>
              </a:rPr>
              <a:t>: Kafka retention = 7+ years (regulatory requirement).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 b="1" dirty="0">
                <a:solidFill>
                  <a:srgbClr val="404040"/>
                </a:solidFill>
              </a:rPr>
              <a:t>Lineage Tracking</a:t>
            </a:r>
            <a:r>
              <a:rPr lang="en-US" dirty="0">
                <a:solidFill>
                  <a:srgbClr val="404040"/>
                </a:solidFill>
              </a:rPr>
              <a:t>: Each event links to source trade.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 b="1" dirty="0">
                <a:solidFill>
                  <a:srgbClr val="404040"/>
                </a:solidFill>
              </a:rPr>
              <a:t>Reconciliation</a:t>
            </a:r>
            <a:r>
              <a:rPr lang="en-US" dirty="0">
                <a:solidFill>
                  <a:srgbClr val="404040"/>
                </a:solidFill>
              </a:rPr>
              <a:t>: Nightly batch job verifies Kafka vs. ledger.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Tooling: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 b="1" dirty="0">
                <a:solidFill>
                  <a:srgbClr val="404040"/>
                </a:solidFill>
              </a:rPr>
              <a:t>AWS MSK</a:t>
            </a:r>
            <a:r>
              <a:rPr lang="en-US" dirty="0">
                <a:solidFill>
                  <a:srgbClr val="404040"/>
                </a:solidFill>
              </a:rPr>
              <a:t> (Managed Kafka) with TLS encryption.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 b="1" dirty="0">
                <a:solidFill>
                  <a:srgbClr val="404040"/>
                </a:solidFill>
              </a:rPr>
              <a:t>Splunk</a:t>
            </a:r>
            <a:r>
              <a:rPr lang="en-US" dirty="0">
                <a:solidFill>
                  <a:srgbClr val="404040"/>
                </a:solidFill>
              </a:rPr>
              <a:t> for real-time event monitoring.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"/>
              <a:buChar char="•"/>
            </a:pPr>
            <a:br>
              <a:rPr lang="en-US" dirty="0">
                <a:solidFill>
                  <a:srgbClr val="444444"/>
                </a:solidFill>
              </a:rPr>
            </a:br>
            <a:endParaRPr lang="en-US" dirty="0">
              <a:solidFill>
                <a:srgbClr val="444444"/>
              </a:solidFill>
            </a:endParaRPr>
          </a:p>
          <a:p>
            <a:r>
              <a:rPr lang="en-US" b="1" dirty="0">
                <a:solidFill>
                  <a:srgbClr val="404040"/>
                </a:solidFill>
              </a:rPr>
              <a:t>Performance Optimization</a:t>
            </a:r>
            <a:endParaRPr lang="en-US" dirty="0">
              <a:solidFill>
                <a:srgbClr val="444444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Tactics: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 b="1" dirty="0">
                <a:solidFill>
                  <a:srgbClr val="404040"/>
                </a:solidFill>
              </a:rPr>
              <a:t>Partitioning</a:t>
            </a:r>
            <a:r>
              <a:rPr lang="en-US" dirty="0">
                <a:solidFill>
                  <a:srgbClr val="404040"/>
                </a:solidFill>
              </a:rPr>
              <a:t>: By </a:t>
            </a:r>
            <a:r>
              <a:rPr lang="en-US" dirty="0" err="1">
                <a:solidFill>
                  <a:srgbClr val="404040"/>
                </a:solidFill>
              </a:rPr>
              <a:t>trade_id</a:t>
            </a:r>
            <a:r>
              <a:rPr lang="en-US" dirty="0">
                <a:solidFill>
                  <a:srgbClr val="404040"/>
                </a:solidFill>
              </a:rPr>
              <a:t> for parallel processing.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 b="1" dirty="0">
                <a:solidFill>
                  <a:srgbClr val="404040"/>
                </a:solidFill>
              </a:rPr>
              <a:t>Compression</a:t>
            </a:r>
            <a:r>
              <a:rPr lang="en-US" dirty="0">
                <a:solidFill>
                  <a:srgbClr val="404040"/>
                </a:solidFill>
              </a:rPr>
              <a:t>: Snappy for high-volume settlements.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 b="1" dirty="0">
                <a:solidFill>
                  <a:srgbClr val="404040"/>
                </a:solidFill>
              </a:rPr>
              <a:t>Caching</a:t>
            </a:r>
            <a:r>
              <a:rPr lang="en-US" dirty="0">
                <a:solidFill>
                  <a:srgbClr val="404040"/>
                </a:solidFill>
              </a:rPr>
              <a:t>: Redis for frequent counterparty checks.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Metrics to Monitor: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 dirty="0">
                <a:solidFill>
                  <a:srgbClr val="404040"/>
                </a:solidFill>
              </a:rPr>
              <a:t>end-to-end-latency (95% &lt; 1s)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 dirty="0">
                <a:solidFill>
                  <a:srgbClr val="404040"/>
                </a:solidFill>
              </a:rPr>
              <a:t>settlement-throughput (10K+ events/sec)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"/>
              <a:buChar char="•"/>
            </a:pPr>
            <a:br>
              <a:rPr lang="en-US" dirty="0">
                <a:solidFill>
                  <a:srgbClr val="444444"/>
                </a:solidFill>
              </a:rPr>
            </a:br>
            <a:endParaRPr lang="en-US" dirty="0">
              <a:solidFill>
                <a:srgbClr val="444444"/>
              </a:solidFill>
            </a:endParaRPr>
          </a:p>
          <a:p>
            <a:r>
              <a:rPr lang="en-US" b="1">
                <a:solidFill>
                  <a:srgbClr val="404040"/>
                </a:solidFill>
              </a:rPr>
              <a:t>Faster FX Settlements</a:t>
            </a:r>
            <a:endParaRPr lang="en-US" dirty="0">
              <a:solidFill>
                <a:srgbClr val="444444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Before:</a:t>
            </a:r>
            <a:endParaRPr lang="en-US" b="1" dirty="0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 dirty="0">
                <a:solidFill>
                  <a:srgbClr val="404040"/>
                </a:solidFill>
              </a:rPr>
              <a:t>Batch processing → T+1 settlement.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 dirty="0">
                <a:solidFill>
                  <a:srgbClr val="404040"/>
                </a:solidFill>
              </a:rPr>
              <a:t>No audit trail for intermediate states.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After:</a:t>
            </a:r>
            <a:endParaRPr lang="en-US" b="1" dirty="0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 dirty="0">
                <a:solidFill>
                  <a:srgbClr val="404040"/>
                </a:solidFill>
              </a:rPr>
              <a:t>Real-time event sourcing → T+0 settlement.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,Sans-Serif"/>
              <a:buChar char="•"/>
            </a:pPr>
            <a:r>
              <a:rPr lang="en-US" dirty="0">
                <a:solidFill>
                  <a:srgbClr val="404040"/>
                </a:solidFill>
              </a:rPr>
              <a:t>100% </a:t>
            </a:r>
            <a:r>
              <a:rPr lang="en-US" dirty="0" err="1">
                <a:solidFill>
                  <a:srgbClr val="404040"/>
                </a:solidFill>
              </a:rPr>
              <a:t>replayability</a:t>
            </a:r>
            <a:r>
              <a:rPr lang="en-US" dirty="0">
                <a:solidFill>
                  <a:srgbClr val="404040"/>
                </a:solidFill>
              </a:rPr>
              <a:t> for disputes.</a:t>
            </a:r>
            <a:endParaRPr lang="en-US" dirty="0">
              <a:solidFill>
                <a:srgbClr val="444444"/>
              </a:solidFill>
            </a:endParaRPr>
          </a:p>
          <a:p>
            <a:pPr marL="171450" indent="-171450">
              <a:buFont typeface="Arial"/>
              <a:buChar char="•"/>
            </a:pPr>
            <a:br>
              <a:rPr lang="en-US" dirty="0">
                <a:solidFill>
                  <a:srgbClr val="444444"/>
                </a:solidFill>
              </a:rPr>
            </a:br>
            <a:br>
              <a:rPr lang="en-US" dirty="0">
                <a:solidFill>
                  <a:srgbClr val="444444"/>
                </a:solidFill>
              </a:rPr>
            </a:br>
            <a:endParaRPr lang="en-US" dirty="0">
              <a:solidFill>
                <a:srgbClr val="444444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rgbClr val="404040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8EF67-22A0-417E-93A1-33B7F0C1B18C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353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404040"/>
                </a:solidFill>
              </a:rPr>
              <a:t>Banking-Grade Enhancements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Idempotency</a:t>
            </a:r>
            <a:r>
              <a:rPr lang="en-US" dirty="0">
                <a:solidFill>
                  <a:srgbClr val="404040"/>
                </a:solidFill>
              </a:rPr>
              <a:t>:</a:t>
            </a:r>
            <a:endParaRPr lang="en-US" dirty="0"/>
          </a:p>
          <a:p>
            <a:r>
              <a:rPr lang="en-US" dirty="0">
                <a:solidFill>
                  <a:srgbClr val="525252"/>
                </a:solidFill>
              </a:rPr>
              <a:t>java</a:t>
            </a:r>
            <a:endParaRPr lang="en-US" dirty="0"/>
          </a:p>
          <a:p>
            <a:r>
              <a:rPr lang="en-US" dirty="0">
                <a:solidFill>
                  <a:srgbClr val="383A42"/>
                </a:solidFill>
              </a:rPr>
              <a:t>@Id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@GeneratedValue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A626A4"/>
                </a:solidFill>
              </a:rPr>
              <a:t>private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B76B01"/>
                </a:solidFill>
              </a:rPr>
              <a:t>String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paymentId</a:t>
            </a:r>
            <a:r>
              <a:rPr lang="en-US" dirty="0">
                <a:solidFill>
                  <a:srgbClr val="383A42"/>
                </a:solidFill>
              </a:rPr>
              <a:t>;</a:t>
            </a:r>
            <a:r>
              <a:rPr lang="en-US" dirty="0">
                <a:solidFill>
                  <a:srgbClr val="494949"/>
                </a:solidFill>
              </a:rPr>
              <a:t>  </a:t>
            </a:r>
            <a:r>
              <a:rPr lang="en-US" i="1" dirty="0">
                <a:solidFill>
                  <a:srgbClr val="A0A1A7"/>
                </a:solidFill>
              </a:rPr>
              <a:t>// Natural key for deduplication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383A42"/>
                </a:solidFill>
              </a:rPr>
              <a:t>@Version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A626A4"/>
                </a:solidFill>
              </a:rPr>
              <a:t>private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B76B01"/>
                </a:solidFill>
              </a:rPr>
              <a:t>Integer</a:t>
            </a:r>
            <a:r>
              <a:rPr lang="en-US" dirty="0">
                <a:solidFill>
                  <a:srgbClr val="494949"/>
                </a:solidFill>
              </a:rPr>
              <a:t> version</a:t>
            </a:r>
            <a:r>
              <a:rPr lang="en-US" dirty="0">
                <a:solidFill>
                  <a:srgbClr val="383A42"/>
                </a:solidFill>
              </a:rPr>
              <a:t>;</a:t>
            </a:r>
            <a:r>
              <a:rPr lang="en-US" dirty="0">
                <a:solidFill>
                  <a:srgbClr val="494949"/>
                </a:solidFill>
              </a:rPr>
              <a:t>   </a:t>
            </a:r>
            <a:r>
              <a:rPr lang="en-US" i="1" dirty="0">
                <a:solidFill>
                  <a:srgbClr val="A0A1A7"/>
                </a:solidFill>
              </a:rPr>
              <a:t>// Optimistic locking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Regulatory Compliance</a:t>
            </a:r>
            <a:r>
              <a:rPr lang="en-US" dirty="0">
                <a:solidFill>
                  <a:srgbClr val="404040"/>
                </a:solidFill>
              </a:rPr>
              <a:t>:</a:t>
            </a:r>
            <a:endParaRPr lang="en-US" dirty="0"/>
          </a:p>
          <a:p>
            <a:r>
              <a:rPr lang="en-US" dirty="0">
                <a:solidFill>
                  <a:srgbClr val="525252"/>
                </a:solidFill>
              </a:rPr>
              <a:t>java</a:t>
            </a:r>
            <a:endParaRPr lang="en-US" dirty="0"/>
          </a:p>
          <a:p>
            <a:r>
              <a:rPr lang="en-US" dirty="0">
                <a:solidFill>
                  <a:srgbClr val="383A42"/>
                </a:solidFill>
              </a:rPr>
              <a:t>@Entity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383A42"/>
                </a:solidFill>
              </a:rPr>
              <a:t>@Table(</a:t>
            </a:r>
            <a:r>
              <a:rPr lang="en-US" dirty="0">
                <a:solidFill>
                  <a:srgbClr val="494949"/>
                </a:solidFill>
              </a:rPr>
              <a:t>name </a:t>
            </a:r>
            <a:r>
              <a:rPr lang="en-US" dirty="0">
                <a:solidFill>
                  <a:srgbClr val="4078F2"/>
                </a:solidFill>
              </a:rPr>
              <a:t>=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50A14F"/>
                </a:solidFill>
              </a:rPr>
              <a:t>"payments"</a:t>
            </a:r>
            <a:r>
              <a:rPr lang="en-US" dirty="0">
                <a:solidFill>
                  <a:srgbClr val="383A42"/>
                </a:solidFill>
              </a:rPr>
              <a:t>)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383A42"/>
                </a:solidFill>
              </a:rPr>
              <a:t>@Audited</a:t>
            </a:r>
            <a:r>
              <a:rPr lang="en-US" dirty="0">
                <a:solidFill>
                  <a:srgbClr val="494949"/>
                </a:solidFill>
              </a:rPr>
              <a:t>  </a:t>
            </a:r>
            <a:r>
              <a:rPr lang="en-US" i="1" dirty="0">
                <a:solidFill>
                  <a:srgbClr val="A0A1A7"/>
                </a:solidFill>
              </a:rPr>
              <a:t>// Hibernate Envers for audit logs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A626A4"/>
                </a:solidFill>
              </a:rPr>
              <a:t>public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A626A4"/>
                </a:solidFill>
              </a:rPr>
              <a:t>class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B76B01"/>
                </a:solidFill>
              </a:rPr>
              <a:t>Payment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{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i="1" dirty="0">
                <a:solidFill>
                  <a:srgbClr val="A0A1A7"/>
                </a:solidFill>
              </a:rPr>
              <a:t>// ...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383A42"/>
                </a:solidFill>
              </a:rPr>
              <a:t>}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Chaos Engineering Ready</a:t>
            </a:r>
            <a:r>
              <a:rPr lang="en-US" dirty="0">
                <a:solidFill>
                  <a:srgbClr val="404040"/>
                </a:solidFill>
              </a:rPr>
              <a:t>:</a:t>
            </a:r>
            <a:endParaRPr lang="en-US" dirty="0"/>
          </a:p>
          <a:p>
            <a:r>
              <a:rPr lang="en-US" dirty="0">
                <a:solidFill>
                  <a:srgbClr val="525252"/>
                </a:solidFill>
              </a:rPr>
              <a:t>java</a:t>
            </a:r>
            <a:endParaRPr lang="en-US" dirty="0"/>
          </a:p>
          <a:p>
            <a:r>
              <a:rPr lang="en-US" dirty="0">
                <a:solidFill>
                  <a:srgbClr val="383A42"/>
                </a:solidFill>
              </a:rPr>
              <a:t>@KafkaListener(</a:t>
            </a:r>
            <a:r>
              <a:rPr lang="en-US" i="1" dirty="0">
                <a:solidFill>
                  <a:srgbClr val="A0A1A7"/>
                </a:solidFill>
              </a:rPr>
              <a:t>/*...*/</a:t>
            </a:r>
            <a:r>
              <a:rPr lang="en-US" dirty="0">
                <a:solidFill>
                  <a:srgbClr val="383A42"/>
                </a:solidFill>
              </a:rPr>
              <a:t>)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383A42"/>
                </a:solidFill>
              </a:rPr>
              <a:t>@Retryable(</a:t>
            </a:r>
            <a:r>
              <a:rPr lang="en-US" dirty="0">
                <a:solidFill>
                  <a:srgbClr val="494949"/>
                </a:solidFill>
              </a:rPr>
              <a:t>maxAttempts</a:t>
            </a:r>
            <a:r>
              <a:rPr lang="en-US" dirty="0">
                <a:solidFill>
                  <a:srgbClr val="4078F2"/>
                </a:solidFill>
              </a:rPr>
              <a:t>=</a:t>
            </a:r>
            <a:r>
              <a:rPr lang="en-US" dirty="0">
                <a:solidFill>
                  <a:srgbClr val="B76B01"/>
                </a:solidFill>
              </a:rPr>
              <a:t>3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backoff</a:t>
            </a:r>
            <a:r>
              <a:rPr lang="en-US" dirty="0">
                <a:solidFill>
                  <a:srgbClr val="4078F2"/>
                </a:solidFill>
              </a:rPr>
              <a:t>=</a:t>
            </a:r>
            <a:r>
              <a:rPr lang="en-US" dirty="0">
                <a:solidFill>
                  <a:srgbClr val="383A42"/>
                </a:solidFill>
              </a:rPr>
              <a:t>@Backoff(</a:t>
            </a:r>
            <a:r>
              <a:rPr lang="en-US" dirty="0">
                <a:solidFill>
                  <a:srgbClr val="494949"/>
                </a:solidFill>
              </a:rPr>
              <a:t>delay</a:t>
            </a:r>
            <a:r>
              <a:rPr lang="en-US" dirty="0">
                <a:solidFill>
                  <a:srgbClr val="4078F2"/>
                </a:solidFill>
              </a:rPr>
              <a:t>=</a:t>
            </a:r>
            <a:r>
              <a:rPr lang="en-US" dirty="0">
                <a:solidFill>
                  <a:srgbClr val="B76B01"/>
                </a:solidFill>
              </a:rPr>
              <a:t>1000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multiplier</a:t>
            </a:r>
            <a:r>
              <a:rPr lang="en-US" dirty="0">
                <a:solidFill>
                  <a:srgbClr val="4078F2"/>
                </a:solidFill>
              </a:rPr>
              <a:t>=</a:t>
            </a:r>
            <a:r>
              <a:rPr lang="en-US" dirty="0">
                <a:solidFill>
                  <a:srgbClr val="B76B01"/>
                </a:solidFill>
              </a:rPr>
              <a:t>2</a:t>
            </a:r>
            <a:r>
              <a:rPr lang="en-US" dirty="0">
                <a:solidFill>
                  <a:srgbClr val="383A42"/>
                </a:solidFill>
              </a:rPr>
              <a:t>))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A626A4"/>
                </a:solidFill>
              </a:rPr>
              <a:t>public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A626A4"/>
                </a:solidFill>
              </a:rPr>
              <a:t>void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078F2"/>
                </a:solidFill>
              </a:rPr>
              <a:t>processPaymentEvent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 err="1">
                <a:solidFill>
                  <a:srgbClr val="B76B01"/>
                </a:solidFill>
              </a:rPr>
              <a:t>PaymentEvent</a:t>
            </a:r>
            <a:r>
              <a:rPr lang="en-US" dirty="0">
                <a:solidFill>
                  <a:srgbClr val="494949"/>
                </a:solidFill>
              </a:rPr>
              <a:t> event</a:t>
            </a:r>
            <a:r>
              <a:rPr lang="en-US" dirty="0">
                <a:solidFill>
                  <a:srgbClr val="383A42"/>
                </a:solidFill>
              </a:rPr>
              <a:t>)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{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...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}</a:t>
            </a:r>
            <a:endParaRPr lang="en-US" dirty="0"/>
          </a:p>
          <a:p>
            <a:br>
              <a:rPr lang="en-US" dirty="0">
                <a:cs typeface="+mn-lt"/>
              </a:rPr>
            </a:br>
            <a:r>
              <a:rPr lang="en-US" dirty="0">
                <a:ea typeface="Calibri" panose="020F0502020204030204"/>
                <a:cs typeface="Calibri" panose="020F0502020204030204"/>
              </a:rPr>
              <a:t>==================</a:t>
            </a:r>
          </a:p>
          <a:p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Production </a:t>
            </a:r>
            <a:r>
              <a:rPr lang="en-US" dirty="0" err="1">
                <a:solidFill>
                  <a:srgbClr val="000000"/>
                </a:solidFill>
                <a:ea typeface="Calibri"/>
                <a:cs typeface="Calibri"/>
              </a:rPr>
              <a:t>Envronment</a:t>
            </a:r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 specific: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pPr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DynamoDB TTL for Compliance</a:t>
            </a:r>
            <a:r>
              <a:rPr lang="en-US" dirty="0">
                <a:solidFill>
                  <a:srgbClr val="404040"/>
                </a:solidFill>
              </a:rPr>
              <a:t>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en-US" dirty="0" err="1">
                <a:solidFill>
                  <a:srgbClr val="525252"/>
                </a:solidFill>
              </a:rPr>
              <a:t>javascript</a:t>
            </a:r>
            <a:endParaRPr lang="en-US" dirty="0" err="1"/>
          </a:p>
          <a:p>
            <a:pPr>
              <a:buFont typeface="Arial"/>
              <a:buChar char="•"/>
            </a:pPr>
            <a:r>
              <a:rPr lang="en-US" i="1" dirty="0">
                <a:solidFill>
                  <a:srgbClr val="A0A1A7"/>
                </a:solidFill>
              </a:rPr>
              <a:t>// Auto-delete records after 7 years (FINRA)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383A42"/>
                </a:solidFill>
              </a:rPr>
              <a:t>{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E45649"/>
                </a:solidFill>
              </a:rPr>
              <a:t>"</a:t>
            </a:r>
            <a:r>
              <a:rPr lang="en-US" dirty="0" err="1">
                <a:solidFill>
                  <a:srgbClr val="E45649"/>
                </a:solidFill>
              </a:rPr>
              <a:t>ttl</a:t>
            </a:r>
            <a:r>
              <a:rPr lang="en-US" dirty="0">
                <a:solidFill>
                  <a:srgbClr val="E45649"/>
                </a:solidFill>
              </a:rPr>
              <a:t>"</a:t>
            </a:r>
            <a:r>
              <a:rPr lang="en-US" dirty="0">
                <a:solidFill>
                  <a:srgbClr val="4078F2"/>
                </a:solidFill>
              </a:rPr>
              <a:t>: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Math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floor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 err="1">
                <a:solidFill>
                  <a:srgbClr val="494949"/>
                </a:solidFill>
              </a:rPr>
              <a:t>Date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now</a:t>
            </a:r>
            <a:r>
              <a:rPr lang="en-US" dirty="0">
                <a:solidFill>
                  <a:srgbClr val="383A42"/>
                </a:solidFill>
              </a:rPr>
              <a:t>()</a:t>
            </a:r>
            <a:r>
              <a:rPr lang="en-US" dirty="0">
                <a:solidFill>
                  <a:srgbClr val="4078F2"/>
                </a:solidFill>
              </a:rPr>
              <a:t>/</a:t>
            </a:r>
            <a:r>
              <a:rPr lang="en-US" dirty="0">
                <a:solidFill>
                  <a:srgbClr val="B76B01"/>
                </a:solidFill>
              </a:rPr>
              <a:t>1000</a:t>
            </a:r>
            <a:r>
              <a:rPr lang="en-US" dirty="0">
                <a:solidFill>
                  <a:srgbClr val="383A42"/>
                </a:solidFill>
              </a:rPr>
              <a:t>)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4078F2"/>
                </a:solidFill>
              </a:rPr>
              <a:t>+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B76B01"/>
                </a:solidFill>
              </a:rPr>
              <a:t>220752000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}</a:t>
            </a:r>
            <a:r>
              <a:rPr lang="en-US" dirty="0">
                <a:solidFill>
                  <a:srgbClr val="494949"/>
                </a:solidFill>
              </a:rPr>
              <a:t> 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 err="1">
                <a:solidFill>
                  <a:srgbClr val="404040"/>
                </a:solidFill>
              </a:rPr>
              <a:t>DocumentDB</a:t>
            </a:r>
            <a:r>
              <a:rPr lang="en-US" b="1" dirty="0">
                <a:solidFill>
                  <a:srgbClr val="404040"/>
                </a:solidFill>
              </a:rPr>
              <a:t> Index Strategy</a:t>
            </a:r>
            <a:r>
              <a:rPr lang="en-US" dirty="0">
                <a:solidFill>
                  <a:srgbClr val="404040"/>
                </a:solidFill>
              </a:rPr>
              <a:t>: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 err="1">
                <a:solidFill>
                  <a:srgbClr val="525252"/>
                </a:solidFill>
              </a:rPr>
              <a:t>javascript</a:t>
            </a:r>
            <a:endParaRPr lang="en-US" dirty="0" err="1"/>
          </a:p>
          <a:p>
            <a:pPr>
              <a:buFont typeface="Arial"/>
              <a:buChar char="•"/>
            </a:pPr>
            <a:r>
              <a:rPr lang="en-US" i="1" dirty="0">
                <a:solidFill>
                  <a:srgbClr val="A0A1A7"/>
                </a:solidFill>
              </a:rPr>
              <a:t>// Compound index for loan queries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 err="1">
                <a:solidFill>
                  <a:srgbClr val="494949"/>
                </a:solidFill>
              </a:rPr>
              <a:t>db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94949"/>
                </a:solidFill>
              </a:rPr>
              <a:t>loans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createIndex</a:t>
            </a:r>
            <a:r>
              <a:rPr lang="en-US" dirty="0">
                <a:solidFill>
                  <a:srgbClr val="383A42"/>
                </a:solidFill>
              </a:rPr>
              <a:t>({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E45649"/>
                </a:solidFill>
              </a:rPr>
              <a:t>"</a:t>
            </a:r>
            <a:r>
              <a:rPr lang="en-US" dirty="0" err="1">
                <a:solidFill>
                  <a:srgbClr val="E45649"/>
                </a:solidFill>
              </a:rPr>
              <a:t>customerId</a:t>
            </a:r>
            <a:r>
              <a:rPr lang="en-US" dirty="0">
                <a:solidFill>
                  <a:srgbClr val="E45649"/>
                </a:solidFill>
              </a:rPr>
              <a:t>"</a:t>
            </a:r>
            <a:r>
              <a:rPr lang="en-US" dirty="0">
                <a:solidFill>
                  <a:srgbClr val="4078F2"/>
                </a:solidFill>
              </a:rPr>
              <a:t>: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B76B01"/>
                </a:solidFill>
              </a:rPr>
              <a:t>1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E45649"/>
                </a:solidFill>
              </a:rPr>
              <a:t>"status"</a:t>
            </a:r>
            <a:r>
              <a:rPr lang="en-US" dirty="0">
                <a:solidFill>
                  <a:srgbClr val="4078F2"/>
                </a:solidFill>
              </a:rPr>
              <a:t>: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B76B01"/>
                </a:solidFill>
              </a:rPr>
              <a:t>1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})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Disaster Recovery</a:t>
            </a:r>
            <a:r>
              <a:rPr lang="en-US" dirty="0">
                <a:solidFill>
                  <a:srgbClr val="404040"/>
                </a:solidFill>
              </a:rPr>
              <a:t>:</a:t>
            </a:r>
            <a:endParaRPr lang="en-US" dirty="0"/>
          </a:p>
          <a:p>
            <a:pPr lvl="1">
              <a:buFont typeface="Arial"/>
              <a:buChar char="•"/>
            </a:pPr>
            <a:r>
              <a:rPr lang="en-US" dirty="0">
                <a:solidFill>
                  <a:srgbClr val="404040"/>
                </a:solidFill>
              </a:rPr>
              <a:t>DynamoDB Global Tables for active-active</a:t>
            </a:r>
            <a:endParaRPr lang="en-US" dirty="0"/>
          </a:p>
          <a:p>
            <a:pPr lvl="1">
              <a:buFont typeface="Arial"/>
              <a:buChar char="•"/>
            </a:pPr>
            <a:r>
              <a:rPr lang="en-US" dirty="0">
                <a:solidFill>
                  <a:srgbClr val="404040"/>
                </a:solidFill>
              </a:rPr>
              <a:t>Regular S3 exports for QLDB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======================</a:t>
            </a:r>
          </a:p>
          <a:p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Bank Specific Optimization...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Kafka Configuration</a:t>
            </a:r>
            <a:r>
              <a:rPr lang="en-US" dirty="0">
                <a:solidFill>
                  <a:srgbClr val="404040"/>
                </a:solidFill>
              </a:rPr>
              <a:t> (</a:t>
            </a:r>
            <a:r>
              <a:rPr lang="en-US" dirty="0" err="1">
                <a:solidFill>
                  <a:srgbClr val="404040"/>
                </a:solidFill>
              </a:rPr>
              <a:t>application.yml</a:t>
            </a:r>
            <a:r>
              <a:rPr lang="en-US" dirty="0">
                <a:solidFill>
                  <a:srgbClr val="404040"/>
                </a:solidFill>
              </a:rPr>
              <a:t>):</a:t>
            </a:r>
            <a:endParaRPr lang="en-US" dirty="0"/>
          </a:p>
          <a:p>
            <a:r>
              <a:rPr lang="en-US" dirty="0" err="1">
                <a:solidFill>
                  <a:srgbClr val="525252"/>
                </a:solidFill>
              </a:rPr>
              <a:t>yaml</a:t>
            </a:r>
            <a:endParaRPr lang="en-US" dirty="0" err="1"/>
          </a:p>
          <a:p>
            <a:r>
              <a:rPr lang="en-US" dirty="0">
                <a:solidFill>
                  <a:srgbClr val="B76B01"/>
                </a:solidFill>
              </a:rPr>
              <a:t>spring</a:t>
            </a:r>
            <a:r>
              <a:rPr lang="en-US" dirty="0">
                <a:solidFill>
                  <a:srgbClr val="383A42"/>
                </a:solidFill>
              </a:rPr>
              <a:t>:</a:t>
            </a:r>
            <a:r>
              <a:rPr lang="en-US" dirty="0">
                <a:solidFill>
                  <a:srgbClr val="494949"/>
                </a:solidFill>
              </a:rPr>
              <a:t>
  </a:t>
            </a:r>
            <a:r>
              <a:rPr lang="en-US" dirty="0" err="1">
                <a:solidFill>
                  <a:srgbClr val="B76B01"/>
                </a:solidFill>
              </a:rPr>
              <a:t>kafka</a:t>
            </a:r>
            <a:r>
              <a:rPr lang="en-US" dirty="0">
                <a:solidFill>
                  <a:srgbClr val="383A42"/>
                </a:solidFill>
              </a:rPr>
              <a:t>: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B76B01"/>
                </a:solidFill>
              </a:rPr>
              <a:t>producer</a:t>
            </a:r>
            <a:r>
              <a:rPr lang="en-US" dirty="0">
                <a:solidFill>
                  <a:srgbClr val="383A42"/>
                </a:solidFill>
              </a:rPr>
              <a:t>:</a:t>
            </a:r>
            <a:r>
              <a:rPr lang="en-US" dirty="0">
                <a:solidFill>
                  <a:srgbClr val="494949"/>
                </a:solidFill>
              </a:rPr>
              <a:t>
      </a:t>
            </a:r>
            <a:r>
              <a:rPr lang="en-US" dirty="0">
                <a:solidFill>
                  <a:srgbClr val="B76B01"/>
                </a:solidFill>
              </a:rPr>
              <a:t>acks</a:t>
            </a:r>
            <a:r>
              <a:rPr lang="en-US" dirty="0">
                <a:solidFill>
                  <a:srgbClr val="383A42"/>
                </a:solidFill>
              </a:rPr>
              <a:t>:</a:t>
            </a:r>
            <a:r>
              <a:rPr lang="en-US" dirty="0">
                <a:solidFill>
                  <a:srgbClr val="494949"/>
                </a:solidFill>
              </a:rPr>
              <a:t> all                          </a:t>
            </a:r>
            <a:r>
              <a:rPr lang="en-US" i="1" dirty="0">
                <a:solidFill>
                  <a:srgbClr val="A0A1A7"/>
                </a:solidFill>
              </a:rPr>
              <a:t># Durability</a:t>
            </a:r>
            <a:r>
              <a:rPr lang="en-US" dirty="0">
                <a:solidFill>
                  <a:srgbClr val="494949"/>
                </a:solidFill>
              </a:rPr>
              <a:t>
      </a:t>
            </a:r>
            <a:r>
              <a:rPr lang="en-US" dirty="0">
                <a:solidFill>
                  <a:srgbClr val="B76B01"/>
                </a:solidFill>
              </a:rPr>
              <a:t>compression-type</a:t>
            </a:r>
            <a:r>
              <a:rPr lang="en-US" dirty="0">
                <a:solidFill>
                  <a:srgbClr val="383A42"/>
                </a:solidFill>
              </a:rPr>
              <a:t>:</a:t>
            </a:r>
            <a:r>
              <a:rPr lang="en-US" dirty="0">
                <a:solidFill>
                  <a:srgbClr val="494949"/>
                </a:solidFill>
              </a:rPr>
              <a:t> snappy            </a:t>
            </a:r>
            <a:r>
              <a:rPr lang="en-US" i="1" dirty="0">
                <a:solidFill>
                  <a:srgbClr val="A0A1A7"/>
                </a:solidFill>
              </a:rPr>
              <a:t># Throughput</a:t>
            </a:r>
            <a:r>
              <a:rPr lang="en-US" dirty="0">
                <a:solidFill>
                  <a:srgbClr val="494949"/>
                </a:solidFill>
              </a:rPr>
              <a:t>
      </a:t>
            </a:r>
            <a:r>
              <a:rPr lang="en-US" dirty="0">
                <a:solidFill>
                  <a:srgbClr val="B76B01"/>
                </a:solidFill>
              </a:rPr>
              <a:t>batch-size</a:t>
            </a:r>
            <a:r>
              <a:rPr lang="en-US" dirty="0">
                <a:solidFill>
                  <a:srgbClr val="383A42"/>
                </a:solidFill>
              </a:rPr>
              <a:t>: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B76B01"/>
                </a:solidFill>
              </a:rPr>
              <a:t>16384</a:t>
            </a:r>
            <a:r>
              <a:rPr lang="en-US" dirty="0">
                <a:solidFill>
                  <a:srgbClr val="494949"/>
                </a:solidFill>
              </a:rPr>
              <a:t>                   </a:t>
            </a:r>
            <a:r>
              <a:rPr lang="en-US" i="1" dirty="0">
                <a:solidFill>
                  <a:srgbClr val="A0A1A7"/>
                </a:solidFill>
              </a:rPr>
              <a:t># Batch writes</a:t>
            </a:r>
            <a:r>
              <a:rPr lang="en-US" dirty="0">
                <a:solidFill>
                  <a:srgbClr val="494949"/>
                </a:solidFill>
              </a:rPr>
              <a:t>
      </a:t>
            </a:r>
            <a:r>
              <a:rPr lang="en-US" dirty="0">
                <a:solidFill>
                  <a:srgbClr val="B76B01"/>
                </a:solidFill>
              </a:rPr>
              <a:t>linger-</a:t>
            </a:r>
            <a:r>
              <a:rPr lang="en-US" dirty="0" err="1">
                <a:solidFill>
                  <a:srgbClr val="B76B01"/>
                </a:solidFill>
              </a:rPr>
              <a:t>ms</a:t>
            </a:r>
            <a:r>
              <a:rPr lang="en-US" dirty="0">
                <a:solidFill>
                  <a:srgbClr val="383A42"/>
                </a:solidFill>
              </a:rPr>
              <a:t>: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B76B01"/>
                </a:solidFill>
              </a:rPr>
              <a:t>5</a:t>
            </a:r>
            <a:r>
              <a:rPr lang="en-US" dirty="0">
                <a:solidFill>
                  <a:srgbClr val="494949"/>
                </a:solidFill>
              </a:rPr>
              <a:t>                        </a:t>
            </a:r>
            <a:r>
              <a:rPr lang="en-US" i="1" dirty="0">
                <a:solidFill>
                  <a:srgbClr val="A0A1A7"/>
                </a:solidFill>
              </a:rPr>
              <a:t># Wait for batch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B76B01"/>
                </a:solidFill>
              </a:rPr>
              <a:t>consumer</a:t>
            </a:r>
            <a:r>
              <a:rPr lang="en-US" dirty="0">
                <a:solidFill>
                  <a:srgbClr val="383A42"/>
                </a:solidFill>
              </a:rPr>
              <a:t>:</a:t>
            </a:r>
            <a:r>
              <a:rPr lang="en-US" dirty="0">
                <a:solidFill>
                  <a:srgbClr val="494949"/>
                </a:solidFill>
              </a:rPr>
              <a:t>
      </a:t>
            </a:r>
            <a:r>
              <a:rPr lang="en-US" dirty="0">
                <a:solidFill>
                  <a:srgbClr val="B76B01"/>
                </a:solidFill>
              </a:rPr>
              <a:t>auto-offset-reset</a:t>
            </a:r>
            <a:r>
              <a:rPr lang="en-US" dirty="0">
                <a:solidFill>
                  <a:srgbClr val="383A42"/>
                </a:solidFill>
              </a:rPr>
              <a:t>:</a:t>
            </a:r>
            <a:r>
              <a:rPr lang="en-US" dirty="0">
                <a:solidFill>
                  <a:srgbClr val="494949"/>
                </a:solidFill>
              </a:rPr>
              <a:t> earliest
      </a:t>
            </a:r>
            <a:r>
              <a:rPr lang="en-US" dirty="0">
                <a:solidFill>
                  <a:srgbClr val="B76B01"/>
                </a:solidFill>
              </a:rPr>
              <a:t>enable-auto-commit</a:t>
            </a:r>
            <a:r>
              <a:rPr lang="en-US" dirty="0">
                <a:solidFill>
                  <a:srgbClr val="383A42"/>
                </a:solidFill>
              </a:rPr>
              <a:t>: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E45649"/>
                </a:solidFill>
              </a:rPr>
              <a:t>false</a:t>
            </a:r>
            <a:r>
              <a:rPr lang="en-US" dirty="0">
                <a:solidFill>
                  <a:srgbClr val="494949"/>
                </a:solidFill>
              </a:rPr>
              <a:t>           </a:t>
            </a:r>
            <a:r>
              <a:rPr lang="en-US" i="1" dirty="0">
                <a:solidFill>
                  <a:srgbClr val="A0A1A7"/>
                </a:solidFill>
              </a:rPr>
              <a:t># Manual commits</a:t>
            </a:r>
            <a:r>
              <a:rPr lang="en-US" dirty="0">
                <a:solidFill>
                  <a:srgbClr val="494949"/>
                </a:solidFill>
              </a:rPr>
              <a:t>
      </a:t>
            </a:r>
            <a:r>
              <a:rPr lang="en-US" dirty="0">
                <a:solidFill>
                  <a:srgbClr val="B76B01"/>
                </a:solidFill>
              </a:rPr>
              <a:t>max-poll-records</a:t>
            </a:r>
            <a:r>
              <a:rPr lang="en-US" dirty="0">
                <a:solidFill>
                  <a:srgbClr val="383A42"/>
                </a:solidFill>
              </a:rPr>
              <a:t>: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B76B01"/>
                </a:solidFill>
              </a:rPr>
              <a:t>500</a:t>
            </a:r>
            <a:r>
              <a:rPr lang="en-US" dirty="0">
                <a:solidFill>
                  <a:srgbClr val="494949"/>
                </a:solidFill>
              </a:rPr>
              <a:t>               </a:t>
            </a:r>
            <a:r>
              <a:rPr lang="en-US" i="1" dirty="0">
                <a:solidFill>
                  <a:srgbClr val="A0A1A7"/>
                </a:solidFill>
              </a:rPr>
              <a:t># Throughput</a:t>
            </a:r>
            <a:r>
              <a:rPr lang="en-US" dirty="0">
                <a:solidFill>
                  <a:srgbClr val="494949"/>
                </a:solidFill>
              </a:rPr>
              <a:t>
      </a:t>
            </a:r>
            <a:r>
              <a:rPr lang="en-US" dirty="0">
                <a:solidFill>
                  <a:srgbClr val="B76B01"/>
                </a:solidFill>
              </a:rPr>
              <a:t>fetch-max-wait-</a:t>
            </a:r>
            <a:r>
              <a:rPr lang="en-US" dirty="0" err="1">
                <a:solidFill>
                  <a:srgbClr val="B76B01"/>
                </a:solidFill>
              </a:rPr>
              <a:t>ms</a:t>
            </a:r>
            <a:r>
              <a:rPr lang="en-US" dirty="0">
                <a:solidFill>
                  <a:srgbClr val="383A42"/>
                </a:solidFill>
              </a:rPr>
              <a:t>: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B76B01"/>
                </a:solidFill>
              </a:rPr>
              <a:t>500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b="1" dirty="0">
                <a:solidFill>
                  <a:srgbClr val="404040"/>
                </a:solidFill>
              </a:rPr>
              <a:t>Thread Pool Tuning</a:t>
            </a:r>
            <a:r>
              <a:rPr lang="en-US" dirty="0">
                <a:solidFill>
                  <a:srgbClr val="404040"/>
                </a:solidFill>
              </a:rPr>
              <a:t>:</a:t>
            </a:r>
            <a:endParaRPr lang="en-US" dirty="0"/>
          </a:p>
          <a:p>
            <a:r>
              <a:rPr lang="en-US" dirty="0">
                <a:solidFill>
                  <a:srgbClr val="525252"/>
                </a:solidFill>
              </a:rPr>
              <a:t>java</a:t>
            </a:r>
            <a:endParaRPr lang="en-US" dirty="0"/>
          </a:p>
          <a:p>
            <a:r>
              <a:rPr lang="en-US" dirty="0">
                <a:solidFill>
                  <a:srgbClr val="383A42"/>
                </a:solidFill>
              </a:rPr>
              <a:t>@Configuration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A626A4"/>
                </a:solidFill>
              </a:rPr>
              <a:t>public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A626A4"/>
                </a:solidFill>
              </a:rPr>
              <a:t>class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KafkaConfig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{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383A42"/>
                </a:solidFill>
              </a:rPr>
              <a:t>@Bean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A626A4"/>
                </a:solidFill>
              </a:rPr>
              <a:t>public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ConcurrentKafkaListenerContainerFactory</a:t>
            </a:r>
            <a:r>
              <a:rPr lang="en-US" dirty="0">
                <a:solidFill>
                  <a:srgbClr val="383A42"/>
                </a:solidFill>
              </a:rPr>
              <a:t>&lt;</a:t>
            </a:r>
            <a:r>
              <a:rPr lang="en-US" dirty="0">
                <a:solidFill>
                  <a:srgbClr val="B76B01"/>
                </a:solidFill>
              </a:rPr>
              <a:t>String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PaymentEvent</a:t>
            </a:r>
            <a:r>
              <a:rPr lang="en-US" dirty="0">
                <a:solidFill>
                  <a:srgbClr val="383A42"/>
                </a:solidFill>
              </a:rPr>
              <a:t>&gt;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078F2"/>
                </a:solidFill>
              </a:rPr>
              <a:t>kafkaListenerContainerFactory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494949"/>
                </a:solidFill>
              </a:rPr>
              <a:t>
            </a:t>
            </a:r>
            <a:r>
              <a:rPr lang="en-US" dirty="0" err="1">
                <a:solidFill>
                  <a:srgbClr val="B76B01"/>
                </a:solidFill>
              </a:rPr>
              <a:t>ConsumerFactory</a:t>
            </a:r>
            <a:r>
              <a:rPr lang="en-US" dirty="0">
                <a:solidFill>
                  <a:srgbClr val="383A42"/>
                </a:solidFill>
              </a:rPr>
              <a:t>&lt;</a:t>
            </a:r>
            <a:r>
              <a:rPr lang="en-US" dirty="0">
                <a:solidFill>
                  <a:srgbClr val="B76B01"/>
                </a:solidFill>
              </a:rPr>
              <a:t>String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PaymentEvent</a:t>
            </a:r>
            <a:r>
              <a:rPr lang="en-US" dirty="0">
                <a:solidFill>
                  <a:srgbClr val="383A42"/>
                </a:solidFill>
              </a:rPr>
              <a:t>&gt;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consumerFactory</a:t>
            </a:r>
            <a:r>
              <a:rPr lang="en-US" dirty="0">
                <a:solidFill>
                  <a:srgbClr val="383A42"/>
                </a:solidFill>
              </a:rPr>
              <a:t>)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{</a:t>
            </a:r>
            <a:r>
              <a:rPr lang="en-US" dirty="0">
                <a:solidFill>
                  <a:srgbClr val="494949"/>
                </a:solidFill>
              </a:rPr>
              <a:t>
        </a:t>
            </a:r>
            <a:r>
              <a:rPr lang="en-US" dirty="0" err="1">
                <a:solidFill>
                  <a:srgbClr val="B76B01"/>
                </a:solidFill>
              </a:rPr>
              <a:t>ConcurrentKafkaListenerContainerFactory</a:t>
            </a:r>
            <a:r>
              <a:rPr lang="en-US" dirty="0">
                <a:solidFill>
                  <a:srgbClr val="383A42"/>
                </a:solidFill>
              </a:rPr>
              <a:t>&lt;</a:t>
            </a:r>
            <a:r>
              <a:rPr lang="en-US" dirty="0">
                <a:solidFill>
                  <a:srgbClr val="B76B01"/>
                </a:solidFill>
              </a:rPr>
              <a:t>String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PaymentEvent</a:t>
            </a:r>
            <a:r>
              <a:rPr lang="en-US" dirty="0">
                <a:solidFill>
                  <a:srgbClr val="383A42"/>
                </a:solidFill>
              </a:rPr>
              <a:t>&gt;</a:t>
            </a:r>
            <a:r>
              <a:rPr lang="en-US" dirty="0">
                <a:solidFill>
                  <a:srgbClr val="494949"/>
                </a:solidFill>
              </a:rPr>
              <a:t> factory </a:t>
            </a:r>
            <a:r>
              <a:rPr lang="en-US" dirty="0">
                <a:solidFill>
                  <a:srgbClr val="4078F2"/>
                </a:solidFill>
              </a:rPr>
              <a:t>=</a:t>
            </a:r>
            <a:r>
              <a:rPr lang="en-US" dirty="0">
                <a:solidFill>
                  <a:srgbClr val="494949"/>
                </a:solidFill>
              </a:rPr>
              <a:t> 
            </a:t>
            </a:r>
            <a:r>
              <a:rPr lang="en-US" dirty="0">
                <a:solidFill>
                  <a:srgbClr val="A626A4"/>
                </a:solidFill>
              </a:rPr>
              <a:t>new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ConcurrentKafkaListenerContainerFactory</a:t>
            </a:r>
            <a:r>
              <a:rPr lang="en-US" dirty="0">
                <a:solidFill>
                  <a:srgbClr val="383A42"/>
                </a:solidFill>
              </a:rPr>
              <a:t>&lt;&gt;();</a:t>
            </a:r>
            <a:r>
              <a:rPr lang="en-US" dirty="0">
                <a:solidFill>
                  <a:srgbClr val="494949"/>
                </a:solidFill>
              </a:rPr>
              <a:t>
        </a:t>
            </a:r>
            <a:r>
              <a:rPr lang="en-US" dirty="0" err="1">
                <a:solidFill>
                  <a:srgbClr val="494949"/>
                </a:solidFill>
              </a:rPr>
              <a:t>factory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setConsumerFactory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 err="1">
                <a:solidFill>
                  <a:srgbClr val="494949"/>
                </a:solidFill>
              </a:rPr>
              <a:t>consumerFactory</a:t>
            </a:r>
            <a:r>
              <a:rPr lang="en-US" dirty="0">
                <a:solidFill>
                  <a:srgbClr val="383A42"/>
                </a:solidFill>
              </a:rPr>
              <a:t>);</a:t>
            </a:r>
            <a:r>
              <a:rPr lang="en-US" dirty="0">
                <a:solidFill>
                  <a:srgbClr val="494949"/>
                </a:solidFill>
              </a:rPr>
              <a:t>
        </a:t>
            </a:r>
            <a:r>
              <a:rPr lang="en-US" dirty="0" err="1">
                <a:solidFill>
                  <a:srgbClr val="494949"/>
                </a:solidFill>
              </a:rPr>
              <a:t>factory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setConcurrency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B76B01"/>
                </a:solidFill>
              </a:rPr>
              <a:t>10</a:t>
            </a:r>
            <a:r>
              <a:rPr lang="en-US" dirty="0">
                <a:solidFill>
                  <a:srgbClr val="383A42"/>
                </a:solidFill>
              </a:rPr>
              <a:t>);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i="1" dirty="0">
                <a:solidFill>
                  <a:srgbClr val="A0A1A7"/>
                </a:solidFill>
              </a:rPr>
              <a:t>// Match Kafka partitions</a:t>
            </a:r>
            <a:r>
              <a:rPr lang="en-US" dirty="0">
                <a:solidFill>
                  <a:srgbClr val="494949"/>
                </a:solidFill>
              </a:rPr>
              <a:t>
        </a:t>
            </a:r>
            <a:r>
              <a:rPr lang="en-US" dirty="0" err="1">
                <a:solidFill>
                  <a:srgbClr val="494949"/>
                </a:solidFill>
              </a:rPr>
              <a:t>factory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getContainerProperties</a:t>
            </a:r>
            <a:r>
              <a:rPr lang="en-US" dirty="0">
                <a:solidFill>
                  <a:srgbClr val="383A42"/>
                </a:solidFill>
              </a:rPr>
              <a:t>().</a:t>
            </a:r>
            <a:r>
              <a:rPr lang="en-US" dirty="0" err="1">
                <a:solidFill>
                  <a:srgbClr val="4078F2"/>
                </a:solidFill>
              </a:rPr>
              <a:t>setAckMode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 err="1">
                <a:solidFill>
                  <a:srgbClr val="B76B01"/>
                </a:solidFill>
              </a:rPr>
              <a:t>ContainerProperties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B76B01"/>
                </a:solidFill>
              </a:rPr>
              <a:t>AckMode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B76B01"/>
                </a:solidFill>
              </a:rPr>
              <a:t>MANUAL_IMMEDIATE</a:t>
            </a:r>
            <a:r>
              <a:rPr lang="en-US" dirty="0">
                <a:solidFill>
                  <a:srgbClr val="383A42"/>
                </a:solidFill>
              </a:rPr>
              <a:t>);</a:t>
            </a:r>
            <a:r>
              <a:rPr lang="en-US" dirty="0">
                <a:solidFill>
                  <a:srgbClr val="494949"/>
                </a:solidFill>
              </a:rPr>
              <a:t>
        </a:t>
            </a:r>
            <a:r>
              <a:rPr lang="en-US" dirty="0">
                <a:solidFill>
                  <a:srgbClr val="A626A4"/>
                </a:solidFill>
              </a:rPr>
              <a:t>return</a:t>
            </a:r>
            <a:r>
              <a:rPr lang="en-US" dirty="0">
                <a:solidFill>
                  <a:srgbClr val="494949"/>
                </a:solidFill>
              </a:rPr>
              <a:t> factory</a:t>
            </a:r>
            <a:r>
              <a:rPr lang="en-US" dirty="0">
                <a:solidFill>
                  <a:srgbClr val="383A42"/>
                </a:solidFill>
              </a:rPr>
              <a:t>;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383A42"/>
                </a:solidFill>
              </a:rPr>
              <a:t>}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383A42"/>
                </a:solidFill>
              </a:rPr>
              <a:t>}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b="1" dirty="0" err="1">
                <a:solidFill>
                  <a:srgbClr val="404040"/>
                </a:solidFill>
              </a:rPr>
              <a:t>gRPC</a:t>
            </a:r>
            <a:r>
              <a:rPr lang="en-US" b="1" dirty="0">
                <a:solidFill>
                  <a:srgbClr val="404040"/>
                </a:solidFill>
              </a:rPr>
              <a:t> Fraud Check Client</a:t>
            </a:r>
            <a:r>
              <a:rPr lang="en-US" dirty="0">
                <a:solidFill>
                  <a:srgbClr val="404040"/>
                </a:solidFill>
              </a:rPr>
              <a:t>:</a:t>
            </a:r>
            <a:endParaRPr lang="en-US" dirty="0"/>
          </a:p>
          <a:p>
            <a:r>
              <a:rPr lang="en-US" dirty="0">
                <a:solidFill>
                  <a:srgbClr val="525252"/>
                </a:solidFill>
              </a:rPr>
              <a:t>java</a:t>
            </a:r>
            <a:endParaRPr lang="en-US" dirty="0"/>
          </a:p>
          <a:p>
            <a:r>
              <a:rPr lang="en-US" dirty="0">
                <a:solidFill>
                  <a:srgbClr val="383A42"/>
                </a:solidFill>
              </a:rPr>
              <a:t>@GrpcClient(</a:t>
            </a:r>
            <a:r>
              <a:rPr lang="en-US" dirty="0">
                <a:solidFill>
                  <a:srgbClr val="50A14F"/>
                </a:solidFill>
              </a:rPr>
              <a:t>"fraud-service"</a:t>
            </a:r>
            <a:r>
              <a:rPr lang="en-US" dirty="0">
                <a:solidFill>
                  <a:srgbClr val="383A42"/>
                </a:solidFill>
              </a:rPr>
              <a:t>)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A626A4"/>
                </a:solidFill>
              </a:rPr>
              <a:t>private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FraudServiceGrpc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B76B01"/>
                </a:solidFill>
              </a:rPr>
              <a:t>FraudServiceBlockingStub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fraudClient</a:t>
            </a:r>
            <a:r>
              <a:rPr lang="en-US" dirty="0">
                <a:solidFill>
                  <a:srgbClr val="383A42"/>
                </a:solidFill>
              </a:rPr>
              <a:t>;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A626A4"/>
                </a:solidFill>
              </a:rPr>
              <a:t>public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FraudResponse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4078F2"/>
                </a:solidFill>
              </a:rPr>
              <a:t>check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 err="1">
                <a:solidFill>
                  <a:srgbClr val="B76B01"/>
                </a:solidFill>
              </a:rPr>
              <a:t>PaymentEvent</a:t>
            </a:r>
            <a:r>
              <a:rPr lang="en-US" dirty="0">
                <a:solidFill>
                  <a:srgbClr val="494949"/>
                </a:solidFill>
              </a:rPr>
              <a:t> event</a:t>
            </a:r>
            <a:r>
              <a:rPr lang="en-US" dirty="0">
                <a:solidFill>
                  <a:srgbClr val="383A42"/>
                </a:solidFill>
              </a:rPr>
              <a:t>)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{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 err="1">
                <a:solidFill>
                  <a:srgbClr val="B76B01"/>
                </a:solidFill>
              </a:rPr>
              <a:t>FraudCheckRequest</a:t>
            </a:r>
            <a:r>
              <a:rPr lang="en-US" dirty="0">
                <a:solidFill>
                  <a:srgbClr val="494949"/>
                </a:solidFill>
              </a:rPr>
              <a:t> request </a:t>
            </a:r>
            <a:r>
              <a:rPr lang="en-US" dirty="0">
                <a:solidFill>
                  <a:srgbClr val="4078F2"/>
                </a:solidFill>
              </a:rPr>
              <a:t>=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FraudCheckRequest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newBuilder</a:t>
            </a:r>
            <a:r>
              <a:rPr lang="en-US" dirty="0">
                <a:solidFill>
                  <a:srgbClr val="383A42"/>
                </a:solidFill>
              </a:rPr>
              <a:t>()</a:t>
            </a:r>
            <a:r>
              <a:rPr lang="en-US" dirty="0">
                <a:solidFill>
                  <a:srgbClr val="494949"/>
                </a:solidFill>
              </a:rPr>
              <a:t>
        </a:t>
            </a:r>
            <a:r>
              <a:rPr lang="en-US" dirty="0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setPaymentId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 err="1">
                <a:solidFill>
                  <a:srgbClr val="494949"/>
                </a:solidFill>
              </a:rPr>
              <a:t>event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getPaymentId</a:t>
            </a:r>
            <a:r>
              <a:rPr lang="en-US" dirty="0">
                <a:solidFill>
                  <a:srgbClr val="383A42"/>
                </a:solidFill>
              </a:rPr>
              <a:t>())</a:t>
            </a:r>
            <a:r>
              <a:rPr lang="en-US" dirty="0">
                <a:solidFill>
                  <a:srgbClr val="494949"/>
                </a:solidFill>
              </a:rPr>
              <a:t>
        </a:t>
            </a:r>
            <a:r>
              <a:rPr lang="en-US" dirty="0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setAmount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 err="1">
                <a:solidFill>
                  <a:srgbClr val="494949"/>
                </a:solidFill>
              </a:rPr>
              <a:t>event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getAmount</a:t>
            </a:r>
            <a:r>
              <a:rPr lang="en-US" dirty="0">
                <a:solidFill>
                  <a:srgbClr val="383A42"/>
                </a:solidFill>
              </a:rPr>
              <a:t>().</a:t>
            </a:r>
            <a:r>
              <a:rPr lang="en-US" dirty="0" err="1">
                <a:solidFill>
                  <a:srgbClr val="4078F2"/>
                </a:solidFill>
              </a:rPr>
              <a:t>doubleValue</a:t>
            </a:r>
            <a:r>
              <a:rPr lang="en-US" dirty="0">
                <a:solidFill>
                  <a:srgbClr val="383A42"/>
                </a:solidFill>
              </a:rPr>
              <a:t>())</a:t>
            </a:r>
            <a:r>
              <a:rPr lang="en-US" dirty="0">
                <a:solidFill>
                  <a:srgbClr val="494949"/>
                </a:solidFill>
              </a:rPr>
              <a:t>
        </a:t>
            </a:r>
            <a:r>
              <a:rPr lang="en-US" dirty="0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setCurrency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 err="1">
                <a:solidFill>
                  <a:srgbClr val="494949"/>
                </a:solidFill>
              </a:rPr>
              <a:t>event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getCurrency</a:t>
            </a:r>
            <a:r>
              <a:rPr lang="en-US" dirty="0">
                <a:solidFill>
                  <a:srgbClr val="383A42"/>
                </a:solidFill>
              </a:rPr>
              <a:t>())</a:t>
            </a:r>
            <a:r>
              <a:rPr lang="en-US" dirty="0">
                <a:solidFill>
                  <a:srgbClr val="494949"/>
                </a:solidFill>
              </a:rPr>
              <a:t>
        </a:t>
            </a:r>
            <a:r>
              <a:rPr lang="en-US" dirty="0">
                <a:solidFill>
                  <a:srgbClr val="383A42"/>
                </a:solidFill>
              </a:rPr>
              <a:t>.</a:t>
            </a:r>
            <a:r>
              <a:rPr lang="en-US" dirty="0">
                <a:solidFill>
                  <a:srgbClr val="4078F2"/>
                </a:solidFill>
              </a:rPr>
              <a:t>build</a:t>
            </a:r>
            <a:r>
              <a:rPr lang="en-US" dirty="0">
                <a:solidFill>
                  <a:srgbClr val="383A42"/>
                </a:solidFill>
              </a:rPr>
              <a:t>();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A626A4"/>
                </a:solidFill>
              </a:rPr>
              <a:t>return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fraudClient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checkFraud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494949"/>
                </a:solidFill>
              </a:rPr>
              <a:t>request</a:t>
            </a:r>
            <a:r>
              <a:rPr lang="en-US" dirty="0">
                <a:solidFill>
                  <a:srgbClr val="383A42"/>
                </a:solidFill>
              </a:rPr>
              <a:t>);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383A42"/>
                </a:solidFill>
              </a:rPr>
              <a:t>}</a:t>
            </a:r>
            <a:endParaRPr lang="en-US" dirty="0"/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=======================</a:t>
            </a: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Demo App</a:t>
            </a: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b="1" dirty="0">
                <a:solidFill>
                  <a:srgbClr val="404040"/>
                </a:solidFill>
              </a:rPr>
              <a:t>Payment Processing Service</a:t>
            </a:r>
            <a:endParaRPr lang="en-US" dirty="0"/>
          </a:p>
          <a:p>
            <a:r>
              <a:rPr lang="en-US" b="1" dirty="0">
                <a:solidFill>
                  <a:srgbClr val="404040"/>
                </a:solidFill>
              </a:rPr>
              <a:t>Features</a:t>
            </a:r>
            <a:r>
              <a:rPr lang="en-US" dirty="0">
                <a:solidFill>
                  <a:srgbClr val="404040"/>
                </a:solidFill>
              </a:rPr>
              <a:t>: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404040"/>
                </a:solidFill>
              </a:rPr>
              <a:t>Kafka consumer for high-volume payment events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404040"/>
                </a:solidFill>
              </a:rPr>
              <a:t>REST endpoint for synchronous payment initiation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404040"/>
                </a:solidFill>
              </a:rPr>
              <a:t>Optimized for 10K+ TPS with async/sync hybrid flow</a:t>
            </a:r>
            <a:endParaRPr lang="en-US" dirty="0"/>
          </a:p>
          <a:p>
            <a:r>
              <a:rPr lang="en-US" dirty="0">
                <a:solidFill>
                  <a:srgbClr val="525252"/>
                </a:solidFill>
              </a:rPr>
              <a:t>java</a:t>
            </a:r>
            <a:endParaRPr lang="en-US" dirty="0"/>
          </a:p>
          <a:p>
            <a:r>
              <a:rPr lang="en-US" dirty="0">
                <a:solidFill>
                  <a:srgbClr val="383A42"/>
                </a:solidFill>
              </a:rPr>
              <a:t>@SpringBootApplication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383A42"/>
                </a:solidFill>
              </a:rPr>
              <a:t>@EnableKafka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A626A4"/>
                </a:solidFill>
              </a:rPr>
              <a:t>public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A626A4"/>
                </a:solidFill>
              </a:rPr>
              <a:t>class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PaymentServiceApplication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{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A626A4"/>
                </a:solidFill>
              </a:rPr>
              <a:t>public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A626A4"/>
                </a:solidFill>
              </a:rPr>
              <a:t>static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A626A4"/>
                </a:solidFill>
              </a:rPr>
              <a:t>void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4078F2"/>
                </a:solidFill>
              </a:rPr>
              <a:t>main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B76B01"/>
                </a:solidFill>
              </a:rPr>
              <a:t>String</a:t>
            </a:r>
            <a:r>
              <a:rPr lang="en-US" dirty="0">
                <a:solidFill>
                  <a:srgbClr val="383A42"/>
                </a:solidFill>
              </a:rPr>
              <a:t>[]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args</a:t>
            </a:r>
            <a:r>
              <a:rPr lang="en-US" dirty="0">
                <a:solidFill>
                  <a:srgbClr val="383A42"/>
                </a:solidFill>
              </a:rPr>
              <a:t>)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{</a:t>
            </a:r>
            <a:r>
              <a:rPr lang="en-US" dirty="0">
                <a:solidFill>
                  <a:srgbClr val="494949"/>
                </a:solidFill>
              </a:rPr>
              <a:t>
        </a:t>
            </a:r>
            <a:r>
              <a:rPr lang="en-US" dirty="0" err="1">
                <a:solidFill>
                  <a:srgbClr val="B76B01"/>
                </a:solidFill>
              </a:rPr>
              <a:t>SpringApplication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run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 err="1">
                <a:solidFill>
                  <a:srgbClr val="B76B01"/>
                </a:solidFill>
              </a:rPr>
              <a:t>PaymentServiceApplication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A626A4"/>
                </a:solidFill>
              </a:rPr>
              <a:t>class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args</a:t>
            </a:r>
            <a:r>
              <a:rPr lang="en-US" dirty="0">
                <a:solidFill>
                  <a:srgbClr val="383A42"/>
                </a:solidFill>
              </a:rPr>
              <a:t>);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383A42"/>
                </a:solidFill>
              </a:rPr>
              <a:t>}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383A42"/>
                </a:solidFill>
              </a:rPr>
              <a:t>}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383A42"/>
                </a:solidFill>
              </a:rPr>
              <a:t>@RestController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383A42"/>
                </a:solidFill>
              </a:rPr>
              <a:t>@RequestMapping(</a:t>
            </a:r>
            <a:r>
              <a:rPr lang="en-US" dirty="0">
                <a:solidFill>
                  <a:srgbClr val="50A14F"/>
                </a:solidFill>
              </a:rPr>
              <a:t>"/payments"</a:t>
            </a:r>
            <a:r>
              <a:rPr lang="en-US" dirty="0">
                <a:solidFill>
                  <a:srgbClr val="383A42"/>
                </a:solidFill>
              </a:rPr>
              <a:t>)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A626A4"/>
                </a:solidFill>
              </a:rPr>
              <a:t>public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A626A4"/>
                </a:solidFill>
              </a:rPr>
              <a:t>class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PaymentController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{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383A42"/>
                </a:solidFill>
              </a:rPr>
              <a:t>@Autowired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A626A4"/>
                </a:solidFill>
              </a:rPr>
              <a:t>private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PaymentProcessor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paymentProcessor</a:t>
            </a:r>
            <a:r>
              <a:rPr lang="en-US" dirty="0">
                <a:solidFill>
                  <a:srgbClr val="383A42"/>
                </a:solidFill>
              </a:rPr>
              <a:t>;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i="1" dirty="0">
                <a:solidFill>
                  <a:srgbClr val="A0A1A7"/>
                </a:solidFill>
              </a:rPr>
              <a:t>// REST API for immediate payment initiation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383A42"/>
                </a:solidFill>
              </a:rPr>
              <a:t>@PostMapping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A626A4"/>
                </a:solidFill>
              </a:rPr>
              <a:t>public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ResponseEntity</a:t>
            </a:r>
            <a:r>
              <a:rPr lang="en-US" dirty="0">
                <a:solidFill>
                  <a:srgbClr val="383A42"/>
                </a:solidFill>
              </a:rPr>
              <a:t>&lt;</a:t>
            </a:r>
            <a:r>
              <a:rPr lang="en-US" dirty="0" err="1">
                <a:solidFill>
                  <a:srgbClr val="B76B01"/>
                </a:solidFill>
              </a:rPr>
              <a:t>PaymentResponse</a:t>
            </a:r>
            <a:r>
              <a:rPr lang="en-US" dirty="0">
                <a:solidFill>
                  <a:srgbClr val="383A42"/>
                </a:solidFill>
              </a:rPr>
              <a:t>&gt;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078F2"/>
                </a:solidFill>
              </a:rPr>
              <a:t>createPayment</a:t>
            </a:r>
            <a:r>
              <a:rPr lang="en-US" dirty="0">
                <a:solidFill>
                  <a:srgbClr val="383A42"/>
                </a:solidFill>
              </a:rPr>
              <a:t>(@RequestBody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PaymentRequest</a:t>
            </a:r>
            <a:r>
              <a:rPr lang="en-US" dirty="0">
                <a:solidFill>
                  <a:srgbClr val="494949"/>
                </a:solidFill>
              </a:rPr>
              <a:t> request</a:t>
            </a:r>
            <a:r>
              <a:rPr lang="en-US" dirty="0">
                <a:solidFill>
                  <a:srgbClr val="383A42"/>
                </a:solidFill>
              </a:rPr>
              <a:t>)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{</a:t>
            </a:r>
            <a:r>
              <a:rPr lang="en-US" dirty="0">
                <a:solidFill>
                  <a:srgbClr val="494949"/>
                </a:solidFill>
              </a:rPr>
              <a:t>
        </a:t>
            </a:r>
            <a:r>
              <a:rPr lang="en-US" dirty="0">
                <a:solidFill>
                  <a:srgbClr val="B76B01"/>
                </a:solidFill>
              </a:rPr>
              <a:t>String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paymentId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4078F2"/>
                </a:solidFill>
              </a:rPr>
              <a:t>=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paymentProcessor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initiatePayment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494949"/>
                </a:solidFill>
              </a:rPr>
              <a:t>request</a:t>
            </a:r>
            <a:r>
              <a:rPr lang="en-US" dirty="0">
                <a:solidFill>
                  <a:srgbClr val="383A42"/>
                </a:solidFill>
              </a:rPr>
              <a:t>);</a:t>
            </a:r>
            <a:r>
              <a:rPr lang="en-US" dirty="0">
                <a:solidFill>
                  <a:srgbClr val="494949"/>
                </a:solidFill>
              </a:rPr>
              <a:t>
        </a:t>
            </a:r>
            <a:r>
              <a:rPr lang="en-US" dirty="0">
                <a:solidFill>
                  <a:srgbClr val="A626A4"/>
                </a:solidFill>
              </a:rPr>
              <a:t>return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ResponseEntity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accepted</a:t>
            </a:r>
            <a:r>
              <a:rPr lang="en-US" dirty="0">
                <a:solidFill>
                  <a:srgbClr val="383A42"/>
                </a:solidFill>
              </a:rPr>
              <a:t>()</a:t>
            </a:r>
            <a:r>
              <a:rPr lang="en-US" dirty="0">
                <a:solidFill>
                  <a:srgbClr val="494949"/>
                </a:solidFill>
              </a:rPr>
              <a:t>
                </a:t>
            </a:r>
            <a:r>
              <a:rPr lang="en-US" dirty="0">
                <a:solidFill>
                  <a:srgbClr val="383A42"/>
                </a:solidFill>
              </a:rPr>
              <a:t>.</a:t>
            </a:r>
            <a:r>
              <a:rPr lang="en-US" dirty="0">
                <a:solidFill>
                  <a:srgbClr val="4078F2"/>
                </a:solidFill>
              </a:rPr>
              <a:t>body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A626A4"/>
                </a:solidFill>
              </a:rPr>
              <a:t>new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PaymentResponse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 err="1">
                <a:solidFill>
                  <a:srgbClr val="494949"/>
                </a:solidFill>
              </a:rPr>
              <a:t>paymentId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50A14F"/>
                </a:solidFill>
              </a:rPr>
              <a:t>"Processing"</a:t>
            </a:r>
            <a:r>
              <a:rPr lang="en-US" dirty="0">
                <a:solidFill>
                  <a:srgbClr val="383A42"/>
                </a:solidFill>
              </a:rPr>
              <a:t>));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383A42"/>
                </a:solidFill>
              </a:rPr>
              <a:t>}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383A42"/>
                </a:solidFill>
              </a:rPr>
              <a:t>}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383A42"/>
                </a:solidFill>
              </a:rPr>
              <a:t>@Service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A626A4"/>
                </a:solidFill>
              </a:rPr>
              <a:t>public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A626A4"/>
                </a:solidFill>
              </a:rPr>
              <a:t>class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PaymentProcessor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{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A626A4"/>
                </a:solidFill>
              </a:rPr>
              <a:t>private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A626A4"/>
                </a:solidFill>
              </a:rPr>
              <a:t>static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A626A4"/>
                </a:solidFill>
              </a:rPr>
              <a:t>final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B76B01"/>
                </a:solidFill>
              </a:rPr>
              <a:t>Logger</a:t>
            </a:r>
            <a:r>
              <a:rPr lang="en-US" dirty="0">
                <a:solidFill>
                  <a:srgbClr val="494949"/>
                </a:solidFill>
              </a:rPr>
              <a:t> log </a:t>
            </a:r>
            <a:r>
              <a:rPr lang="en-US" dirty="0">
                <a:solidFill>
                  <a:srgbClr val="4078F2"/>
                </a:solidFill>
              </a:rPr>
              <a:t>=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LoggerFactory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getLogger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 err="1">
                <a:solidFill>
                  <a:srgbClr val="B76B01"/>
                </a:solidFill>
              </a:rPr>
              <a:t>PaymentProcessor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A626A4"/>
                </a:solidFill>
              </a:rPr>
              <a:t>class</a:t>
            </a:r>
            <a:r>
              <a:rPr lang="en-US" dirty="0">
                <a:solidFill>
                  <a:srgbClr val="383A42"/>
                </a:solidFill>
              </a:rPr>
              <a:t>);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383A42"/>
                </a:solidFill>
              </a:rPr>
              <a:t>@Autowired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A626A4"/>
                </a:solidFill>
              </a:rPr>
              <a:t>private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KafkaTemplate</a:t>
            </a:r>
            <a:r>
              <a:rPr lang="en-US" dirty="0">
                <a:solidFill>
                  <a:srgbClr val="383A42"/>
                </a:solidFill>
              </a:rPr>
              <a:t>&lt;</a:t>
            </a:r>
            <a:r>
              <a:rPr lang="en-US" dirty="0">
                <a:solidFill>
                  <a:srgbClr val="B76B01"/>
                </a:solidFill>
              </a:rPr>
              <a:t>String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PaymentEvent</a:t>
            </a:r>
            <a:r>
              <a:rPr lang="en-US" dirty="0">
                <a:solidFill>
                  <a:srgbClr val="383A42"/>
                </a:solidFill>
              </a:rPr>
              <a:t>&gt;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kafkaTemplate</a:t>
            </a:r>
            <a:r>
              <a:rPr lang="en-US" dirty="0">
                <a:solidFill>
                  <a:srgbClr val="383A42"/>
                </a:solidFill>
              </a:rPr>
              <a:t>;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383A42"/>
                </a:solidFill>
              </a:rPr>
              <a:t>@Autowired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A626A4"/>
                </a:solidFill>
              </a:rPr>
              <a:t>private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PaymentRepository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paymentRepo</a:t>
            </a:r>
            <a:r>
              <a:rPr lang="en-US" dirty="0">
                <a:solidFill>
                  <a:srgbClr val="383A42"/>
                </a:solidFill>
              </a:rPr>
              <a:t>;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383A42"/>
                </a:solidFill>
              </a:rPr>
              <a:t>@Autowired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A626A4"/>
                </a:solidFill>
              </a:rPr>
              <a:t>private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FraudCheckClient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fraudCheckClient</a:t>
            </a:r>
            <a:r>
              <a:rPr lang="en-US" dirty="0">
                <a:solidFill>
                  <a:srgbClr val="383A42"/>
                </a:solidFill>
              </a:rPr>
              <a:t>;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i="1" dirty="0">
                <a:solidFill>
                  <a:srgbClr val="A0A1A7"/>
                </a:solidFill>
              </a:rPr>
              <a:t>// </a:t>
            </a:r>
            <a:r>
              <a:rPr lang="en-US" i="1" dirty="0" err="1">
                <a:solidFill>
                  <a:srgbClr val="A0A1A7"/>
                </a:solidFill>
              </a:rPr>
              <a:t>gRPC</a:t>
            </a:r>
            <a:r>
              <a:rPr lang="en-US" i="1" dirty="0">
                <a:solidFill>
                  <a:srgbClr val="A0A1A7"/>
                </a:solidFill>
              </a:rPr>
              <a:t>/REST client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i="1" dirty="0">
                <a:solidFill>
                  <a:srgbClr val="A0A1A7"/>
                </a:solidFill>
              </a:rPr>
              <a:t>// High-throughput async processing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383A42"/>
                </a:solidFill>
              </a:rPr>
              <a:t>@KafkaListener(</a:t>
            </a:r>
            <a:r>
              <a:rPr lang="en-US" dirty="0">
                <a:solidFill>
                  <a:srgbClr val="494949"/>
                </a:solidFill>
              </a:rPr>
              <a:t>topics </a:t>
            </a:r>
            <a:r>
              <a:rPr lang="en-US" dirty="0">
                <a:solidFill>
                  <a:srgbClr val="4078F2"/>
                </a:solidFill>
              </a:rPr>
              <a:t>=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50A14F"/>
                </a:solidFill>
              </a:rPr>
              <a:t>"${</a:t>
            </a:r>
            <a:r>
              <a:rPr lang="en-US" dirty="0" err="1">
                <a:solidFill>
                  <a:srgbClr val="50A14F"/>
                </a:solidFill>
              </a:rPr>
              <a:t>kafka.topic.payments</a:t>
            </a:r>
            <a:r>
              <a:rPr lang="en-US" dirty="0">
                <a:solidFill>
                  <a:srgbClr val="50A14F"/>
                </a:solidFill>
              </a:rPr>
              <a:t>}"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groupId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4078F2"/>
                </a:solidFill>
              </a:rPr>
              <a:t>=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50A14F"/>
                </a:solidFill>
              </a:rPr>
              <a:t>"${</a:t>
            </a:r>
            <a:r>
              <a:rPr lang="en-US" dirty="0" err="1">
                <a:solidFill>
                  <a:srgbClr val="50A14F"/>
                </a:solidFill>
              </a:rPr>
              <a:t>kafka.group</a:t>
            </a:r>
            <a:r>
              <a:rPr lang="en-US" dirty="0">
                <a:solidFill>
                  <a:srgbClr val="50A14F"/>
                </a:solidFill>
              </a:rPr>
              <a:t>-id}"</a:t>
            </a:r>
            <a:r>
              <a:rPr lang="en-US" dirty="0">
                <a:solidFill>
                  <a:srgbClr val="383A42"/>
                </a:solidFill>
              </a:rPr>
              <a:t>)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383A42"/>
                </a:solidFill>
              </a:rPr>
              <a:t>@Transactional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A626A4"/>
                </a:solidFill>
              </a:rPr>
              <a:t>public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A626A4"/>
                </a:solidFill>
              </a:rPr>
              <a:t>void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078F2"/>
                </a:solidFill>
              </a:rPr>
              <a:t>processPaymentEvent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 err="1">
                <a:solidFill>
                  <a:srgbClr val="B76B01"/>
                </a:solidFill>
              </a:rPr>
              <a:t>PaymentEvent</a:t>
            </a:r>
            <a:r>
              <a:rPr lang="en-US" dirty="0">
                <a:solidFill>
                  <a:srgbClr val="494949"/>
                </a:solidFill>
              </a:rPr>
              <a:t> event</a:t>
            </a:r>
            <a:r>
              <a:rPr lang="en-US" dirty="0">
                <a:solidFill>
                  <a:srgbClr val="383A42"/>
                </a:solidFill>
              </a:rPr>
              <a:t>)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{</a:t>
            </a:r>
            <a:r>
              <a:rPr lang="en-US" dirty="0">
                <a:solidFill>
                  <a:srgbClr val="494949"/>
                </a:solidFill>
              </a:rPr>
              <a:t>
        </a:t>
            </a:r>
            <a:r>
              <a:rPr lang="en-US" dirty="0">
                <a:solidFill>
                  <a:srgbClr val="A626A4"/>
                </a:solidFill>
              </a:rPr>
              <a:t>try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{</a:t>
            </a:r>
            <a:r>
              <a:rPr lang="en-US" dirty="0">
                <a:solidFill>
                  <a:srgbClr val="494949"/>
                </a:solidFill>
              </a:rPr>
              <a:t>
            </a:t>
            </a:r>
            <a:r>
              <a:rPr lang="en-US" i="1" dirty="0">
                <a:solidFill>
                  <a:srgbClr val="A0A1A7"/>
                </a:solidFill>
              </a:rPr>
              <a:t>// 1. Sync fraud check (low-latency)</a:t>
            </a:r>
            <a:r>
              <a:rPr lang="en-US" dirty="0">
                <a:solidFill>
                  <a:srgbClr val="494949"/>
                </a:solidFill>
              </a:rPr>
              <a:t>
            </a:t>
            </a:r>
            <a:r>
              <a:rPr lang="en-US" dirty="0" err="1">
                <a:solidFill>
                  <a:srgbClr val="B76B01"/>
                </a:solidFill>
              </a:rPr>
              <a:t>FraudResponse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fraudResponse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4078F2"/>
                </a:solidFill>
              </a:rPr>
              <a:t>=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fraudCheckClient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check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494949"/>
                </a:solidFill>
              </a:rPr>
              <a:t>event</a:t>
            </a:r>
            <a:r>
              <a:rPr lang="en-US" dirty="0">
                <a:solidFill>
                  <a:srgbClr val="383A42"/>
                </a:solidFill>
              </a:rPr>
              <a:t>);</a:t>
            </a:r>
            <a:r>
              <a:rPr lang="en-US" dirty="0">
                <a:solidFill>
                  <a:srgbClr val="494949"/>
                </a:solidFill>
              </a:rPr>
              <a:t> 
            </a:t>
            </a:r>
            <a:r>
              <a:rPr lang="en-US" dirty="0">
                <a:solidFill>
                  <a:srgbClr val="A626A4"/>
                </a:solidFill>
              </a:rPr>
              <a:t>if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 err="1">
                <a:solidFill>
                  <a:srgbClr val="494949"/>
                </a:solidFill>
              </a:rPr>
              <a:t>fraudResponse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isApproved</a:t>
            </a:r>
            <a:r>
              <a:rPr lang="en-US" dirty="0">
                <a:solidFill>
                  <a:srgbClr val="383A42"/>
                </a:solidFill>
              </a:rPr>
              <a:t>())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{</a:t>
            </a:r>
            <a:r>
              <a:rPr lang="en-US" dirty="0">
                <a:solidFill>
                  <a:srgbClr val="494949"/>
                </a:solidFill>
              </a:rPr>
              <a:t>
                </a:t>
            </a:r>
            <a:r>
              <a:rPr lang="en-US" i="1" dirty="0">
                <a:solidFill>
                  <a:srgbClr val="A0A1A7"/>
                </a:solidFill>
              </a:rPr>
              <a:t>// 2. Process payment</a:t>
            </a:r>
            <a:r>
              <a:rPr lang="en-US" dirty="0">
                <a:solidFill>
                  <a:srgbClr val="494949"/>
                </a:solidFill>
              </a:rPr>
              <a:t>
                </a:t>
            </a:r>
            <a:r>
              <a:rPr lang="en-US" dirty="0">
                <a:solidFill>
                  <a:srgbClr val="B76B01"/>
                </a:solidFill>
              </a:rPr>
              <a:t>Payment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payment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4078F2"/>
                </a:solidFill>
              </a:rPr>
              <a:t>=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PaymentMapper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toEntity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494949"/>
                </a:solidFill>
              </a:rPr>
              <a:t>event</a:t>
            </a:r>
            <a:r>
              <a:rPr lang="en-US" dirty="0">
                <a:solidFill>
                  <a:srgbClr val="383A42"/>
                </a:solidFill>
              </a:rPr>
              <a:t>);</a:t>
            </a:r>
            <a:r>
              <a:rPr lang="en-US" dirty="0">
                <a:solidFill>
                  <a:srgbClr val="494949"/>
                </a:solidFill>
              </a:rPr>
              <a:t>
                </a:t>
            </a:r>
            <a:r>
              <a:rPr lang="en-US" dirty="0" err="1">
                <a:solidFill>
                  <a:srgbClr val="494949"/>
                </a:solidFill>
              </a:rPr>
              <a:t>paymentRepo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save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494949"/>
                </a:solidFill>
              </a:rPr>
              <a:t>payment</a:t>
            </a:r>
            <a:r>
              <a:rPr lang="en-US" dirty="0">
                <a:solidFill>
                  <a:srgbClr val="383A42"/>
                </a:solidFill>
              </a:rPr>
              <a:t>);</a:t>
            </a:r>
            <a:r>
              <a:rPr lang="en-US" dirty="0">
                <a:solidFill>
                  <a:srgbClr val="494949"/>
                </a:solidFill>
              </a:rPr>
              <a:t>
                </a:t>
            </a:r>
            <a:r>
              <a:rPr lang="en-US" i="1" dirty="0">
                <a:solidFill>
                  <a:srgbClr val="A0A1A7"/>
                </a:solidFill>
              </a:rPr>
              <a:t>// 3. Publish settlement event</a:t>
            </a:r>
            <a:r>
              <a:rPr lang="en-US" dirty="0">
                <a:solidFill>
                  <a:srgbClr val="494949"/>
                </a:solidFill>
              </a:rPr>
              <a:t>
                </a:t>
            </a:r>
            <a:r>
              <a:rPr lang="en-US" dirty="0" err="1">
                <a:solidFill>
                  <a:srgbClr val="494949"/>
                </a:solidFill>
              </a:rPr>
              <a:t>kafkaTemplate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send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50A14F"/>
                </a:solidFill>
              </a:rPr>
              <a:t>"settlements"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payment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getPaymentId</a:t>
            </a:r>
            <a:r>
              <a:rPr lang="en-US" dirty="0">
                <a:solidFill>
                  <a:srgbClr val="383A42"/>
                </a:solidFill>
              </a:rPr>
              <a:t>(),</a:t>
            </a:r>
            <a:r>
              <a:rPr lang="en-US" dirty="0">
                <a:solidFill>
                  <a:srgbClr val="494949"/>
                </a:solidFill>
              </a:rPr>
              <a:t> 
                    </a:t>
            </a:r>
            <a:r>
              <a:rPr lang="en-US" dirty="0">
                <a:solidFill>
                  <a:srgbClr val="A626A4"/>
                </a:solidFill>
              </a:rPr>
              <a:t>new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SettlementEvent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 err="1">
                <a:solidFill>
                  <a:srgbClr val="494949"/>
                </a:solidFill>
              </a:rPr>
              <a:t>payment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getPaymentId</a:t>
            </a:r>
            <a:r>
              <a:rPr lang="en-US" dirty="0">
                <a:solidFill>
                  <a:srgbClr val="383A42"/>
                </a:solidFill>
              </a:rPr>
              <a:t>(),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payment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getAmount</a:t>
            </a:r>
            <a:r>
              <a:rPr lang="en-US" dirty="0">
                <a:solidFill>
                  <a:srgbClr val="383A42"/>
                </a:solidFill>
              </a:rPr>
              <a:t>()));</a:t>
            </a:r>
            <a:r>
              <a:rPr lang="en-US" dirty="0">
                <a:solidFill>
                  <a:srgbClr val="494949"/>
                </a:solidFill>
              </a:rPr>
              <a:t>
            </a:t>
            </a:r>
            <a:r>
              <a:rPr lang="en-US" dirty="0">
                <a:solidFill>
                  <a:srgbClr val="383A42"/>
                </a:solidFill>
              </a:rPr>
              <a:t>}</a:t>
            </a:r>
            <a:r>
              <a:rPr lang="en-US" dirty="0">
                <a:solidFill>
                  <a:srgbClr val="494949"/>
                </a:solidFill>
              </a:rPr>
              <a:t>
        </a:t>
            </a:r>
            <a:r>
              <a:rPr lang="en-US" dirty="0">
                <a:solidFill>
                  <a:srgbClr val="383A42"/>
                </a:solidFill>
              </a:rPr>
              <a:t>}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A626A4"/>
                </a:solidFill>
              </a:rPr>
              <a:t>catch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B76B01"/>
                </a:solidFill>
              </a:rPr>
              <a:t>Exception</a:t>
            </a:r>
            <a:r>
              <a:rPr lang="en-US" dirty="0">
                <a:solidFill>
                  <a:srgbClr val="494949"/>
                </a:solidFill>
              </a:rPr>
              <a:t> e</a:t>
            </a:r>
            <a:r>
              <a:rPr lang="en-US" dirty="0">
                <a:solidFill>
                  <a:srgbClr val="383A42"/>
                </a:solidFill>
              </a:rPr>
              <a:t>)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{</a:t>
            </a:r>
            <a:r>
              <a:rPr lang="en-US" dirty="0">
                <a:solidFill>
                  <a:srgbClr val="494949"/>
                </a:solidFill>
              </a:rPr>
              <a:t>
            </a:t>
            </a:r>
            <a:r>
              <a:rPr lang="en-US" dirty="0" err="1">
                <a:solidFill>
                  <a:srgbClr val="494949"/>
                </a:solidFill>
              </a:rPr>
              <a:t>log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error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50A14F"/>
                </a:solidFill>
              </a:rPr>
              <a:t>"Payment failed: {}"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event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getPaymentId</a:t>
            </a:r>
            <a:r>
              <a:rPr lang="en-US" dirty="0">
                <a:solidFill>
                  <a:srgbClr val="383A42"/>
                </a:solidFill>
              </a:rPr>
              <a:t>(),</a:t>
            </a:r>
            <a:r>
              <a:rPr lang="en-US" dirty="0">
                <a:solidFill>
                  <a:srgbClr val="494949"/>
                </a:solidFill>
              </a:rPr>
              <a:t> e</a:t>
            </a:r>
            <a:r>
              <a:rPr lang="en-US" dirty="0">
                <a:solidFill>
                  <a:srgbClr val="383A42"/>
                </a:solidFill>
              </a:rPr>
              <a:t>);</a:t>
            </a:r>
            <a:r>
              <a:rPr lang="en-US" dirty="0">
                <a:solidFill>
                  <a:srgbClr val="494949"/>
                </a:solidFill>
              </a:rPr>
              <a:t>
            </a:t>
            </a:r>
            <a:r>
              <a:rPr lang="en-US" dirty="0" err="1">
                <a:solidFill>
                  <a:srgbClr val="494949"/>
                </a:solidFill>
              </a:rPr>
              <a:t>kafkaTemplate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send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50A14F"/>
                </a:solidFill>
              </a:rPr>
              <a:t>"payment-</a:t>
            </a:r>
            <a:r>
              <a:rPr lang="en-US" dirty="0" err="1">
                <a:solidFill>
                  <a:srgbClr val="50A14F"/>
                </a:solidFill>
              </a:rPr>
              <a:t>dlq</a:t>
            </a:r>
            <a:r>
              <a:rPr lang="en-US" dirty="0">
                <a:solidFill>
                  <a:srgbClr val="50A14F"/>
                </a:solidFill>
              </a:rPr>
              <a:t>"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event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getPaymentId</a:t>
            </a:r>
            <a:r>
              <a:rPr lang="en-US" dirty="0">
                <a:solidFill>
                  <a:srgbClr val="383A42"/>
                </a:solidFill>
              </a:rPr>
              <a:t>(),</a:t>
            </a:r>
            <a:r>
              <a:rPr lang="en-US" dirty="0">
                <a:solidFill>
                  <a:srgbClr val="494949"/>
                </a:solidFill>
              </a:rPr>
              <a:t> event</a:t>
            </a:r>
            <a:r>
              <a:rPr lang="en-US" dirty="0">
                <a:solidFill>
                  <a:srgbClr val="383A42"/>
                </a:solidFill>
              </a:rPr>
              <a:t>);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i="1" dirty="0">
                <a:solidFill>
                  <a:srgbClr val="A0A1A7"/>
                </a:solidFill>
              </a:rPr>
              <a:t>// DLQ</a:t>
            </a:r>
            <a:r>
              <a:rPr lang="en-US" dirty="0">
                <a:solidFill>
                  <a:srgbClr val="494949"/>
                </a:solidFill>
              </a:rPr>
              <a:t>
        </a:t>
            </a:r>
            <a:r>
              <a:rPr lang="en-US" dirty="0">
                <a:solidFill>
                  <a:srgbClr val="383A42"/>
                </a:solidFill>
              </a:rPr>
              <a:t>}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383A42"/>
                </a:solidFill>
              </a:rPr>
              <a:t>}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A626A4"/>
                </a:solidFill>
              </a:rPr>
              <a:t>public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B76B01"/>
                </a:solidFill>
              </a:rPr>
              <a:t>String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078F2"/>
                </a:solidFill>
              </a:rPr>
              <a:t>initiatePayment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 err="1">
                <a:solidFill>
                  <a:srgbClr val="B76B01"/>
                </a:solidFill>
              </a:rPr>
              <a:t>PaymentRequest</a:t>
            </a:r>
            <a:r>
              <a:rPr lang="en-US" dirty="0">
                <a:solidFill>
                  <a:srgbClr val="494949"/>
                </a:solidFill>
              </a:rPr>
              <a:t> request</a:t>
            </a:r>
            <a:r>
              <a:rPr lang="en-US" dirty="0">
                <a:solidFill>
                  <a:srgbClr val="383A42"/>
                </a:solidFill>
              </a:rPr>
              <a:t>)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{</a:t>
            </a:r>
            <a:r>
              <a:rPr lang="en-US" dirty="0">
                <a:solidFill>
                  <a:srgbClr val="494949"/>
                </a:solidFill>
              </a:rPr>
              <a:t>
        </a:t>
            </a:r>
            <a:r>
              <a:rPr lang="en-US" dirty="0">
                <a:solidFill>
                  <a:srgbClr val="B76B01"/>
                </a:solidFill>
              </a:rPr>
              <a:t>String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paymentId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4078F2"/>
                </a:solidFill>
              </a:rPr>
              <a:t>=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UUID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randomUUID</a:t>
            </a:r>
            <a:r>
              <a:rPr lang="en-US" dirty="0">
                <a:solidFill>
                  <a:srgbClr val="383A42"/>
                </a:solidFill>
              </a:rPr>
              <a:t>().</a:t>
            </a:r>
            <a:r>
              <a:rPr lang="en-US" dirty="0" err="1">
                <a:solidFill>
                  <a:srgbClr val="4078F2"/>
                </a:solidFill>
              </a:rPr>
              <a:t>toString</a:t>
            </a:r>
            <a:r>
              <a:rPr lang="en-US" dirty="0">
                <a:solidFill>
                  <a:srgbClr val="383A42"/>
                </a:solidFill>
              </a:rPr>
              <a:t>();</a:t>
            </a:r>
            <a:r>
              <a:rPr lang="en-US" dirty="0">
                <a:solidFill>
                  <a:srgbClr val="494949"/>
                </a:solidFill>
              </a:rPr>
              <a:t>
        </a:t>
            </a:r>
            <a:r>
              <a:rPr lang="en-US" dirty="0" err="1">
                <a:solidFill>
                  <a:srgbClr val="494949"/>
                </a:solidFill>
              </a:rPr>
              <a:t>kafkaTemplate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send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50A14F"/>
                </a:solidFill>
              </a:rPr>
              <a:t>"payments"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paymentId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
            </a:t>
            </a:r>
            <a:r>
              <a:rPr lang="en-US" dirty="0">
                <a:solidFill>
                  <a:srgbClr val="A626A4"/>
                </a:solidFill>
              </a:rPr>
              <a:t>new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PaymentEvent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 err="1">
                <a:solidFill>
                  <a:srgbClr val="494949"/>
                </a:solidFill>
              </a:rPr>
              <a:t>paymentId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request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getAmount</a:t>
            </a:r>
            <a:r>
              <a:rPr lang="en-US" dirty="0">
                <a:solidFill>
                  <a:srgbClr val="383A42"/>
                </a:solidFill>
              </a:rPr>
              <a:t>(),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request</a:t>
            </a:r>
            <a:r>
              <a:rPr lang="en-US" dirty="0" err="1">
                <a:solidFill>
                  <a:srgbClr val="383A42"/>
                </a:solidFill>
              </a:rPr>
              <a:t>.</a:t>
            </a:r>
            <a:r>
              <a:rPr lang="en-US" dirty="0" err="1">
                <a:solidFill>
                  <a:srgbClr val="4078F2"/>
                </a:solidFill>
              </a:rPr>
              <a:t>getCurrency</a:t>
            </a:r>
            <a:r>
              <a:rPr lang="en-US" dirty="0">
                <a:solidFill>
                  <a:srgbClr val="383A42"/>
                </a:solidFill>
              </a:rPr>
              <a:t>()));</a:t>
            </a:r>
            <a:r>
              <a:rPr lang="en-US" dirty="0">
                <a:solidFill>
                  <a:srgbClr val="494949"/>
                </a:solidFill>
              </a:rPr>
              <a:t>
        </a:t>
            </a:r>
            <a:r>
              <a:rPr lang="en-US" dirty="0">
                <a:solidFill>
                  <a:srgbClr val="A626A4"/>
                </a:solidFill>
              </a:rPr>
              <a:t>return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paymentId</a:t>
            </a:r>
            <a:r>
              <a:rPr lang="en-US" dirty="0">
                <a:solidFill>
                  <a:srgbClr val="383A42"/>
                </a:solidFill>
              </a:rPr>
              <a:t>;</a:t>
            </a:r>
            <a:r>
              <a:rPr lang="en-US" dirty="0">
                <a:solidFill>
                  <a:srgbClr val="494949"/>
                </a:solidFill>
              </a:rPr>
              <a:t>
    </a:t>
            </a:r>
            <a:r>
              <a:rPr lang="en-US" dirty="0">
                <a:solidFill>
                  <a:srgbClr val="383A42"/>
                </a:solidFill>
              </a:rPr>
              <a:t>}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383A42"/>
                </a:solidFill>
              </a:rPr>
              <a:t>}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i="1" dirty="0">
                <a:solidFill>
                  <a:srgbClr val="A0A1A7"/>
                </a:solidFill>
              </a:rPr>
              <a:t>// DTOs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A626A4"/>
                </a:solidFill>
              </a:rPr>
              <a:t>public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A626A4"/>
                </a:solidFill>
              </a:rPr>
              <a:t>record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PaymentRequest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 err="1">
                <a:solidFill>
                  <a:srgbClr val="B76B01"/>
                </a:solidFill>
              </a:rPr>
              <a:t>BigDecimal</a:t>
            </a:r>
            <a:r>
              <a:rPr lang="en-US" dirty="0">
                <a:solidFill>
                  <a:srgbClr val="494949"/>
                </a:solidFill>
              </a:rPr>
              <a:t> amount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B76B01"/>
                </a:solidFill>
              </a:rPr>
              <a:t>String</a:t>
            </a:r>
            <a:r>
              <a:rPr lang="en-US" dirty="0">
                <a:solidFill>
                  <a:srgbClr val="494949"/>
                </a:solidFill>
              </a:rPr>
              <a:t> currency</a:t>
            </a:r>
            <a:r>
              <a:rPr lang="en-US" dirty="0">
                <a:solidFill>
                  <a:srgbClr val="383A42"/>
                </a:solidFill>
              </a:rPr>
              <a:t>)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{}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A626A4"/>
                </a:solidFill>
              </a:rPr>
              <a:t>public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A626A4"/>
                </a:solidFill>
              </a:rPr>
              <a:t>record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PaymentResponse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B76B01"/>
                </a:solidFill>
              </a:rPr>
              <a:t>String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paymentId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B76B01"/>
                </a:solidFill>
              </a:rPr>
              <a:t>String</a:t>
            </a:r>
            <a:r>
              <a:rPr lang="en-US" dirty="0">
                <a:solidFill>
                  <a:srgbClr val="494949"/>
                </a:solidFill>
              </a:rPr>
              <a:t> status</a:t>
            </a:r>
            <a:r>
              <a:rPr lang="en-US" dirty="0">
                <a:solidFill>
                  <a:srgbClr val="383A42"/>
                </a:solidFill>
              </a:rPr>
              <a:t>)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{}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A626A4"/>
                </a:solidFill>
              </a:rPr>
              <a:t>public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A626A4"/>
                </a:solidFill>
              </a:rPr>
              <a:t>record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PaymentEvent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B76B01"/>
                </a:solidFill>
              </a:rPr>
              <a:t>String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paymentId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BigDecimal</a:t>
            </a:r>
            <a:r>
              <a:rPr lang="en-US" dirty="0">
                <a:solidFill>
                  <a:srgbClr val="494949"/>
                </a:solidFill>
              </a:rPr>
              <a:t> amount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B76B01"/>
                </a:solidFill>
              </a:rPr>
              <a:t>String</a:t>
            </a:r>
            <a:r>
              <a:rPr lang="en-US" dirty="0">
                <a:solidFill>
                  <a:srgbClr val="494949"/>
                </a:solidFill>
              </a:rPr>
              <a:t> currency</a:t>
            </a:r>
            <a:r>
              <a:rPr lang="en-US" dirty="0">
                <a:solidFill>
                  <a:srgbClr val="383A42"/>
                </a:solidFill>
              </a:rPr>
              <a:t>)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{}</a:t>
            </a:r>
            <a:r>
              <a:rPr lang="en-US" dirty="0">
                <a:solidFill>
                  <a:srgbClr val="494949"/>
                </a:solidFill>
              </a:rPr>
              <a:t>
</a:t>
            </a:r>
            <a:r>
              <a:rPr lang="en-US" dirty="0">
                <a:solidFill>
                  <a:srgbClr val="A626A4"/>
                </a:solidFill>
              </a:rPr>
              <a:t>public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A626A4"/>
                </a:solidFill>
              </a:rPr>
              <a:t>record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SettlementEvent</a:t>
            </a:r>
            <a:r>
              <a:rPr lang="en-US" dirty="0">
                <a:solidFill>
                  <a:srgbClr val="383A42"/>
                </a:solidFill>
              </a:rPr>
              <a:t>(</a:t>
            </a:r>
            <a:r>
              <a:rPr lang="en-US" dirty="0">
                <a:solidFill>
                  <a:srgbClr val="B76B01"/>
                </a:solidFill>
              </a:rPr>
              <a:t>String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494949"/>
                </a:solidFill>
              </a:rPr>
              <a:t>paymentId</a:t>
            </a:r>
            <a:r>
              <a:rPr lang="en-US" dirty="0">
                <a:solidFill>
                  <a:srgbClr val="383A42"/>
                </a:solidFill>
              </a:rPr>
              <a:t>,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 err="1">
                <a:solidFill>
                  <a:srgbClr val="B76B01"/>
                </a:solidFill>
              </a:rPr>
              <a:t>BigDecimal</a:t>
            </a:r>
            <a:r>
              <a:rPr lang="en-US" dirty="0">
                <a:solidFill>
                  <a:srgbClr val="494949"/>
                </a:solidFill>
              </a:rPr>
              <a:t> amount</a:t>
            </a:r>
            <a:r>
              <a:rPr lang="en-US" dirty="0">
                <a:solidFill>
                  <a:srgbClr val="383A42"/>
                </a:solidFill>
              </a:rPr>
              <a:t>)</a:t>
            </a:r>
            <a:r>
              <a:rPr lang="en-US" dirty="0">
                <a:solidFill>
                  <a:srgbClr val="494949"/>
                </a:solidFill>
              </a:rPr>
              <a:t> </a:t>
            </a:r>
            <a:r>
              <a:rPr lang="en-US" dirty="0">
                <a:solidFill>
                  <a:srgbClr val="383A42"/>
                </a:solidFill>
              </a:rPr>
              <a:t>{}</a:t>
            </a:r>
            <a:endParaRPr lang="en-US" dirty="0"/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8EF67-22A0-417E-93A1-33B7F0C1B18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35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@SpringBootApplication</a:t>
            </a:r>
          </a:p>
          <a:p>
            <a:r>
              <a:rPr lang="en-US"/>
              <a:t>@EnableKafka</a:t>
            </a:r>
          </a:p>
          <a:p>
            <a:r>
              <a:rPr lang="en-US"/>
              <a:t>public class PaymentServiceApplication {</a:t>
            </a:r>
          </a:p>
          <a:p>
            <a:r>
              <a:rPr lang="en-US"/>
              <a:t>    public static void main(String[] args) {</a:t>
            </a:r>
          </a:p>
          <a:p>
            <a:r>
              <a:rPr lang="en-US"/>
              <a:t>        SpringApplication.run(PaymentServiceApplication.class, args);</a:t>
            </a:r>
          </a:p>
          <a:p>
            <a:r>
              <a:rPr lang="en-US"/>
              <a:t>    }</a:t>
            </a:r>
          </a:p>
          <a:p>
            <a:r>
              <a:rPr lang="en-US"/>
              <a:t>}</a:t>
            </a:r>
          </a:p>
          <a:p>
            <a:r>
              <a:rPr lang="en-US"/>
              <a:t> </a:t>
            </a:r>
          </a:p>
          <a:p>
            <a:r>
              <a:rPr lang="en-US"/>
              <a:t>@RestController</a:t>
            </a:r>
          </a:p>
          <a:p>
            <a:r>
              <a:rPr lang="en-US"/>
              <a:t>@RequestMapping("/payments")</a:t>
            </a:r>
          </a:p>
          <a:p>
            <a:r>
              <a:rPr lang="en-US"/>
              <a:t>public class PaymentController {</a:t>
            </a:r>
          </a:p>
          <a:p>
            <a:r>
              <a:rPr lang="en-US"/>
              <a:t> </a:t>
            </a:r>
          </a:p>
          <a:p>
            <a:r>
              <a:rPr lang="en-US"/>
              <a:t>    @Autowired</a:t>
            </a:r>
          </a:p>
          <a:p>
            <a:r>
              <a:rPr lang="en-US"/>
              <a:t>    private PaymentProcessor paymentProcessor;</a:t>
            </a:r>
          </a:p>
          <a:p>
            <a:r>
              <a:rPr lang="en-US"/>
              <a:t> </a:t>
            </a:r>
          </a:p>
          <a:p>
            <a:r>
              <a:rPr lang="en-US"/>
              <a:t>    // REST API for immediate payment initiation</a:t>
            </a:r>
          </a:p>
          <a:p>
            <a:r>
              <a:rPr lang="en-US"/>
              <a:t>    @PostMapping</a:t>
            </a:r>
          </a:p>
          <a:p>
            <a:r>
              <a:rPr lang="en-US"/>
              <a:t>    public ResponseEntity&lt;PaymentResponse&gt; createPayment(@RequestBody PaymentRequest request) {</a:t>
            </a:r>
          </a:p>
          <a:p>
            <a:r>
              <a:rPr lang="en-US"/>
              <a:t>        String paymentId = paymentProcessor.initiatePayment(request);</a:t>
            </a:r>
          </a:p>
          <a:p>
            <a:r>
              <a:rPr lang="en-US"/>
              <a:t>        return ResponseEntity.accepted()</a:t>
            </a:r>
          </a:p>
          <a:p>
            <a:r>
              <a:rPr lang="en-US"/>
              <a:t>                .body(new PaymentResponse(paymentId, "Processing"));</a:t>
            </a:r>
          </a:p>
          <a:p>
            <a:r>
              <a:rPr lang="en-US"/>
              <a:t>    }</a:t>
            </a:r>
          </a:p>
          <a:p>
            <a:r>
              <a:rPr lang="en-US"/>
              <a:t>}</a:t>
            </a:r>
          </a:p>
          <a:p>
            <a:r>
              <a:rPr lang="en-US"/>
              <a:t> </a:t>
            </a:r>
          </a:p>
          <a:p>
            <a:r>
              <a:rPr lang="en-US"/>
              <a:t>@Service</a:t>
            </a:r>
          </a:p>
          <a:p>
            <a:r>
              <a:rPr lang="en-US"/>
              <a:t>public class PaymentProcessor {</a:t>
            </a:r>
          </a:p>
          <a:p>
            <a:r>
              <a:rPr lang="en-US"/>
              <a:t>    private static final Logger log = LoggerFactory.getLogger(PaymentProcessor.class);</a:t>
            </a:r>
          </a:p>
          <a:p>
            <a:r>
              <a:rPr lang="en-US"/>
              <a:t> </a:t>
            </a:r>
          </a:p>
          <a:p>
            <a:r>
              <a:rPr lang="en-US"/>
              <a:t>    @Autowired</a:t>
            </a:r>
          </a:p>
          <a:p>
            <a:r>
              <a:rPr lang="en-US"/>
              <a:t>    private KafkaTemplate&lt;String, PaymentEvent&gt; kafkaTemplate;</a:t>
            </a:r>
          </a:p>
          <a:p>
            <a:r>
              <a:rPr lang="en-US"/>
              <a:t> </a:t>
            </a:r>
          </a:p>
          <a:p>
            <a:r>
              <a:rPr lang="en-US"/>
              <a:t>    @Autowired</a:t>
            </a:r>
          </a:p>
          <a:p>
            <a:r>
              <a:rPr lang="en-US"/>
              <a:t>    private PaymentRepository paymentRepo;</a:t>
            </a:r>
          </a:p>
          <a:p>
            <a:r>
              <a:rPr lang="en-US"/>
              <a:t> </a:t>
            </a:r>
          </a:p>
          <a:p>
            <a:r>
              <a:rPr lang="en-US"/>
              <a:t>    @Autowired</a:t>
            </a:r>
          </a:p>
          <a:p>
            <a:r>
              <a:rPr lang="en-US"/>
              <a:t>    private FraudCheckClient fraudCheckClient; // gRPC/REST client</a:t>
            </a:r>
          </a:p>
          <a:p>
            <a:r>
              <a:rPr lang="en-US"/>
              <a:t> </a:t>
            </a:r>
          </a:p>
          <a:p>
            <a:r>
              <a:rPr lang="en-US"/>
              <a:t>    // High-throughput async processing</a:t>
            </a:r>
          </a:p>
          <a:p>
            <a:r>
              <a:rPr lang="en-US"/>
              <a:t>    @KafkaListener(topics = "${kafka.topic.payments}", groupId = "${kafka.group-id}")</a:t>
            </a:r>
          </a:p>
          <a:p>
            <a:r>
              <a:rPr lang="en-US"/>
              <a:t>    @Transactional</a:t>
            </a:r>
          </a:p>
          <a:p>
            <a:r>
              <a:rPr lang="en-US"/>
              <a:t>    public void processPaymentEvent(PaymentEvent event) {</a:t>
            </a:r>
          </a:p>
          <a:p>
            <a:r>
              <a:rPr lang="en-US"/>
              <a:t>        try {</a:t>
            </a:r>
          </a:p>
          <a:p>
            <a:r>
              <a:rPr lang="en-US"/>
              <a:t>            // 1. Sync fraud check (low-latency)</a:t>
            </a:r>
          </a:p>
          <a:p>
            <a:r>
              <a:rPr lang="en-US"/>
              <a:t>            FraudResponse fraudResponse = fraudCheckClient.check(event); </a:t>
            </a:r>
          </a:p>
          <a:p>
            <a:r>
              <a:rPr lang="en-US"/>
              <a:t>            </a:t>
            </a:r>
          </a:p>
          <a:p>
            <a:r>
              <a:rPr lang="en-US"/>
              <a:t>            if (fraudResponse.isApproved()) {</a:t>
            </a:r>
          </a:p>
          <a:p>
            <a:r>
              <a:rPr lang="en-US"/>
              <a:t>                // 2. Process payment</a:t>
            </a:r>
          </a:p>
          <a:p>
            <a:r>
              <a:rPr lang="en-US"/>
              <a:t>                Payment payment = PaymentMapper.toEntity(event);</a:t>
            </a:r>
          </a:p>
          <a:p>
            <a:r>
              <a:rPr lang="en-US"/>
              <a:t>                paymentRepo.save(payment);</a:t>
            </a:r>
          </a:p>
          <a:p>
            <a:r>
              <a:rPr lang="en-US"/>
              <a:t>                </a:t>
            </a:r>
          </a:p>
          <a:p>
            <a:r>
              <a:rPr lang="en-US"/>
              <a:t>                // 3. Publish settlement event</a:t>
            </a:r>
          </a:p>
          <a:p>
            <a:r>
              <a:rPr lang="en-US"/>
              <a:t>                kafkaTemplate.send("settlements", payment.getPaymentId(), </a:t>
            </a:r>
          </a:p>
          <a:p>
            <a:r>
              <a:rPr lang="en-US"/>
              <a:t>                    new SettlementEvent(payment.getPaymentId(), payment.getAmount()));</a:t>
            </a:r>
          </a:p>
          <a:p>
            <a:r>
              <a:rPr lang="en-US"/>
              <a:t>            }</a:t>
            </a:r>
          </a:p>
          <a:p>
            <a:r>
              <a:rPr lang="en-US"/>
              <a:t>        } catch (Exception e) {</a:t>
            </a:r>
          </a:p>
          <a:p>
            <a:r>
              <a:rPr lang="en-US"/>
              <a:t>            log.error("Payment failed: {}", event.getPaymentId(), e);</a:t>
            </a:r>
          </a:p>
          <a:p>
            <a:r>
              <a:rPr lang="en-US"/>
              <a:t>            kafkaTemplate.send("payment-dlq", event.getPaymentId(), event); // DLQ</a:t>
            </a:r>
          </a:p>
          <a:p>
            <a:r>
              <a:rPr lang="en-US"/>
              <a:t>        }</a:t>
            </a:r>
          </a:p>
          <a:p>
            <a:r>
              <a:rPr lang="en-US"/>
              <a:t>    }</a:t>
            </a:r>
          </a:p>
          <a:p>
            <a:r>
              <a:rPr lang="en-US"/>
              <a:t> </a:t>
            </a:r>
          </a:p>
          <a:p>
            <a:r>
              <a:rPr lang="en-US"/>
              <a:t>    public String initiatePayment(PaymentRequest request) {</a:t>
            </a:r>
          </a:p>
          <a:p>
            <a:r>
              <a:rPr lang="en-US"/>
              <a:t>        String paymentId = UUID.randomUUID().toString();</a:t>
            </a:r>
          </a:p>
          <a:p>
            <a:r>
              <a:rPr lang="en-US"/>
              <a:t>        kafkaTemplate.send("payments", paymentId, </a:t>
            </a:r>
          </a:p>
          <a:p>
            <a:r>
              <a:rPr lang="en-US"/>
              <a:t>            new PaymentEvent(paymentId, request.getAmount(), request.getCurrency()));</a:t>
            </a:r>
          </a:p>
          <a:p>
            <a:r>
              <a:rPr lang="en-US"/>
              <a:t>        return paymentId;</a:t>
            </a:r>
          </a:p>
          <a:p>
            <a:r>
              <a:rPr lang="en-US"/>
              <a:t>    }</a:t>
            </a:r>
          </a:p>
          <a:p>
            <a:r>
              <a:rPr lang="en-US"/>
              <a:t>}</a:t>
            </a:r>
          </a:p>
          <a:p>
            <a:r>
              <a:rPr lang="en-US"/>
              <a:t> </a:t>
            </a:r>
          </a:p>
          <a:p>
            <a:r>
              <a:rPr lang="en-US"/>
              <a:t>// DTOs</a:t>
            </a:r>
          </a:p>
          <a:p>
            <a:r>
              <a:rPr lang="en-US"/>
              <a:t>public record PaymentRequest(BigDecimal amount, String currency) {}</a:t>
            </a:r>
          </a:p>
          <a:p>
            <a:r>
              <a:rPr lang="en-US"/>
              <a:t>public record PaymentResponse(String paymentId, String status) {}</a:t>
            </a:r>
          </a:p>
          <a:p>
            <a:r>
              <a:rPr lang="en-US"/>
              <a:t>public record PaymentEvent(String paymentId, BigDecimal amount, String currency) {}</a:t>
            </a:r>
          </a:p>
          <a:p>
            <a:r>
              <a:rPr lang="en-US"/>
              <a:t>public record SettlementEvent(String paymentId, BigDecimal amount) {}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8EF67-22A0-417E-93A1-33B7F0C1B18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477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 i="1">
                <a:solidFill>
                  <a:srgbClr val="FFFFFF"/>
                </a:solidFill>
                <a:ea typeface="+mj-lt"/>
                <a:cs typeface="+mj-lt"/>
              </a:rPr>
              <a:t>"Implementing Real-Time Trade Settlement on AWS"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*"Event-Driven Architecture with Kafka, Microservices, and Sub-300ms Latency"*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6B2E50-CC15-808E-84F3-EBFC87012E2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76" t="9091" r="16426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D22C4-E135-94D5-C7E5-F20F7F003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Core Stack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E4A7CF-72DF-3244-E859-9D1856DCA3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438088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56484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A5FE9CEF-90E0-4E95-C3BB-A1BAF6780D2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3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3" name="Rectangle 19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274F3B-3146-6A1D-0CED-D9A2E4234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Implementation steps</a:t>
            </a:r>
          </a:p>
        </p:txBody>
      </p:sp>
      <p:graphicFrame>
        <p:nvGraphicFramePr>
          <p:cNvPr id="194" name="Content Placeholder 175">
            <a:extLst>
              <a:ext uri="{FF2B5EF4-FFF2-40B4-BE49-F238E27FC236}">
                <a16:creationId xmlns:a16="http://schemas.microsoft.com/office/drawing/2014/main" id="{A242536D-1C5D-503A-C22A-380E7251CE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436587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00658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6DBCD0-C301-BFC1-222B-40D49C38AAA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855" r="9085" b="741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696F7D-4375-BE48-9C24-371FF50D1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Latency Optimization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D2FD62-B599-5503-0826-9FDBE5187C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118421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40513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0E3572-0ECE-44EE-0EC9-D9A09B9DF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Security and Compliance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81866F-27CD-0D5D-A5FA-CEACC24036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811194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4578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817BB3-12AF-0891-4381-AABCC4A12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Cost Optimization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03E4FA-E408-156B-A66A-73A34E6613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2278108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10552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995EFC-966B-2DB3-014C-0FC1B91FE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US" sz="4000"/>
              <a:t>Migration Roadmap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AAFBF0-C9D6-2DDA-0205-DF50418DD2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332082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8811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22CA72-2A63-428F-B586-37BA5AB6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79EBE-86C3-37C5-1B14-2850DA29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4495568"/>
            <a:ext cx="3861960" cy="1905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 dirty="0">
                <a:latin typeface="Aptos"/>
              </a:rPr>
              <a:t>Key Analysis, Patterns( Event Sourcing, CQRS)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blue rectangular sign with white text&#10;&#10;AI-generated content may be incorrect.">
            <a:extLst>
              <a:ext uri="{FF2B5EF4-FFF2-40B4-BE49-F238E27FC236}">
                <a16:creationId xmlns:a16="http://schemas.microsoft.com/office/drawing/2014/main" id="{F628D946-F668-EB16-E4F9-BB7873C241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570116"/>
            <a:ext cx="5136795" cy="101451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D909FDE-AF4B-C744-7DA5-A3B577B5178C}"/>
              </a:ext>
            </a:extLst>
          </p:cNvPr>
          <p:cNvGraphicFramePr>
            <a:graphicFrameLocks noGrp="1"/>
          </p:cNvGraphicFramePr>
          <p:nvPr/>
        </p:nvGraphicFramePr>
        <p:xfrm>
          <a:off x="6437652" y="364142"/>
          <a:ext cx="4856022" cy="3426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775">
                  <a:extLst>
                    <a:ext uri="{9D8B030D-6E8A-4147-A177-3AD203B41FA5}">
                      <a16:colId xmlns:a16="http://schemas.microsoft.com/office/drawing/2014/main" val="2298592472"/>
                    </a:ext>
                  </a:extLst>
                </a:gridCol>
                <a:gridCol w="1315108">
                  <a:extLst>
                    <a:ext uri="{9D8B030D-6E8A-4147-A177-3AD203B41FA5}">
                      <a16:colId xmlns:a16="http://schemas.microsoft.com/office/drawing/2014/main" val="2725943589"/>
                    </a:ext>
                  </a:extLst>
                </a:gridCol>
                <a:gridCol w="1322015">
                  <a:extLst>
                    <a:ext uri="{9D8B030D-6E8A-4147-A177-3AD203B41FA5}">
                      <a16:colId xmlns:a16="http://schemas.microsoft.com/office/drawing/2014/main" val="3235485605"/>
                    </a:ext>
                  </a:extLst>
                </a:gridCol>
                <a:gridCol w="1258124">
                  <a:extLst>
                    <a:ext uri="{9D8B030D-6E8A-4147-A177-3AD203B41FA5}">
                      <a16:colId xmlns:a16="http://schemas.microsoft.com/office/drawing/2014/main" val="3638418634"/>
                    </a:ext>
                  </a:extLst>
                </a:gridCol>
              </a:tblGrid>
              <a:tr h="4218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404040"/>
                          </a:solidFill>
                          <a:effectLst/>
                        </a:rPr>
                        <a:t>Service</a:t>
                      </a:r>
                    </a:p>
                  </a:txBody>
                  <a:tcPr marL="49731" marR="51803" marT="51803" marB="518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8658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404040"/>
                          </a:solidFill>
                          <a:effectLst/>
                        </a:rPr>
                        <a:t>Banking Use Case</a:t>
                      </a:r>
                    </a:p>
                  </a:txBody>
                  <a:tcPr marL="51803" marR="51803" marT="51803" marB="518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8658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404040"/>
                          </a:solidFill>
                          <a:effectLst/>
                        </a:rPr>
                        <a:t>Your Implementation</a:t>
                      </a:r>
                    </a:p>
                  </a:txBody>
                  <a:tcPr marL="51803" marR="51803" marT="51803" marB="518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8658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404040"/>
                          </a:solidFill>
                          <a:effectLst/>
                        </a:rPr>
                        <a:t>Pros/Cons</a:t>
                      </a:r>
                    </a:p>
                  </a:txBody>
                  <a:tcPr marL="51803" marR="51803" marT="51803" marB="518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8658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31016"/>
                  </a:ext>
                </a:extLst>
              </a:tr>
              <a:tr h="5710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DynamoDB</a:t>
                      </a:r>
                      <a:endParaRPr lang="en-US" sz="1000">
                        <a:effectLst/>
                      </a:endParaRPr>
                    </a:p>
                  </a:txBody>
                  <a:tcPr marL="49731" marR="51803" marT="51803" marB="51803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High-speed transaction logging</a:t>
                      </a:r>
                    </a:p>
                  </a:txBody>
                  <a:tcPr marL="51803" marR="51803" marT="51803" marB="51803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Payment events with TTL for GDPR</a:t>
                      </a:r>
                    </a:p>
                  </a:txBody>
                  <a:tcPr marL="51803" marR="51803" marT="51803" marB="51803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✅ Single-digit ms latency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❌ No SQL joins</a:t>
                      </a:r>
                    </a:p>
                  </a:txBody>
                  <a:tcPr marL="51803" marR="51803" marT="51803" marB="51803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641654"/>
                  </a:ext>
                </a:extLst>
              </a:tr>
              <a:tr h="5710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DocumentDB</a:t>
                      </a:r>
                      <a:endParaRPr lang="en-US" sz="1000">
                        <a:effectLst/>
                      </a:endParaRPr>
                    </a:p>
                  </a:txBody>
                  <a:tcPr marL="49731" marR="51803" marT="51803" marB="51803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Loan application documents (JSON)</a:t>
                      </a:r>
                    </a:p>
                  </a:txBody>
                  <a:tcPr marL="51803" marR="51803" marT="51803" marB="51803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Replaced MongoDB in VPC for HIPAA</a:t>
                      </a:r>
                    </a:p>
                  </a:txBody>
                  <a:tcPr marL="51803" marR="51803" marT="51803" marB="51803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✅ MongoDB compatible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❌ Higher cost</a:t>
                      </a:r>
                    </a:p>
                  </a:txBody>
                  <a:tcPr marL="51803" marR="51803" marT="51803" marB="51803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594767"/>
                  </a:ext>
                </a:extLst>
              </a:tr>
              <a:tr h="5710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Keyspaces</a:t>
                      </a:r>
                      <a:endParaRPr lang="en-US" sz="1000">
                        <a:effectLst/>
                      </a:endParaRPr>
                    </a:p>
                  </a:txBody>
                  <a:tcPr marL="49731" marR="51803" marT="51803" marB="51803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Audit trails with Cassandra API</a:t>
                      </a:r>
                    </a:p>
                  </a:txBody>
                  <a:tcPr marL="51803" marR="51803" marT="51803" marB="51803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Trade history (time-series)</a:t>
                      </a:r>
                    </a:p>
                  </a:txBody>
                  <a:tcPr marL="51803" marR="51803" marT="51803" marB="51803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✅ Serverless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❌ Limited secondary indexes</a:t>
                      </a:r>
                    </a:p>
                  </a:txBody>
                  <a:tcPr marL="51803" marR="51803" marT="51803" marB="51803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712277"/>
                  </a:ext>
                </a:extLst>
              </a:tr>
              <a:tr h="720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QLDB</a:t>
                      </a:r>
                      <a:endParaRPr lang="en-US" sz="1000">
                        <a:effectLst/>
                      </a:endParaRPr>
                    </a:p>
                  </a:txBody>
                  <a:tcPr marL="49731" marR="51803" marT="51803" marB="51803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Immutable ledger for settlements</a:t>
                      </a:r>
                    </a:p>
                  </a:txBody>
                  <a:tcPr marL="51803" marR="51803" marT="51803" marB="51803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DvP (Delivery vs Payment) records</a:t>
                      </a:r>
                    </a:p>
                  </a:txBody>
                  <a:tcPr marL="51803" marR="51803" marT="51803" marB="51803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✅ Cryptographic verification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❌ No native Kafka integration</a:t>
                      </a:r>
                    </a:p>
                  </a:txBody>
                  <a:tcPr marL="51803" marR="51803" marT="51803" marB="51803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63593"/>
                  </a:ext>
                </a:extLst>
              </a:tr>
              <a:tr h="5710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ElastiCache</a:t>
                      </a:r>
                      <a:endParaRPr lang="en-US" sz="1000">
                        <a:effectLst/>
                      </a:endParaRPr>
                    </a:p>
                  </a:txBody>
                  <a:tcPr marL="49731" marR="51803" marT="51803" marB="51803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Real-time reference data (Redis)</a:t>
                      </a:r>
                    </a:p>
                  </a:txBody>
                  <a:tcPr marL="51803" marR="51803" marT="51803" marB="51803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FX rates, fraud patterns</a:t>
                      </a:r>
                    </a:p>
                  </a:txBody>
                  <a:tcPr marL="51803" marR="51803" marT="51803" marB="51803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✅ Sub-millisecond reads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❌ Ephemeral data</a:t>
                      </a:r>
                    </a:p>
                  </a:txBody>
                  <a:tcPr marL="51803" marR="51803" marT="51803" marB="51803" anchor="ctr">
                    <a:lnL>
                      <a:noFill/>
                    </a:lnL>
                    <a:lnR>
                      <a:noFill/>
                    </a:lnR>
                    <a:lnT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8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661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750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E142508D-DCB4-49FC-885E-2CF85330E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1" name="Freeform: Shape 70">
            <a:extLst>
              <a:ext uri="{FF2B5EF4-FFF2-40B4-BE49-F238E27FC236}">
                <a16:creationId xmlns:a16="http://schemas.microsoft.com/office/drawing/2014/main" id="{2791DBF5-3FCA-4011-AF8A-650D650F9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3" name="Freeform: Shape 72">
            <a:extLst>
              <a:ext uri="{FF2B5EF4-FFF2-40B4-BE49-F238E27FC236}">
                <a16:creationId xmlns:a16="http://schemas.microsoft.com/office/drawing/2014/main" id="{D964C04B-075F-470A-BC51-AF7231465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76063-F410-90F2-AA8E-3EDA4CEFD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/>
              <a:t>APP Over</a:t>
            </a:r>
            <a:r>
              <a:rPr lang="en-US" sz="2800" kern="1200">
                <a:latin typeface="+mj-lt"/>
                <a:ea typeface="+mj-ea"/>
                <a:cs typeface="+mj-cs"/>
              </a:rPr>
              <a:t> view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57AB58F-FDBA-4575-9E72-86B7F843F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0D78486-07CC-4AFC-93CC-B95A73D03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diagram of a software cluster&#10;&#10;AI-generated content may be incorrect.">
            <a:extLst>
              <a:ext uri="{FF2B5EF4-FFF2-40B4-BE49-F238E27FC236}">
                <a16:creationId xmlns:a16="http://schemas.microsoft.com/office/drawing/2014/main" id="{15C6D0B5-F9EF-953E-CA55-F5F83955A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170" y="793428"/>
            <a:ext cx="2168661" cy="1664447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83CC02-0F41-5A2E-BCB3-04C2D66B6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9033" y="636118"/>
            <a:ext cx="1580082" cy="1975104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716BB2-E16A-057F-B7C0-8E91A120E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0323" y="643952"/>
            <a:ext cx="2135247" cy="1975104"/>
          </a:xfrm>
          <a:prstGeom prst="rect">
            <a:avLst/>
          </a:prstGeom>
        </p:spPr>
      </p:pic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3934A348-0631-61A4-E9BA-65789FADE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04" y="2715768"/>
            <a:ext cx="3438144" cy="32095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>
                <a:ea typeface="+mn-lt"/>
                <a:cs typeface="+mn-lt"/>
              </a:rPr>
              <a:t>Bounded Contexts: Payments, Trading, Risk, Reporting.</a:t>
            </a:r>
            <a:endParaRPr lang="en-US" sz="1700"/>
          </a:p>
          <a:p>
            <a:endParaRPr lang="en-US" sz="17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ED9761-E2E5-79F5-E95F-D408FBDE5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608480"/>
              </p:ext>
            </p:extLst>
          </p:nvPr>
        </p:nvGraphicFramePr>
        <p:xfrm>
          <a:off x="5358312" y="2755581"/>
          <a:ext cx="6083058" cy="3372771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226166">
                  <a:extLst>
                    <a:ext uri="{9D8B030D-6E8A-4147-A177-3AD203B41FA5}">
                      <a16:colId xmlns:a16="http://schemas.microsoft.com/office/drawing/2014/main" val="3725611989"/>
                    </a:ext>
                  </a:extLst>
                </a:gridCol>
                <a:gridCol w="1482360">
                  <a:extLst>
                    <a:ext uri="{9D8B030D-6E8A-4147-A177-3AD203B41FA5}">
                      <a16:colId xmlns:a16="http://schemas.microsoft.com/office/drawing/2014/main" val="2400572204"/>
                    </a:ext>
                  </a:extLst>
                </a:gridCol>
                <a:gridCol w="2374532">
                  <a:extLst>
                    <a:ext uri="{9D8B030D-6E8A-4147-A177-3AD203B41FA5}">
                      <a16:colId xmlns:a16="http://schemas.microsoft.com/office/drawing/2014/main" val="1053110628"/>
                    </a:ext>
                  </a:extLst>
                </a:gridCol>
              </a:tblGrid>
              <a:tr h="558330">
                <a:tc>
                  <a:txBody>
                    <a:bodyPr/>
                    <a:lstStyle/>
                    <a:p>
                      <a:r>
                        <a:rPr lang="en-US" sz="19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Scenario</a:t>
                      </a:r>
                    </a:p>
                  </a:txBody>
                  <a:tcPr marL="227890" marR="142319" marT="113945" marB="11394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Protocol</a:t>
                      </a:r>
                    </a:p>
                  </a:txBody>
                  <a:tcPr marL="227890" marR="142319" marT="113945" marB="11394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Implementation</a:t>
                      </a:r>
                    </a:p>
                  </a:txBody>
                  <a:tcPr marL="227890" marR="142319" marT="113945" marB="11394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976641"/>
                  </a:ext>
                </a:extLst>
              </a:tr>
              <a:tr h="1128055"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Real-time payments</a:t>
                      </a:r>
                    </a:p>
                  </a:txBody>
                  <a:tcPr marL="227890" marR="142319" marT="113945" marB="113945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Kafka</a:t>
                      </a:r>
                    </a:p>
                  </a:txBody>
                  <a:tcPr marL="227890" marR="142319" marT="113945" marB="113945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Avro schemas for contract enforcement</a:t>
                      </a:r>
                    </a:p>
                  </a:txBody>
                  <a:tcPr marL="227890" marR="142319" marT="113945" marB="113945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061228"/>
                  </a:ext>
                </a:extLst>
              </a:tr>
              <a:tr h="843193"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Low-latency risk checks</a:t>
                      </a:r>
                    </a:p>
                  </a:txBody>
                  <a:tcPr marL="227890" marR="142319" marT="113945" marB="113945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GRPC</a:t>
                      </a:r>
                    </a:p>
                  </a:txBody>
                  <a:tcPr marL="227890" marR="142319" marT="113945" marB="113945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Protocol buffers, http/2</a:t>
                      </a:r>
                    </a:p>
                  </a:txBody>
                  <a:tcPr marL="227890" marR="142319" marT="113945" marB="113945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66471"/>
                  </a:ext>
                </a:extLst>
              </a:tr>
              <a:tr h="843193"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External partner </a:t>
                      </a:r>
                      <a:r>
                        <a:rPr lang="en-US" sz="19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apis</a:t>
                      </a:r>
                    </a:p>
                  </a:txBody>
                  <a:tcPr marL="227890" marR="142319" marT="113945" marB="113945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Rest</a:t>
                      </a:r>
                    </a:p>
                  </a:txBody>
                  <a:tcPr marL="227890" marR="142319" marT="113945" marB="113945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OpenAPI specs + </a:t>
                      </a:r>
                      <a:r>
                        <a:rPr lang="en-US" sz="19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mTLS</a:t>
                      </a:r>
                    </a:p>
                  </a:txBody>
                  <a:tcPr marL="227890" marR="142319" marT="113945" marB="113945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777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9780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91F89E-BAFF-F977-FD53-DC5BF1316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Work Flow</a:t>
            </a:r>
          </a:p>
        </p:txBody>
      </p:sp>
      <p:sp>
        <p:nvSpPr>
          <p:cNvPr id="38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diagram of a company&#10;&#10;AI-generated content may be incorrect.">
            <a:extLst>
              <a:ext uri="{FF2B5EF4-FFF2-40B4-BE49-F238E27FC236}">
                <a16:creationId xmlns:a16="http://schemas.microsoft.com/office/drawing/2014/main" id="{EB23DA5C-D4D1-5368-68EA-4A559F70E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629" y="640080"/>
            <a:ext cx="2565806" cy="5577840"/>
          </a:xfrm>
          <a:prstGeom prst="rect">
            <a:avLst/>
          </a:prstGeom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D67476E-4FA6-41C7-B97F-DF0F9520B8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642605"/>
              </p:ext>
            </p:extLst>
          </p:nvPr>
        </p:nvGraphicFramePr>
        <p:xfrm>
          <a:off x="630936" y="2660904"/>
          <a:ext cx="4818888" cy="3547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46078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D813D1-BA6B-40B4-A101-04BB89445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EA3DFA5-2D7B-4989-8ED7-8321EC114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678" y="0"/>
            <a:ext cx="11145980" cy="6870723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35655-ECD2-5C47-C086-26D3FC229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6" y="900622"/>
            <a:ext cx="3629555" cy="18935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/>
              <a:t>PaymentService (spring boot + kafka)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81DE7D-E9DD-7EAF-6E86-5CC4620239EF}"/>
              </a:ext>
            </a:extLst>
          </p:cNvPr>
          <p:cNvSpPr txBox="1"/>
          <p:nvPr/>
        </p:nvSpPr>
        <p:spPr>
          <a:xfrm>
            <a:off x="1191966" y="2965593"/>
            <a:ext cx="3629555" cy="294154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Performance Metrics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8" name="Picture 7" descr="A blue rectangular sign with white text&#10;&#10;AI-generated content may be incorrect.">
            <a:extLst>
              <a:ext uri="{FF2B5EF4-FFF2-40B4-BE49-F238E27FC236}">
                <a16:creationId xmlns:a16="http://schemas.microsoft.com/office/drawing/2014/main" id="{1E5A02B0-82AB-F1F9-5A2F-46680E7AA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548" y="2103050"/>
            <a:ext cx="6320441" cy="1248286"/>
          </a:xfrm>
          <a:prstGeom prst="rect">
            <a:avLst/>
          </a:prstGeom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EBF12AB-3F27-CA2D-FD98-C82417FC35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8131513"/>
              </p:ext>
            </p:extLst>
          </p:nvPr>
        </p:nvGraphicFramePr>
        <p:xfrm>
          <a:off x="5797126" y="3498320"/>
          <a:ext cx="5105623" cy="3179623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  <a:tableStyleId>{5C22544A-7EE6-4342-B048-85BDC9FD1C3A}</a:tableStyleId>
              </a:tblPr>
              <a:tblGrid>
                <a:gridCol w="1915430">
                  <a:extLst>
                    <a:ext uri="{9D8B030D-6E8A-4147-A177-3AD203B41FA5}">
                      <a16:colId xmlns:a16="http://schemas.microsoft.com/office/drawing/2014/main" val="2139077941"/>
                    </a:ext>
                  </a:extLst>
                </a:gridCol>
                <a:gridCol w="1102017">
                  <a:extLst>
                    <a:ext uri="{9D8B030D-6E8A-4147-A177-3AD203B41FA5}">
                      <a16:colId xmlns:a16="http://schemas.microsoft.com/office/drawing/2014/main" val="471461195"/>
                    </a:ext>
                  </a:extLst>
                </a:gridCol>
                <a:gridCol w="2088176">
                  <a:extLst>
                    <a:ext uri="{9D8B030D-6E8A-4147-A177-3AD203B41FA5}">
                      <a16:colId xmlns:a16="http://schemas.microsoft.com/office/drawing/2014/main" val="3750290370"/>
                    </a:ext>
                  </a:extLst>
                </a:gridCol>
              </a:tblGrid>
              <a:tr h="4552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  <a:effectLst/>
                        </a:rPr>
                        <a:t>Metric</a:t>
                      </a:r>
                    </a:p>
                  </a:txBody>
                  <a:tcPr marL="125585" marR="100629" marT="96603" marB="9660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  <a:effectLst/>
                        </a:rPr>
                        <a:t>Value</a:t>
                      </a:r>
                    </a:p>
                  </a:txBody>
                  <a:tcPr marL="125585" marR="100629" marT="96603" marB="966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  <a:effectLst/>
                        </a:rPr>
                        <a:t>How We Achieved It</a:t>
                      </a:r>
                    </a:p>
                  </a:txBody>
                  <a:tcPr marL="125585" marR="100629" marT="96603" marB="966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726454"/>
                  </a:ext>
                </a:extLst>
              </a:tr>
              <a:tr h="681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bg1"/>
                          </a:solidFill>
                          <a:effectLst/>
                        </a:rPr>
                        <a:t>Throughput</a:t>
                      </a:r>
                    </a:p>
                  </a:txBody>
                  <a:tcPr marL="125585" marR="100629" marT="96603" marB="9660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bg1"/>
                          </a:solidFill>
                          <a:effectLst/>
                        </a:rPr>
                        <a:t>15K TPS</a:t>
                      </a:r>
                    </a:p>
                  </a:txBody>
                  <a:tcPr marL="125585" marR="100629" marT="96603" marB="966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bg1"/>
                          </a:solidFill>
                          <a:effectLst/>
                        </a:rPr>
                        <a:t>Kafka batching + 10 consumer threads</a:t>
                      </a:r>
                    </a:p>
                  </a:txBody>
                  <a:tcPr marL="125585" marR="100629" marT="96603" marB="966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230290"/>
                  </a:ext>
                </a:extLst>
              </a:tr>
              <a:tr h="681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bg1"/>
                          </a:solidFill>
                          <a:effectLst/>
                        </a:rPr>
                        <a:t>REST API Latency (P99)</a:t>
                      </a:r>
                    </a:p>
                  </a:txBody>
                  <a:tcPr marL="125585" marR="100629" marT="96603" marB="966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bg1"/>
                          </a:solidFill>
                          <a:effectLst/>
                        </a:rPr>
                        <a:t>50ms</a:t>
                      </a:r>
                    </a:p>
                  </a:txBody>
                  <a:tcPr marL="125585" marR="100629" marT="96603" marB="966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bg1"/>
                          </a:solidFill>
                          <a:effectLst/>
                        </a:rPr>
                        <a:t>Async fire-and-forget pattern</a:t>
                      </a:r>
                    </a:p>
                  </a:txBody>
                  <a:tcPr marL="125585" marR="100629" marT="96603" marB="966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649294"/>
                  </a:ext>
                </a:extLst>
              </a:tr>
              <a:tr h="681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bg1"/>
                          </a:solidFill>
                          <a:effectLst/>
                        </a:rPr>
                        <a:t>Fraud Check Latency</a:t>
                      </a:r>
                    </a:p>
                  </a:txBody>
                  <a:tcPr marL="125585" marR="100629" marT="96603" marB="9660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bg1"/>
                          </a:solidFill>
                          <a:effectLst/>
                        </a:rPr>
                        <a:t>20ms</a:t>
                      </a:r>
                    </a:p>
                  </a:txBody>
                  <a:tcPr marL="125585" marR="100629" marT="96603" marB="966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 err="1">
                          <a:solidFill>
                            <a:schemeClr val="bg1"/>
                          </a:solidFill>
                          <a:effectLst/>
                        </a:rPr>
                        <a:t>gRPC</a:t>
                      </a:r>
                      <a:r>
                        <a:rPr lang="en-US" sz="1500" cap="none" spc="0">
                          <a:solidFill>
                            <a:schemeClr val="bg1"/>
                          </a:solidFill>
                          <a:effectLst/>
                        </a:rPr>
                        <a:t> over HTTP/2</a:t>
                      </a:r>
                    </a:p>
                  </a:txBody>
                  <a:tcPr marL="125585" marR="100629" marT="96603" marB="966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296015"/>
                  </a:ext>
                </a:extLst>
              </a:tr>
              <a:tr h="681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bg1"/>
                          </a:solidFill>
                          <a:effectLst/>
                        </a:rPr>
                        <a:t>Error Rate</a:t>
                      </a:r>
                    </a:p>
                  </a:txBody>
                  <a:tcPr marL="125585" marR="100629" marT="96603" marB="966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bg1"/>
                          </a:solidFill>
                          <a:effectLst/>
                        </a:rPr>
                        <a:t>&lt;0.01%</a:t>
                      </a:r>
                    </a:p>
                  </a:txBody>
                  <a:tcPr marL="125585" marR="100629" marT="96603" marB="966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bg1"/>
                          </a:solidFill>
                          <a:effectLst/>
                        </a:rPr>
                        <a:t>DLQ + exponential backoff retries</a:t>
                      </a:r>
                    </a:p>
                  </a:txBody>
                  <a:tcPr marL="125585" marR="100629" marT="96603" marB="9660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071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4739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B8DD06-28AA-186A-6C77-B1DDC292A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Demo and Next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12A9D-6D45-0627-44F6-BAAEFC196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4391024" cy="24543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500" b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Demo Suggestion</a:t>
            </a:r>
            <a:r>
              <a:rPr lang="en-US" sz="150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:</a:t>
            </a:r>
            <a:endParaRPr lang="en-US" sz="150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n-US" sz="150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Show </a:t>
            </a:r>
            <a:r>
              <a:rPr lang="en-US" sz="1500" b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CloudWatch Dashboard</a:t>
            </a:r>
            <a:r>
              <a:rPr lang="en-US" sz="150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 with live latency metrics.</a:t>
            </a:r>
            <a:endParaRPr lang="en-US" sz="150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n-US" sz="1500" b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Sample Trade Flow</a:t>
            </a:r>
            <a:r>
              <a:rPr lang="en-US" sz="150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: From FIX → MSK → Settlement.</a:t>
            </a:r>
            <a:endParaRPr lang="en-US" sz="150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n-US" sz="1500" b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Next Steps</a:t>
            </a:r>
            <a:r>
              <a:rPr lang="en-US" sz="150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:</a:t>
            </a:r>
            <a:endParaRPr lang="en-US" sz="150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n-US" sz="150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Pilot with non-critical trades.</a:t>
            </a:r>
            <a:endParaRPr lang="en-US" sz="150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n-US" sz="150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Partner with AWS for Well-Architected Review.</a:t>
            </a:r>
            <a:endParaRPr lang="en-US" sz="1500">
              <a:solidFill>
                <a:schemeClr val="bg1">
                  <a:alpha val="80000"/>
                </a:schemeClr>
              </a:solidFill>
            </a:endParaRPr>
          </a:p>
          <a:p>
            <a:endParaRPr lang="en-US" sz="1500">
              <a:solidFill>
                <a:schemeClr val="bg1">
                  <a:alpha val="80000"/>
                </a:schemeClr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3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DCC606C-832F-53CE-6D22-B924CF5F33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604" r="28469" b="6250"/>
          <a:stretch>
            <a:fillRect/>
          </a:stretch>
        </p:blipFill>
        <p:spPr>
          <a:xfrm>
            <a:off x="7363489" y="1350833"/>
            <a:ext cx="2725997" cy="306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342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FFE5D8-6CE8-287F-F900-4EDDDBEED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08" y="1220919"/>
            <a:ext cx="542578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BFD98-5356-4370-3D68-CDCB25FC1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908" y="3700594"/>
            <a:ext cx="5425781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Karthikvx@gmail.com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Block Arc 28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01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"Implementing Real-Time Trade Settlement on AWS"</vt:lpstr>
      <vt:lpstr>Core Stack</vt:lpstr>
      <vt:lpstr>Implementation steps</vt:lpstr>
      <vt:lpstr>Latency Optimization</vt:lpstr>
      <vt:lpstr>Security and Compliance</vt:lpstr>
      <vt:lpstr>Cost Optimization</vt:lpstr>
      <vt:lpstr>Migration Roadmap</vt:lpstr>
      <vt:lpstr>Key Analysis, Patterns( Event Sourcing, CQRS)</vt:lpstr>
      <vt:lpstr>APP Over view</vt:lpstr>
      <vt:lpstr>Work Flow</vt:lpstr>
      <vt:lpstr>PaymentService (spring boot + kafka)</vt:lpstr>
      <vt:lpstr>Demo and Next step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389</cp:revision>
  <dcterms:created xsi:type="dcterms:W3CDTF">2025-08-13T15:36:45Z</dcterms:created>
  <dcterms:modified xsi:type="dcterms:W3CDTF">2025-08-16T20:17:36Z</dcterms:modified>
</cp:coreProperties>
</file>